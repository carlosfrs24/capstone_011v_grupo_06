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12192000"/>
  <p:embeddedFontLst>
    <p:embeddedFont>
      <p:font typeface="DM Sans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hMuwUP1yDxqh1tfyEFgc1dD7Ti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DMSans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DMSans-italic.fntdata"/><Relationship Id="rId14" Type="http://schemas.openxmlformats.org/officeDocument/2006/relationships/font" Target="fonts/DMSans-bold.fntdata"/><Relationship Id="rId17" Type="http://customschemas.google.com/relationships/presentationmetadata" Target="metadata"/><Relationship Id="rId16" Type="http://schemas.openxmlformats.org/officeDocument/2006/relationships/font" Target="fonts/DMSans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Presentamos el avance de la semana: dónde estamos en el proyecto, el burndown, lo que lleva cada uno en el Sprint 3, los riesgos y los próximos pasos.</a:t>
            </a:r>
            <a:endParaRPr/>
          </a:p>
        </p:txBody>
      </p:sp>
      <p:sp>
        <p:nvSpPr>
          <p:cNvPr id="19" name="Google Shape;1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Llevamos 18 de las 35 tareas e historias del proyecto. Los Sprints 0, 1 y 2 están cerrados y hoy es el día 5 del Sprint 3. El backend y la base de datos están listos y probados: la regresión automática de la API pasa 94 de 97 casos (la falla es un defecto conocido, DEF-03, y dos casos no aplican todavía). Ya cargamos tres meses de datos de ejemplo para Power BI.</a:t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proyecto va en cinco sprints de dos semanas. Los Sprints 0, 1 y 2 están cerrados: alcance y ERS, requisitos y modelo de datos, y luego la base, el backend y el diseño. Estamos en el Sprint 3, que construye la app y el panel y los integra con el backend. El Sprint 4 cierra con Power BI dentro del panel, las pruebas finales y la entrega del 01/11.</a:t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gráfico cuenta tareas e historias de Jira, sin subtareas. Partimos con 35, cerramos los Sprints 0, 1 y 2 y hoy quedan 17. La línea ideal baja 7 por sprint; vamos por encima, así que el Sprint 3 es el que más carga tiene: quedan 12 tareas hasta el 18/10. Las de datos están avanzadas; lo más ajustado son las pantallas y su integración con el backend.</a:t>
            </a:r>
            <a:endParaRPr/>
          </a:p>
        </p:txBody>
      </p:sp>
      <p:sp>
        <p:nvSpPr>
          <p:cNvPr id="93" name="Google Shape;9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 el Sprint 1 el trabajo se fue cerrando de a poco. En el Sprint 2 el backend, la base y el diseño se cerraron entre el 02/10 y el 04/10, cuando hicimos las pruebas. Lo anotamos en la retrospectiva y en el Sprint 3 movemos cada tarea en Jira el día que cambia y probamos cada historia al terminarla.</a:t>
            </a:r>
            <a:endParaRPr/>
          </a:p>
        </p:txBody>
      </p:sp>
      <p:sp>
        <p:nvSpPr>
          <p:cNvPr id="105" name="Google Shape;10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Carlos lleva el frontend: tiene lista la base, el login por roles y la consulta de bahías; está con racks, usuarios, vehículos e historial, y falta el escaneo QR. Felipe tiene el backend de las historias HU-01 a HU-03 probado y desde el 11/10 integra el frontend con el backend; además corrige dos defectos abiertos. Crisler cargó los datos de ejemplo, probó las restricciones y dejó listas las consultas; ahora limpia los datos de prueba y luego conecta Power BI.</a:t>
            </a:r>
            <a:endParaRPr/>
          </a:p>
        </p:txBody>
      </p:sp>
      <p:sp>
        <p:nvSpPr>
          <p:cNvPr id="118" name="Google Shape;11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matriz cruza probabilidad e impacto. El riesgo 1 es el tiempo: hay que terminar las pantallas e integrarlas en dos semanas, con el feriado del 12/10 al medio. El riesgo 2 es Power BI: el programa lo usamos en una máquina virtual, pero para publicar el informe e incrustarlo en el panel web se necesita una licencia de pago (Pro o una capacidad) o una de prueba, y conectar el servicio en la nube a Oracle Cloud. Si no resulta, el plan B es publicarlo en la web, porque los datos son de ejemplo. Los riesgos 3 y 4 son de nivel medio y el 5, la ventana de reserva, es bajo.</a:t>
            </a:r>
            <a:endParaRPr/>
          </a:p>
        </p:txBody>
      </p:sp>
      <p:sp>
        <p:nvSpPr>
          <p:cNvPr id="142" name="Google Shape;14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 que viene: el 11/10 las pantallas y el inicio de la integración, el 13 la limpieza de datos de prueba, entre el 14 y el 16 la conexión de Power BI, y el 18 cerramos el Sprint 3 con las pantallas probadas. El Sprint 4 es para Power BI dentro del panel, las pruebas finales, la app instalable y los documentos finales.</a:t>
            </a:r>
            <a:endParaRPr/>
          </a:p>
        </p:txBody>
      </p:sp>
      <p:sp>
        <p:nvSpPr>
          <p:cNvPr id="191" name="Google Shape;19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bg>
      <p:bgPr>
        <a:solidFill>
          <a:srgbClr val="F7F6F2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0"/>
          <p:cNvSpPr txBox="1"/>
          <p:nvPr>
            <p:ph type="title"/>
          </p:nvPr>
        </p:nvSpPr>
        <p:spPr>
          <a:xfrm>
            <a:off x="812800" y="812800"/>
            <a:ext cx="10566400" cy="446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200"/>
              <a:buFont typeface="DM Sans"/>
              <a:buNone/>
              <a:defRPr sz="3200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" type="body"/>
          </p:nvPr>
        </p:nvSpPr>
        <p:spPr>
          <a:xfrm>
            <a:off x="812800" y="1564580"/>
            <a:ext cx="10566400" cy="4480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14213D"/>
              </a:buClr>
              <a:buSzPts val="1600"/>
              <a:buNone/>
              <a:defRPr sz="1600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812800" y="812800"/>
            <a:ext cx="10566400" cy="446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200"/>
              <a:buFont typeface="DM Sans"/>
              <a:buNone/>
              <a:defRPr b="0" i="0" sz="3200" u="none" cap="none" strike="noStrik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812800" y="1564580"/>
            <a:ext cx="10566400" cy="4480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213D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"/>
          <p:cNvSpPr/>
          <p:nvPr/>
        </p:nvSpPr>
        <p:spPr>
          <a:xfrm>
            <a:off x="812800" y="812800"/>
            <a:ext cx="10883392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FB3F0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7FB3F0"/>
                </a:solidFill>
                <a:latin typeface="DM Sans"/>
                <a:ea typeface="DM Sans"/>
                <a:cs typeface="DM Sans"/>
                <a:sym typeface="DM Sans"/>
              </a:rPr>
              <a:t>CAPSTONE · EQUIPO NODALIX</a:t>
            </a:r>
            <a:endParaRPr b="0" i="0" sz="1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" name="Google Shape;22;p1"/>
          <p:cNvSpPr txBox="1"/>
          <p:nvPr>
            <p:ph type="title"/>
          </p:nvPr>
        </p:nvSpPr>
        <p:spPr>
          <a:xfrm>
            <a:off x="812800" y="2693690"/>
            <a:ext cx="10883392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6000"/>
              <a:buFont typeface="DM Sans"/>
              <a:buNone/>
            </a:pPr>
            <a:r>
              <a:rPr b="1" i="0" lang="en-US" sz="6000">
                <a:solidFill>
                  <a:srgbClr val="F7F6F2"/>
                </a:solidFill>
                <a:latin typeface="DM Sans"/>
                <a:ea typeface="DM Sans"/>
                <a:cs typeface="DM Sans"/>
                <a:sym typeface="DM Sans"/>
              </a:rPr>
              <a:t>OmniDock</a:t>
            </a:r>
            <a:endParaRPr sz="6000"/>
          </a:p>
        </p:txBody>
      </p:sp>
      <p:sp>
        <p:nvSpPr>
          <p:cNvPr id="23" name="Google Shape;23;p1"/>
          <p:cNvSpPr/>
          <p:nvPr/>
        </p:nvSpPr>
        <p:spPr>
          <a:xfrm>
            <a:off x="812800" y="3696990"/>
            <a:ext cx="10883392" cy="49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3200"/>
              <a:buFont typeface="DM Sans"/>
              <a:buNone/>
            </a:pPr>
            <a:r>
              <a:rPr b="0" i="0" lang="en-US" sz="3200" u="none" cap="none" strike="noStrike">
                <a:solidFill>
                  <a:srgbClr val="F7F6F2"/>
                </a:solidFill>
                <a:latin typeface="DM Sans"/>
                <a:ea typeface="DM Sans"/>
                <a:cs typeface="DM Sans"/>
                <a:sym typeface="DM Sans"/>
              </a:rPr>
              <a:t>Avance semanal · Sprint 3</a:t>
            </a:r>
            <a:endParaRPr b="0" i="0" sz="3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812800" y="5760740"/>
            <a:ext cx="4868347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FC8D9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BFC8D9"/>
                </a:solidFill>
                <a:latin typeface="DM Sans"/>
                <a:ea typeface="DM Sans"/>
                <a:cs typeface="DM Sans"/>
                <a:sym typeface="DM Sans"/>
              </a:rPr>
              <a:t>Carlos Román · Crisler Romero · Felipe Vidal</a:t>
            </a:r>
            <a:endParaRPr b="0" i="0" sz="1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9135110" y="5760740"/>
            <a:ext cx="2244090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FC8D9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BFC8D9"/>
                </a:solidFill>
                <a:latin typeface="DM Sans"/>
                <a:ea typeface="DM Sans"/>
                <a:cs typeface="DM Sans"/>
                <a:sym typeface="DM Sans"/>
              </a:rPr>
              <a:t>Viernes 09/10/2026</a:t>
            </a:r>
            <a:endParaRPr b="0" i="0" sz="1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image1.png" id="26" name="Google Shape;2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86075" y="320050"/>
            <a:ext cx="626801" cy="626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2.png" id="27" name="Google Shape;2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73672" y="2262452"/>
            <a:ext cx="2191450" cy="219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200"/>
              <a:buFont typeface="DM Sans"/>
              <a:buNone/>
            </a:pPr>
            <a:r>
              <a:rPr b="1" i="0" lang="en-US" sz="3200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Dónde estamos</a:t>
            </a:r>
            <a:endParaRPr sz="3200"/>
          </a:p>
        </p:txBody>
      </p:sp>
      <p:sp>
        <p:nvSpPr>
          <p:cNvPr id="34" name="Google Shape;34;p2"/>
          <p:cNvSpPr/>
          <p:nvPr/>
        </p:nvSpPr>
        <p:spPr>
          <a:xfrm>
            <a:off x="812800" y="1564580"/>
            <a:ext cx="3369667" cy="1503462"/>
          </a:xfrm>
          <a:prstGeom prst="roundRect">
            <a:avLst>
              <a:gd fmla="val 6758" name="adj"/>
            </a:avLst>
          </a:prstGeom>
          <a:solidFill>
            <a:srgbClr val="1421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1066800" y="1818580"/>
            <a:ext cx="2947517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3200"/>
              <a:buFont typeface="DM Sans"/>
              <a:buNone/>
            </a:pPr>
            <a:r>
              <a:rPr b="1" i="0" lang="en-US" sz="3200" u="none" cap="none" strike="noStrike">
                <a:solidFill>
                  <a:srgbClr val="F7F6F2"/>
                </a:solidFill>
                <a:latin typeface="DM Sans"/>
                <a:ea typeface="DM Sans"/>
                <a:cs typeface="DM Sans"/>
                <a:sym typeface="DM Sans"/>
              </a:rPr>
              <a:t>18 de 35</a:t>
            </a:r>
            <a:endParaRPr b="0" i="0" sz="3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066800" y="2316361"/>
            <a:ext cx="2947517" cy="523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FC8D9"/>
              </a:buClr>
              <a:buSzPts val="1400"/>
              <a:buFont typeface="DM Sans"/>
              <a:buNone/>
            </a:pPr>
            <a:r>
              <a:rPr b="0" i="0" lang="en-US" sz="1400" u="none" cap="none" strike="noStrike">
                <a:solidFill>
                  <a:srgbClr val="BFC8D9"/>
                </a:solidFill>
                <a:latin typeface="DM Sans"/>
                <a:ea typeface="DM Sans"/>
                <a:cs typeface="DM Sans"/>
                <a:sym typeface="DM Sans"/>
              </a:rPr>
              <a:t>tareas e historias terminadas (51 %)</a:t>
            </a:r>
            <a:endParaRPr b="0" i="0" sz="1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392017" y="1570930"/>
            <a:ext cx="3382466" cy="1490762"/>
          </a:xfrm>
          <a:prstGeom prst="roundRect">
            <a:avLst>
              <a:gd fmla="val 6389" name="adj"/>
            </a:avLst>
          </a:prstGeom>
          <a:solidFill>
            <a:srgbClr val="FCFCFB"/>
          </a:solidFill>
          <a:ln cap="flat" cmpd="sng" w="12700">
            <a:solidFill>
              <a:srgbClr val="DCDD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4652367" y="1831280"/>
            <a:ext cx="2947619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200"/>
              <a:buFont typeface="DM Sans"/>
              <a:buNone/>
            </a:pPr>
            <a:r>
              <a:rPr b="1" i="0" lang="en-US" sz="3200" u="none" cap="none" strike="noStrik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3 de 5</a:t>
            </a:r>
            <a:endParaRPr b="0" i="0" sz="3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652367" y="2329061"/>
            <a:ext cx="2947619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DM Sans"/>
              <a:buNone/>
            </a:pPr>
            <a:r>
              <a:rPr b="0" i="0" lang="en-US" sz="14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sprints cerrados (0, 1 y 2)</a:t>
            </a:r>
            <a:endParaRPr b="0" i="0" sz="1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7990384" y="1570930"/>
            <a:ext cx="3382466" cy="1490762"/>
          </a:xfrm>
          <a:prstGeom prst="roundRect">
            <a:avLst>
              <a:gd fmla="val 6389" name="adj"/>
            </a:avLst>
          </a:prstGeom>
          <a:solidFill>
            <a:srgbClr val="FCFCFB"/>
          </a:solidFill>
          <a:ln cap="flat" cmpd="sng" w="12700">
            <a:solidFill>
              <a:srgbClr val="DCDD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8250734" y="1831280"/>
            <a:ext cx="2947619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200"/>
              <a:buFont typeface="DM Sans"/>
              <a:buNone/>
            </a:pPr>
            <a:r>
              <a:rPr b="1" i="0" lang="en-US" sz="3200" u="none" cap="none" strike="noStrik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Día 5 de 14</a:t>
            </a:r>
            <a:endParaRPr b="0" i="0" sz="3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8250734" y="2329061"/>
            <a:ext cx="2947619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DM Sans"/>
              <a:buNone/>
            </a:pPr>
            <a:r>
              <a:rPr b="0" i="0" lang="en-US" sz="14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del Sprint 3, que cierra el 18/10</a:t>
            </a:r>
            <a:endParaRPr b="0" i="0" sz="1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43" name="Google Shape;43;p2"/>
          <p:cNvCxnSpPr/>
          <p:nvPr/>
        </p:nvCxnSpPr>
        <p:spPr>
          <a:xfrm>
            <a:off x="812800" y="3391892"/>
            <a:ext cx="3386634" cy="0"/>
          </a:xfrm>
          <a:prstGeom prst="straightConnector1">
            <a:avLst/>
          </a:prstGeom>
          <a:noFill/>
          <a:ln cap="flat" cmpd="sng" w="38100">
            <a:solidFill>
              <a:srgbClr val="2A78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2"/>
          <p:cNvSpPr/>
          <p:nvPr/>
        </p:nvSpPr>
        <p:spPr>
          <a:xfrm>
            <a:off x="812800" y="3588742"/>
            <a:ext cx="3488233" cy="299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800"/>
              <a:buFont typeface="DM Sans"/>
              <a:buNone/>
            </a:pPr>
            <a:r>
              <a:rPr b="1" i="0" lang="en-US" sz="1800" u="none" cap="none" strike="noStrik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Backend</a:t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812800" y="3939183"/>
            <a:ext cx="3488233" cy="771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DM Sans"/>
              <a:buNone/>
            </a:pPr>
            <a:r>
              <a:rPr b="0" i="0" lang="en-US" sz="14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30 endpoints con login JWT y permisos por rol. Pasan 94 de 97 pruebas automáticas de la API.</a:t>
            </a:r>
            <a:endParaRPr b="0" i="0" sz="1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46" name="Google Shape;46;p2"/>
          <p:cNvCxnSpPr/>
          <p:nvPr/>
        </p:nvCxnSpPr>
        <p:spPr>
          <a:xfrm>
            <a:off x="4402634" y="3391892"/>
            <a:ext cx="3386733" cy="0"/>
          </a:xfrm>
          <a:prstGeom prst="straightConnector1">
            <a:avLst/>
          </a:prstGeom>
          <a:noFill/>
          <a:ln cap="flat" cmpd="sng" w="38100">
            <a:solidFill>
              <a:srgbClr val="2A78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" name="Google Shape;47;p2"/>
          <p:cNvSpPr/>
          <p:nvPr/>
        </p:nvSpPr>
        <p:spPr>
          <a:xfrm>
            <a:off x="4402634" y="3588742"/>
            <a:ext cx="3488335" cy="299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800"/>
              <a:buFont typeface="DM Sans"/>
              <a:buNone/>
            </a:pPr>
            <a:r>
              <a:rPr b="1" i="0" lang="en-US" sz="1800" u="none" cap="none" strike="noStrik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Base de datos</a:t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402634" y="3939183"/>
            <a:ext cx="3488335" cy="771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DM Sans"/>
              <a:buNone/>
            </a:pPr>
            <a:r>
              <a:rPr b="0" i="0" lang="en-US" sz="14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11 tablas en Oracle Cloud y 8 vistas para Power BI. Las 6 restricciones CHECK, probadas.</a:t>
            </a:r>
            <a:endParaRPr b="0" i="0" sz="1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49" name="Google Shape;49;p2"/>
          <p:cNvCxnSpPr/>
          <p:nvPr/>
        </p:nvCxnSpPr>
        <p:spPr>
          <a:xfrm>
            <a:off x="7992566" y="3391892"/>
            <a:ext cx="3386634" cy="0"/>
          </a:xfrm>
          <a:prstGeom prst="straightConnector1">
            <a:avLst/>
          </a:prstGeom>
          <a:noFill/>
          <a:ln cap="flat" cmpd="sng" w="38100">
            <a:solidFill>
              <a:srgbClr val="2A78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" name="Google Shape;50;p2"/>
          <p:cNvSpPr/>
          <p:nvPr/>
        </p:nvSpPr>
        <p:spPr>
          <a:xfrm>
            <a:off x="7992566" y="3588742"/>
            <a:ext cx="3488233" cy="299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800"/>
              <a:buFont typeface="DM Sans"/>
              <a:buNone/>
            </a:pPr>
            <a:r>
              <a:rPr b="1" i="0" lang="en-US" sz="1800" u="none" cap="none" strike="noStrik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Datos y documentos</a:t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7992566" y="3939183"/>
            <a:ext cx="3488233" cy="771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DM Sans"/>
              <a:buNone/>
            </a:pPr>
            <a:r>
              <a:rPr b="0" i="0" lang="en-US" sz="14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Tres meses de datos de ejemplo cargados para los reportes. ERS v1.3 y DAS v1.1 al día.</a:t>
            </a:r>
            <a:endParaRPr b="0" i="0" sz="1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 txBox="1"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200"/>
              <a:buFont typeface="DM Sans"/>
              <a:buNone/>
            </a:pPr>
            <a:r>
              <a:rPr b="1" i="0" lang="en-US" sz="3200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Roadmap del proyecto</a:t>
            </a:r>
            <a:endParaRPr sz="3200"/>
          </a:p>
        </p:txBody>
      </p:sp>
      <p:sp>
        <p:nvSpPr>
          <p:cNvPr id="58" name="Google Shape;58;p3"/>
          <p:cNvSpPr/>
          <p:nvPr/>
        </p:nvSpPr>
        <p:spPr>
          <a:xfrm>
            <a:off x="819150" y="1520130"/>
            <a:ext cx="1978620" cy="3052763"/>
          </a:xfrm>
          <a:prstGeom prst="roundRect">
            <a:avLst>
              <a:gd fmla="val 4814" name="adj"/>
            </a:avLst>
          </a:prstGeom>
          <a:solidFill>
            <a:srgbClr val="FCFCFB"/>
          </a:solidFill>
          <a:ln cap="flat" cmpd="sng" w="12700">
            <a:solidFill>
              <a:srgbClr val="DCDD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1003300" y="1704280"/>
            <a:ext cx="166112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A78D6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rgbClr val="2A78D6"/>
                </a:solidFill>
                <a:latin typeface="DM Sans"/>
                <a:ea typeface="DM Sans"/>
                <a:cs typeface="DM Sans"/>
                <a:sym typeface="DM Sans"/>
              </a:rPr>
              <a:t>SPRINT 0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1003300" y="2019201"/>
            <a:ext cx="166112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500"/>
              <a:buFont typeface="DM Sans"/>
              <a:buNone/>
            </a:pPr>
            <a:r>
              <a:rPr b="1" i="0" lang="en-US" sz="1500" u="none" cap="none" strike="noStrik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Kick-off</a:t>
            </a:r>
            <a:endParaRPr b="0" i="0" sz="1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1003300" y="2349401"/>
            <a:ext cx="166112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24/08 al 06/09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003300" y="2664321"/>
            <a:ext cx="1610320" cy="289520"/>
          </a:xfrm>
          <a:custGeom>
            <a:rect b="b" l="l" r="r" t="t"/>
            <a:pathLst>
              <a:path extrusionOk="0" h="289520" w="1610320">
                <a:moveTo>
                  <a:pt x="144760" y="0"/>
                </a:moveTo>
                <a:lnTo>
                  <a:pt x="1465560" y="0"/>
                </a:lnTo>
                <a:cubicBezTo>
                  <a:pt x="1503953" y="0"/>
                  <a:pt x="1540773" y="15251"/>
                  <a:pt x="1567921" y="42399"/>
                </a:cubicBezTo>
                <a:cubicBezTo>
                  <a:pt x="1595069" y="69547"/>
                  <a:pt x="1610320" y="106367"/>
                  <a:pt x="1610320" y="144760"/>
                </a:cubicBezTo>
                <a:lnTo>
                  <a:pt x="1610320" y="144760"/>
                </a:lnTo>
                <a:cubicBezTo>
                  <a:pt x="1610320" y="224709"/>
                  <a:pt x="1545509" y="289520"/>
                  <a:pt x="1465560" y="289520"/>
                </a:cubicBezTo>
                <a:lnTo>
                  <a:pt x="144760" y="289520"/>
                </a:lnTo>
                <a:cubicBezTo>
                  <a:pt x="64811" y="289520"/>
                  <a:pt x="0" y="224709"/>
                  <a:pt x="0" y="144760"/>
                </a:cubicBezTo>
                <a:lnTo>
                  <a:pt x="0" y="144760"/>
                </a:lnTo>
                <a:cubicBezTo>
                  <a:pt x="0" y="64811"/>
                  <a:pt x="64811" y="0"/>
                  <a:pt x="144760" y="0"/>
                </a:cubicBezTo>
                <a:close/>
              </a:path>
            </a:pathLst>
          </a:custGeom>
          <a:solidFill>
            <a:srgbClr val="E3EDFA"/>
          </a:solidFill>
          <a:ln>
            <a:noFill/>
          </a:ln>
        </p:spPr>
        <p:txBody>
          <a:bodyPr anchorCtr="0" anchor="t" bIns="12700" lIns="101600" spcFirstLastPara="1" rIns="50800" wrap="square" tIns="381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4F8F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rgbClr val="1B4F8F"/>
                </a:solidFill>
                <a:latin typeface="DM Sans"/>
                <a:ea typeface="DM Sans"/>
                <a:cs typeface="DM Sans"/>
                <a:sym typeface="DM Sans"/>
              </a:rPr>
              <a:t>Cerrado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1102106" y="3055441"/>
            <a:ext cx="1562314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55194" lvl="0" marL="15519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DM Sans"/>
              <a:buChar char="•"/>
            </a:pPr>
            <a:r>
              <a:rPr b="0" i="0" lang="en-US" sz="1200" u="none" cap="none" strike="noStrik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Acta y alcance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55194" lvl="0" marL="15519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DM Sans"/>
              <a:buChar char="•"/>
            </a:pPr>
            <a:r>
              <a:rPr b="0" i="0" lang="en-US" sz="1200" u="none" cap="none" strike="noStrik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ERS v1.0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2962870" y="1520130"/>
            <a:ext cx="1978720" cy="3052763"/>
          </a:xfrm>
          <a:prstGeom prst="roundRect">
            <a:avLst>
              <a:gd fmla="val 4814" name="adj"/>
            </a:avLst>
          </a:prstGeom>
          <a:solidFill>
            <a:srgbClr val="FCFCFB"/>
          </a:solidFill>
          <a:ln cap="flat" cmpd="sng" w="12700">
            <a:solidFill>
              <a:srgbClr val="DCDD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3147020" y="1704280"/>
            <a:ext cx="166122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A78D6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rgbClr val="2A78D6"/>
                </a:solidFill>
                <a:latin typeface="DM Sans"/>
                <a:ea typeface="DM Sans"/>
                <a:cs typeface="DM Sans"/>
                <a:sym typeface="DM Sans"/>
              </a:rPr>
              <a:t>SPRINT 1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3147020" y="2019201"/>
            <a:ext cx="166122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500"/>
              <a:buFont typeface="DM Sans"/>
              <a:buNone/>
            </a:pPr>
            <a:r>
              <a:rPr b="1" i="0" lang="en-US" sz="1500" u="none" cap="none" strike="noStrik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Requisitos y diseño</a:t>
            </a:r>
            <a:endParaRPr b="0" i="0" sz="1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3147020" y="2578001"/>
            <a:ext cx="166122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07/09 al 20/09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3147020" y="2892921"/>
            <a:ext cx="1610420" cy="289520"/>
          </a:xfrm>
          <a:custGeom>
            <a:rect b="b" l="l" r="r" t="t"/>
            <a:pathLst>
              <a:path extrusionOk="0" h="289520" w="1610420">
                <a:moveTo>
                  <a:pt x="144760" y="0"/>
                </a:moveTo>
                <a:lnTo>
                  <a:pt x="1465659" y="0"/>
                </a:lnTo>
                <a:cubicBezTo>
                  <a:pt x="1504052" y="0"/>
                  <a:pt x="1540872" y="15251"/>
                  <a:pt x="1568020" y="42399"/>
                </a:cubicBezTo>
                <a:cubicBezTo>
                  <a:pt x="1595168" y="69547"/>
                  <a:pt x="1610419" y="106367"/>
                  <a:pt x="1610419" y="144760"/>
                </a:cubicBezTo>
                <a:lnTo>
                  <a:pt x="1610420" y="144760"/>
                </a:lnTo>
                <a:cubicBezTo>
                  <a:pt x="1610420" y="224709"/>
                  <a:pt x="1545609" y="289520"/>
                  <a:pt x="1465660" y="289520"/>
                </a:cubicBezTo>
                <a:lnTo>
                  <a:pt x="144760" y="289520"/>
                </a:lnTo>
                <a:cubicBezTo>
                  <a:pt x="64811" y="289520"/>
                  <a:pt x="0" y="224709"/>
                  <a:pt x="0" y="144760"/>
                </a:cubicBezTo>
                <a:lnTo>
                  <a:pt x="0" y="144760"/>
                </a:lnTo>
                <a:cubicBezTo>
                  <a:pt x="0" y="64811"/>
                  <a:pt x="64811" y="0"/>
                  <a:pt x="144760" y="0"/>
                </a:cubicBezTo>
                <a:close/>
              </a:path>
            </a:pathLst>
          </a:custGeom>
          <a:solidFill>
            <a:srgbClr val="E3EDFA"/>
          </a:solidFill>
          <a:ln>
            <a:noFill/>
          </a:ln>
        </p:spPr>
        <p:txBody>
          <a:bodyPr anchorCtr="0" anchor="t" bIns="12700" lIns="101600" spcFirstLastPara="1" rIns="50800" wrap="square" tIns="381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4F8F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rgbClr val="1B4F8F"/>
                </a:solidFill>
                <a:latin typeface="DM Sans"/>
                <a:ea typeface="DM Sans"/>
                <a:cs typeface="DM Sans"/>
                <a:sym typeface="DM Sans"/>
              </a:rPr>
              <a:t>Cerrado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3245826" y="3284041"/>
            <a:ext cx="1562414" cy="8786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55194" lvl="0" marL="15519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DM Sans"/>
              <a:buChar char="•"/>
            </a:pPr>
            <a:r>
              <a:rPr b="0" i="0" lang="en-US" sz="1200" u="none" cap="none" strike="noStrik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ERS v1.1 con 11 historias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55194" lvl="0" marL="15519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DM Sans"/>
              <a:buChar char="•"/>
            </a:pPr>
            <a:r>
              <a:rPr b="0" i="0" lang="en-US" sz="1200" u="none" cap="none" strike="noStrik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Modelo de datos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55194" lvl="0" marL="15519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DM Sans"/>
              <a:buChar char="•"/>
            </a:pPr>
            <a:r>
              <a:rPr b="0" i="0" lang="en-US" sz="1200" u="none" cap="none" strike="noStrik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Contratos de la API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5106690" y="1520130"/>
            <a:ext cx="1978620" cy="3052763"/>
          </a:xfrm>
          <a:prstGeom prst="roundRect">
            <a:avLst>
              <a:gd fmla="val 4814" name="adj"/>
            </a:avLst>
          </a:prstGeom>
          <a:solidFill>
            <a:srgbClr val="FCFCFB"/>
          </a:solidFill>
          <a:ln cap="flat" cmpd="sng" w="12700">
            <a:solidFill>
              <a:srgbClr val="DCDD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5290840" y="1704280"/>
            <a:ext cx="166112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A78D6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rgbClr val="2A78D6"/>
                </a:solidFill>
                <a:latin typeface="DM Sans"/>
                <a:ea typeface="DM Sans"/>
                <a:cs typeface="DM Sans"/>
                <a:sym typeface="DM Sans"/>
              </a:rPr>
              <a:t>SPRINT 2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5290840" y="2019201"/>
            <a:ext cx="166112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500"/>
              <a:buFont typeface="DM Sans"/>
              <a:buNone/>
            </a:pPr>
            <a:r>
              <a:rPr b="1" i="0" lang="en-US" sz="1500" u="none" cap="none" strike="noStrik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Backend y base de datos</a:t>
            </a:r>
            <a:endParaRPr b="0" i="0" sz="1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5290840" y="2578001"/>
            <a:ext cx="166112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21/09 al 04/10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5290840" y="2892921"/>
            <a:ext cx="1610320" cy="289520"/>
          </a:xfrm>
          <a:custGeom>
            <a:rect b="b" l="l" r="r" t="t"/>
            <a:pathLst>
              <a:path extrusionOk="0" h="289520" w="1610320">
                <a:moveTo>
                  <a:pt x="144760" y="0"/>
                </a:moveTo>
                <a:lnTo>
                  <a:pt x="1465560" y="0"/>
                </a:lnTo>
                <a:cubicBezTo>
                  <a:pt x="1503953" y="0"/>
                  <a:pt x="1540773" y="15251"/>
                  <a:pt x="1567921" y="42399"/>
                </a:cubicBezTo>
                <a:cubicBezTo>
                  <a:pt x="1595069" y="69547"/>
                  <a:pt x="1610320" y="106367"/>
                  <a:pt x="1610320" y="144760"/>
                </a:cubicBezTo>
                <a:lnTo>
                  <a:pt x="1610320" y="144760"/>
                </a:lnTo>
                <a:cubicBezTo>
                  <a:pt x="1610320" y="224709"/>
                  <a:pt x="1545509" y="289520"/>
                  <a:pt x="1465560" y="289520"/>
                </a:cubicBezTo>
                <a:lnTo>
                  <a:pt x="144760" y="289520"/>
                </a:lnTo>
                <a:cubicBezTo>
                  <a:pt x="64811" y="289520"/>
                  <a:pt x="0" y="224709"/>
                  <a:pt x="0" y="144760"/>
                </a:cubicBezTo>
                <a:lnTo>
                  <a:pt x="0" y="144760"/>
                </a:lnTo>
                <a:cubicBezTo>
                  <a:pt x="0" y="64811"/>
                  <a:pt x="64811" y="0"/>
                  <a:pt x="144760" y="0"/>
                </a:cubicBezTo>
                <a:close/>
              </a:path>
            </a:pathLst>
          </a:custGeom>
          <a:solidFill>
            <a:srgbClr val="E3EDFA"/>
          </a:solidFill>
          <a:ln>
            <a:noFill/>
          </a:ln>
        </p:spPr>
        <p:txBody>
          <a:bodyPr anchorCtr="0" anchor="t" bIns="12700" lIns="101600" spcFirstLastPara="1" rIns="50800" wrap="square" tIns="381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4F8F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rgbClr val="1B4F8F"/>
                </a:solidFill>
                <a:latin typeface="DM Sans"/>
                <a:ea typeface="DM Sans"/>
                <a:cs typeface="DM Sans"/>
                <a:sym typeface="DM Sans"/>
              </a:rPr>
              <a:t>Cerrado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5389646" y="3284041"/>
            <a:ext cx="1562314" cy="1092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55194" lvl="0" marL="15519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DM Sans"/>
              <a:buChar char="•"/>
            </a:pPr>
            <a:r>
              <a:rPr b="0" i="0" lang="en-US" sz="1200" u="none" cap="none" strike="noStrik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Base en Oracle Cloud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55194" lvl="0" marL="15519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DM Sans"/>
              <a:buChar char="•"/>
            </a:pPr>
            <a:r>
              <a:rPr b="0" i="0" lang="en-US" sz="1200" u="none" cap="none" strike="noStrik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API con login JWT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55194" lvl="0" marL="15519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DM Sans"/>
              <a:buChar char="•"/>
            </a:pPr>
            <a:r>
              <a:rPr b="0" i="0" lang="en-US" sz="1200" u="none" cap="none" strike="noStrik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Diseño en Figma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55194" lvl="0" marL="15519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DM Sans"/>
              <a:buChar char="•"/>
            </a:pPr>
            <a:r>
              <a:rPr b="0" i="0" lang="en-US" sz="1200" u="none" cap="none" strike="noStrik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DAS v1.0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7244060" y="1513780"/>
            <a:ext cx="1991420" cy="3065463"/>
          </a:xfrm>
          <a:prstGeom prst="roundRect">
            <a:avLst>
              <a:gd fmla="val 5102" name="adj"/>
            </a:avLst>
          </a:prstGeom>
          <a:solidFill>
            <a:srgbClr val="FFF6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7244060" y="1513780"/>
            <a:ext cx="1991420" cy="3065463"/>
          </a:xfrm>
          <a:custGeom>
            <a:rect b="b" l="l" r="r" t="t"/>
            <a:pathLst>
              <a:path extrusionOk="0" h="3065463" w="1991420">
                <a:moveTo>
                  <a:pt x="101600" y="0"/>
                </a:moveTo>
                <a:lnTo>
                  <a:pt x="1889820" y="0"/>
                </a:lnTo>
                <a:cubicBezTo>
                  <a:pt x="1916766" y="0"/>
                  <a:pt x="1942608" y="10704"/>
                  <a:pt x="1961662" y="29758"/>
                </a:cubicBezTo>
                <a:cubicBezTo>
                  <a:pt x="1980716" y="48812"/>
                  <a:pt x="1991420" y="74654"/>
                  <a:pt x="1991420" y="101600"/>
                </a:cubicBezTo>
                <a:lnTo>
                  <a:pt x="1991420" y="2963863"/>
                </a:lnTo>
                <a:cubicBezTo>
                  <a:pt x="1991420" y="3019975"/>
                  <a:pt x="1945932" y="3065463"/>
                  <a:pt x="1889820" y="3065463"/>
                </a:cubicBezTo>
                <a:lnTo>
                  <a:pt x="101600" y="3065463"/>
                </a:lnTo>
                <a:cubicBezTo>
                  <a:pt x="45488" y="3065463"/>
                  <a:pt x="0" y="3019975"/>
                  <a:pt x="0" y="2963863"/>
                </a:cubicBezTo>
                <a:lnTo>
                  <a:pt x="0" y="101600"/>
                </a:lnTo>
                <a:cubicBezTo>
                  <a:pt x="0" y="45488"/>
                  <a:pt x="45488" y="0"/>
                  <a:pt x="101600" y="0"/>
                </a:cubicBezTo>
                <a:close/>
                <a:moveTo>
                  <a:pt x="101600" y="50800"/>
                </a:moveTo>
                <a:cubicBezTo>
                  <a:pt x="52502" y="50800"/>
                  <a:pt x="12700" y="73544"/>
                  <a:pt x="12700" y="101600"/>
                </a:cubicBezTo>
                <a:lnTo>
                  <a:pt x="12700" y="2963863"/>
                </a:lnTo>
                <a:cubicBezTo>
                  <a:pt x="12700" y="3012961"/>
                  <a:pt x="52502" y="3052763"/>
                  <a:pt x="101600" y="3052763"/>
                </a:cubicBezTo>
                <a:lnTo>
                  <a:pt x="1889820" y="3052763"/>
                </a:lnTo>
                <a:cubicBezTo>
                  <a:pt x="1938918" y="3052763"/>
                  <a:pt x="1978720" y="3012961"/>
                  <a:pt x="1978720" y="2963863"/>
                </a:cubicBezTo>
                <a:lnTo>
                  <a:pt x="1978720" y="101600"/>
                </a:lnTo>
                <a:cubicBezTo>
                  <a:pt x="1978720" y="73544"/>
                  <a:pt x="1938918" y="50800"/>
                  <a:pt x="1889820" y="50800"/>
                </a:cubicBezTo>
                <a:close/>
              </a:path>
            </a:pathLst>
          </a:custGeom>
          <a:solidFill>
            <a:srgbClr val="E07A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7434560" y="1742380"/>
            <a:ext cx="166122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4531A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rgbClr val="B4531A"/>
                </a:solidFill>
                <a:latin typeface="DM Sans"/>
                <a:ea typeface="DM Sans"/>
                <a:cs typeface="DM Sans"/>
                <a:sym typeface="DM Sans"/>
              </a:rPr>
              <a:t>SPRINT 3 · HOY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7434560" y="2057301"/>
            <a:ext cx="166122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500"/>
              <a:buFont typeface="DM Sans"/>
              <a:buNone/>
            </a:pPr>
            <a:r>
              <a:rPr b="1" i="0" lang="en-US" sz="1500" u="none" cap="none" strike="noStrik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Frontend e integración</a:t>
            </a:r>
            <a:endParaRPr b="0" i="0" sz="1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7434560" y="2616101"/>
            <a:ext cx="166122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05/10 al 18/10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7434560" y="2931021"/>
            <a:ext cx="1610420" cy="289520"/>
          </a:xfrm>
          <a:custGeom>
            <a:rect b="b" l="l" r="r" t="t"/>
            <a:pathLst>
              <a:path extrusionOk="0" h="289520" w="1610420">
                <a:moveTo>
                  <a:pt x="144760" y="0"/>
                </a:moveTo>
                <a:lnTo>
                  <a:pt x="1465659" y="0"/>
                </a:lnTo>
                <a:cubicBezTo>
                  <a:pt x="1504052" y="0"/>
                  <a:pt x="1540872" y="15251"/>
                  <a:pt x="1568020" y="42399"/>
                </a:cubicBezTo>
                <a:cubicBezTo>
                  <a:pt x="1595168" y="69547"/>
                  <a:pt x="1610419" y="106367"/>
                  <a:pt x="1610419" y="144760"/>
                </a:cubicBezTo>
                <a:lnTo>
                  <a:pt x="1610420" y="144760"/>
                </a:lnTo>
                <a:cubicBezTo>
                  <a:pt x="1610420" y="224709"/>
                  <a:pt x="1545609" y="289520"/>
                  <a:pt x="1465660" y="289520"/>
                </a:cubicBezTo>
                <a:lnTo>
                  <a:pt x="144760" y="289520"/>
                </a:lnTo>
                <a:cubicBezTo>
                  <a:pt x="64811" y="289520"/>
                  <a:pt x="0" y="224709"/>
                  <a:pt x="0" y="144760"/>
                </a:cubicBezTo>
                <a:lnTo>
                  <a:pt x="0" y="144760"/>
                </a:lnTo>
                <a:cubicBezTo>
                  <a:pt x="0" y="64811"/>
                  <a:pt x="64811" y="0"/>
                  <a:pt x="144760" y="0"/>
                </a:cubicBezTo>
                <a:close/>
              </a:path>
            </a:pathLst>
          </a:custGeom>
          <a:solidFill>
            <a:srgbClr val="FCE2CF"/>
          </a:solidFill>
          <a:ln>
            <a:noFill/>
          </a:ln>
        </p:spPr>
        <p:txBody>
          <a:bodyPr anchorCtr="0" anchor="t" bIns="12700" lIns="101600" spcFirstLastPara="1" rIns="50800" wrap="square" tIns="381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3B0A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rgbClr val="8A3B0A"/>
                </a:solidFill>
                <a:latin typeface="DM Sans"/>
                <a:ea typeface="DM Sans"/>
                <a:cs typeface="DM Sans"/>
                <a:sym typeface="DM Sans"/>
              </a:rPr>
              <a:t>En curso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7533366" y="3322141"/>
            <a:ext cx="1562414" cy="1092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55194" lvl="0" marL="15519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DM Sans"/>
              <a:buChar char="•"/>
            </a:pPr>
            <a:r>
              <a:rPr b="0" i="0" lang="en-US" sz="1200" u="none" cap="none" strike="noStrik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App y panel web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55194" lvl="0" marL="15519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DM Sans"/>
              <a:buChar char="•"/>
            </a:pPr>
            <a:r>
              <a:rPr b="0" i="0" lang="en-US" sz="1200" u="none" cap="none" strike="noStrik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Integración con el backend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55194" lvl="0" marL="15519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DM Sans"/>
              <a:buChar char="•"/>
            </a:pPr>
            <a:r>
              <a:rPr b="0" i="0" lang="en-US" sz="1200" u="none" cap="none" strike="noStrik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Datos para Power BI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9394230" y="1520130"/>
            <a:ext cx="1978620" cy="3052763"/>
          </a:xfrm>
          <a:prstGeom prst="roundRect">
            <a:avLst>
              <a:gd fmla="val 4814" name="adj"/>
            </a:avLst>
          </a:prstGeom>
          <a:solidFill>
            <a:srgbClr val="FCFCFB"/>
          </a:solidFill>
          <a:ln cap="flat" cmpd="sng" w="12700">
            <a:solidFill>
              <a:srgbClr val="DCDD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9578380" y="1704280"/>
            <a:ext cx="166112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SPRINT 4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9578380" y="2019201"/>
            <a:ext cx="166112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500"/>
              <a:buFont typeface="DM Sans"/>
              <a:buNone/>
            </a:pPr>
            <a:r>
              <a:rPr b="1" i="0" lang="en-US" sz="1500" u="none" cap="none" strike="noStrik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Power BI y cierre</a:t>
            </a:r>
            <a:endParaRPr b="0" i="0" sz="1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9578380" y="2349401"/>
            <a:ext cx="166112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19/10 al 01/11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9578380" y="2664321"/>
            <a:ext cx="1610320" cy="289520"/>
          </a:xfrm>
          <a:custGeom>
            <a:rect b="b" l="l" r="r" t="t"/>
            <a:pathLst>
              <a:path extrusionOk="0" h="289520" w="1610320">
                <a:moveTo>
                  <a:pt x="144760" y="0"/>
                </a:moveTo>
                <a:lnTo>
                  <a:pt x="1465560" y="0"/>
                </a:lnTo>
                <a:cubicBezTo>
                  <a:pt x="1503953" y="0"/>
                  <a:pt x="1540773" y="15251"/>
                  <a:pt x="1567921" y="42399"/>
                </a:cubicBezTo>
                <a:cubicBezTo>
                  <a:pt x="1595069" y="69547"/>
                  <a:pt x="1610320" y="106367"/>
                  <a:pt x="1610320" y="144760"/>
                </a:cubicBezTo>
                <a:lnTo>
                  <a:pt x="1610320" y="144760"/>
                </a:lnTo>
                <a:cubicBezTo>
                  <a:pt x="1610320" y="224709"/>
                  <a:pt x="1545509" y="289520"/>
                  <a:pt x="1465560" y="289520"/>
                </a:cubicBezTo>
                <a:lnTo>
                  <a:pt x="144760" y="289520"/>
                </a:lnTo>
                <a:cubicBezTo>
                  <a:pt x="64811" y="289520"/>
                  <a:pt x="0" y="224709"/>
                  <a:pt x="0" y="144760"/>
                </a:cubicBezTo>
                <a:lnTo>
                  <a:pt x="0" y="144760"/>
                </a:lnTo>
                <a:cubicBezTo>
                  <a:pt x="0" y="64811"/>
                  <a:pt x="64811" y="0"/>
                  <a:pt x="144760" y="0"/>
                </a:cubicBezTo>
                <a:close/>
              </a:path>
            </a:pathLst>
          </a:custGeom>
          <a:solidFill>
            <a:srgbClr val="ECEBE6"/>
          </a:solidFill>
          <a:ln>
            <a:noFill/>
          </a:ln>
        </p:spPr>
        <p:txBody>
          <a:bodyPr anchorCtr="0" anchor="t" bIns="12700" lIns="101600" spcFirstLastPara="1" rIns="50800" wrap="square" tIns="381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Planificado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9677186" y="3055441"/>
            <a:ext cx="1562314" cy="10920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55194" lvl="0" marL="15519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DM Sans"/>
              <a:buChar char="•"/>
            </a:pPr>
            <a:r>
              <a:rPr b="0" i="0" lang="en-US" sz="1200" u="none" cap="none" strike="noStrik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Power BI en el panel web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55194" lvl="0" marL="15519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DM Sans"/>
              <a:buChar char="•"/>
            </a:pPr>
            <a:r>
              <a:rPr b="0" i="0" lang="en-US" sz="1200" u="none" cap="none" strike="noStrik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Pruebas finales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155194" lvl="0" marL="15519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DM Sans"/>
              <a:buChar char="•"/>
            </a:pPr>
            <a:r>
              <a:rPr b="0" i="0" lang="en-US" sz="1200" u="none" cap="none" strike="noStrik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App instalable y entrega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812800" y="4833243"/>
            <a:ext cx="10883392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DM Sans"/>
              <a:buNone/>
            </a:pPr>
            <a:r>
              <a:rPr b="0" i="0" lang="en-US" sz="14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Sprints de dos semanas · entrega del prototipo el 01/11/2026</a:t>
            </a:r>
            <a:endParaRPr b="0" i="0" sz="1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"/>
          <p:cNvSpPr txBox="1"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200"/>
              <a:buFont typeface="DM Sans"/>
              <a:buNone/>
            </a:pPr>
            <a:r>
              <a:rPr b="1" i="0" lang="en-US" sz="3200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Burndown del proyecto</a:t>
            </a:r>
            <a:endParaRPr sz="3200"/>
          </a:p>
        </p:txBody>
      </p:sp>
      <p:sp>
        <p:nvSpPr>
          <p:cNvPr id="96" name="Google Shape;96;p4"/>
          <p:cNvSpPr/>
          <p:nvPr/>
        </p:nvSpPr>
        <p:spPr>
          <a:xfrm>
            <a:off x="819150" y="1520130"/>
            <a:ext cx="6946900" cy="3987800"/>
          </a:xfrm>
          <a:prstGeom prst="roundRect">
            <a:avLst>
              <a:gd fmla="val 2389" name="adj"/>
            </a:avLst>
          </a:prstGeom>
          <a:solidFill>
            <a:srgbClr val="FCFCFB"/>
          </a:solidFill>
          <a:ln cap="flat" cmpd="sng" w="12700">
            <a:solidFill>
              <a:srgbClr val="DCDD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Burndown del proyecto: de 35 tareas e historias quedan 17 al 09/10; el plan es llegar a 5 al cierre del Sprint 3 y a 0 el 01/11" id="97" name="Google Shape;97;p4"/>
          <p:cNvPicPr preferRelativeResize="0"/>
          <p:nvPr/>
        </p:nvPicPr>
        <p:blipFill rotWithShape="1">
          <a:blip r:embed="rId3">
            <a:alphaModFix/>
          </a:blip>
          <a:srcRect b="-34" l="0" r="0" t="-34"/>
          <a:stretch/>
        </p:blipFill>
        <p:spPr>
          <a:xfrm>
            <a:off x="927100" y="1628080"/>
            <a:ext cx="6731000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4"/>
          <p:cNvSpPr/>
          <p:nvPr/>
        </p:nvSpPr>
        <p:spPr>
          <a:xfrm>
            <a:off x="8077200" y="2056309"/>
            <a:ext cx="3401060" cy="665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2A78D6"/>
              </a:buClr>
              <a:buSzPts val="4800"/>
              <a:buFont typeface="DM Sans"/>
              <a:buNone/>
            </a:pPr>
            <a:r>
              <a:rPr b="1" i="0" lang="en-US" sz="4800" u="none" cap="none" strike="noStrike">
                <a:solidFill>
                  <a:srgbClr val="2A78D6"/>
                </a:solidFill>
                <a:latin typeface="DM Sans"/>
                <a:ea typeface="DM Sans"/>
                <a:cs typeface="DM Sans"/>
                <a:sym typeface="DM Sans"/>
              </a:rPr>
              <a:t>17</a:t>
            </a:r>
            <a:endParaRPr b="0" i="0" sz="4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8077200" y="2721769"/>
            <a:ext cx="3401060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DM Sans"/>
              <a:buNone/>
            </a:pPr>
            <a:r>
              <a:rPr b="0" i="0" lang="en-US" sz="14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pendientes de 35 al 09/10</a:t>
            </a:r>
            <a:endParaRPr b="0" i="0" sz="1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8077200" y="3173809"/>
            <a:ext cx="3401060" cy="1122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Vamos sobre la línea ideal: quedan 12 tareas del Sprint 3 hasta el 18/10. Lo más ajustado es el frontend y la integración.</a:t>
            </a:r>
            <a:endParaRPr b="0" i="0" sz="1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8077200" y="4473972"/>
            <a:ext cx="3401060" cy="523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DM Sans"/>
              <a:buNone/>
            </a:pPr>
            <a:r>
              <a:rPr b="0" i="0" lang="en-US" sz="14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Al cierre del Sprint 3 deberían quedar solo las 5 tareas del Sprint 4.</a:t>
            </a:r>
            <a:endParaRPr b="0" i="0" sz="1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200"/>
              <a:buFont typeface="DM Sans"/>
              <a:buNone/>
            </a:pPr>
            <a:r>
              <a:rPr b="1" i="0" lang="en-US" sz="3200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Sprints 1 y 2</a:t>
            </a:r>
            <a:endParaRPr sz="3200"/>
          </a:p>
        </p:txBody>
      </p:sp>
      <p:sp>
        <p:nvSpPr>
          <p:cNvPr id="108" name="Google Shape;108;p5"/>
          <p:cNvSpPr/>
          <p:nvPr/>
        </p:nvSpPr>
        <p:spPr>
          <a:xfrm>
            <a:off x="819150" y="1520130"/>
            <a:ext cx="5168900" cy="2781300"/>
          </a:xfrm>
          <a:prstGeom prst="roundRect">
            <a:avLst>
              <a:gd fmla="val 3425" name="adj"/>
            </a:avLst>
          </a:prstGeom>
          <a:solidFill>
            <a:srgbClr val="FCFCFB"/>
          </a:solidFill>
          <a:ln cap="flat" cmpd="sng" w="12700">
            <a:solidFill>
              <a:srgbClr val="DCDD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Burndown del Sprint 1: 6 tareas y subtareas que bajan de forma pareja y llegan a 0 el 17/09" id="109" name="Google Shape;109;p5"/>
          <p:cNvPicPr preferRelativeResize="0"/>
          <p:nvPr/>
        </p:nvPicPr>
        <p:blipFill rotWithShape="1">
          <a:blip r:embed="rId3">
            <a:alphaModFix/>
          </a:blip>
          <a:srcRect b="-19" l="0" r="0" t="-19"/>
          <a:stretch/>
        </p:blipFill>
        <p:spPr>
          <a:xfrm>
            <a:off x="901700" y="1602680"/>
            <a:ext cx="5029200" cy="261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5"/>
          <p:cNvSpPr/>
          <p:nvPr/>
        </p:nvSpPr>
        <p:spPr>
          <a:xfrm>
            <a:off x="812800" y="4434780"/>
            <a:ext cx="5337048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DM Sans"/>
              <a:buNone/>
            </a:pPr>
            <a:r>
              <a:rPr b="1" i="0" lang="en-US" sz="14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Sprint 1:</a:t>
            </a:r>
            <a:r>
              <a:rPr b="0" i="0" lang="en-US" sz="14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bajó parejo; las 6 tareas quedaron listas el 17/09.</a:t>
            </a:r>
            <a:endParaRPr b="0" i="0" sz="1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6203950" y="1520130"/>
            <a:ext cx="5168900" cy="2781300"/>
          </a:xfrm>
          <a:prstGeom prst="roundRect">
            <a:avLst>
              <a:gd fmla="val 3425" name="adj"/>
            </a:avLst>
          </a:prstGeom>
          <a:solidFill>
            <a:srgbClr val="FCFCFB"/>
          </a:solidFill>
          <a:ln cap="flat" cmpd="sng" w="12700">
            <a:solidFill>
              <a:srgbClr val="DCDD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Burndown del Sprint 2: 26 tareas y subtareas; 25 pendientes hasta el 01/10 y luego 17, 13 y 0 entre el 02/10 y el 04/10" id="112" name="Google Shape;112;p5"/>
          <p:cNvPicPr preferRelativeResize="0"/>
          <p:nvPr/>
        </p:nvPicPr>
        <p:blipFill rotWithShape="1">
          <a:blip r:embed="rId4">
            <a:alphaModFix/>
          </a:blip>
          <a:srcRect b="-19" l="0" r="0" t="-19"/>
          <a:stretch/>
        </p:blipFill>
        <p:spPr>
          <a:xfrm>
            <a:off x="6286500" y="1602680"/>
            <a:ext cx="5029200" cy="261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5"/>
          <p:cNvSpPr/>
          <p:nvPr/>
        </p:nvSpPr>
        <p:spPr>
          <a:xfrm>
            <a:off x="6197600" y="4434780"/>
            <a:ext cx="5337048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DM Sans"/>
              <a:buNone/>
            </a:pPr>
            <a:r>
              <a:rPr b="1" i="0" lang="en-US" sz="14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Sprint 2:</a:t>
            </a:r>
            <a:r>
              <a:rPr b="0" i="0" lang="en-US" sz="14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cerramos casi todo en los últimos 3 días.</a:t>
            </a:r>
            <a:endParaRPr b="0" i="0" sz="1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812800" y="4937621"/>
            <a:ext cx="10566400" cy="579041"/>
          </a:xfrm>
          <a:prstGeom prst="roundRect">
            <a:avLst>
              <a:gd fmla="val 13160" name="adj"/>
            </a:avLst>
          </a:prstGeom>
          <a:solidFill>
            <a:srgbClr val="E3EDFA"/>
          </a:solidFill>
          <a:ln>
            <a:noFill/>
          </a:ln>
        </p:spPr>
        <p:txBody>
          <a:bodyPr anchorCtr="0" anchor="t" bIns="104675" lIns="180875" spcFirstLastPara="1" rIns="0" wrap="square" tIns="130075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Lo que cambiamos en el Sprint 3:</a:t>
            </a:r>
            <a:r>
              <a:rPr b="0" i="0" lang="en-US" sz="1600" u="none" cap="none" strike="noStrik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 mover Jira el mismo día y probar cada historia al terminarla.</a:t>
            </a:r>
            <a:endParaRPr b="0" i="0" sz="1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200"/>
              <a:buFont typeface="DM Sans"/>
              <a:buNone/>
            </a:pPr>
            <a:r>
              <a:rPr b="1" i="0" lang="en-US" sz="3200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Sprint 3: lo que lleva cada uno</a:t>
            </a:r>
            <a:endParaRPr sz="3200"/>
          </a:p>
        </p:txBody>
      </p:sp>
      <p:sp>
        <p:nvSpPr>
          <p:cNvPr id="121" name="Google Shape;121;p6"/>
          <p:cNvSpPr/>
          <p:nvPr/>
        </p:nvSpPr>
        <p:spPr>
          <a:xfrm>
            <a:off x="819150" y="1520130"/>
            <a:ext cx="3373934" cy="3146623"/>
          </a:xfrm>
          <a:prstGeom prst="roundRect">
            <a:avLst>
              <a:gd fmla="val 3027" name="adj"/>
            </a:avLst>
          </a:prstGeom>
          <a:solidFill>
            <a:srgbClr val="FCFCFB"/>
          </a:solidFill>
          <a:ln cap="flat" cmpd="sng" w="12700">
            <a:solidFill>
              <a:srgbClr val="DCDD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1054100" y="1755080"/>
            <a:ext cx="2991155" cy="299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800"/>
              <a:buFont typeface="DM Sans"/>
              <a:buNone/>
            </a:pPr>
            <a:r>
              <a:rPr b="1" i="0" lang="en-US" sz="1800" u="none" cap="none" strike="noStrik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Carlos Román</a:t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1054100" y="2054721"/>
            <a:ext cx="2991155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A78D6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rgbClr val="2A78D6"/>
                </a:solidFill>
                <a:latin typeface="DM Sans"/>
                <a:ea typeface="DM Sans"/>
                <a:cs typeface="DM Sans"/>
                <a:sym typeface="DM Sans"/>
              </a:rPr>
              <a:t>App móvil y panel web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1054100" y="2395041"/>
            <a:ext cx="2991155" cy="693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DM Sans"/>
              <a:buNone/>
            </a:pPr>
            <a:r>
              <a:rPr b="1" i="0" lang="en-US" sz="13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Listo:</a:t>
            </a:r>
            <a:r>
              <a:rPr b="0" i="0" lang="en-US" sz="13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base del frontend, login por roles y consulta de bahías, vehículos y reservas (3 de 7 partes).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1054100" y="3190577"/>
            <a:ext cx="2991155" cy="471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DM Sans"/>
              <a:buNone/>
            </a:pPr>
            <a:r>
              <a:rPr b="1" i="0" lang="en-US" sz="13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En curso:</a:t>
            </a:r>
            <a:r>
              <a:rPr b="0" i="0" lang="en-US" sz="13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racks, usuarios, vehículos e historial.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1054100" y="3763268"/>
            <a:ext cx="2991155" cy="471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DM Sans"/>
              <a:buNone/>
            </a:pPr>
            <a:r>
              <a:rPr b="1" i="0" lang="en-US" sz="13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Sigue:</a:t>
            </a:r>
            <a:r>
              <a:rPr b="0" i="0" lang="en-US" sz="13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escaneo QR; pantallas listas el 11/10.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4408984" y="1520130"/>
            <a:ext cx="3374033" cy="3146623"/>
          </a:xfrm>
          <a:prstGeom prst="roundRect">
            <a:avLst>
              <a:gd fmla="val 3027" name="adj"/>
            </a:avLst>
          </a:prstGeom>
          <a:solidFill>
            <a:srgbClr val="FCFCFB"/>
          </a:solidFill>
          <a:ln cap="flat" cmpd="sng" w="12700">
            <a:solidFill>
              <a:srgbClr val="DCDD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4643934" y="1755080"/>
            <a:ext cx="2991257" cy="299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800"/>
              <a:buFont typeface="DM Sans"/>
              <a:buNone/>
            </a:pPr>
            <a:r>
              <a:rPr b="1" i="0" lang="en-US" sz="1800" u="none" cap="none" strike="noStrik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Felipe Vidal</a:t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4643934" y="2054721"/>
            <a:ext cx="299125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A78D6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rgbClr val="2A78D6"/>
                </a:solidFill>
                <a:latin typeface="DM Sans"/>
                <a:ea typeface="DM Sans"/>
                <a:cs typeface="DM Sans"/>
                <a:sym typeface="DM Sans"/>
              </a:rPr>
              <a:t>Backend e integración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4643934" y="2395041"/>
            <a:ext cx="2991257" cy="693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DM Sans"/>
              <a:buNone/>
            </a:pPr>
            <a:r>
              <a:rPr b="1" i="0" lang="en-US" sz="13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Listo:</a:t>
            </a:r>
            <a:r>
              <a:rPr b="0" i="0" lang="en-US" sz="13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la API de login, asignación por vehículo e IoT, probada (HU-01 a HU-03).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4643934" y="3190577"/>
            <a:ext cx="2991257" cy="471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DM Sans"/>
              <a:buNone/>
            </a:pPr>
            <a:r>
              <a:rPr b="1" i="0" lang="en-US" sz="13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En curso:</a:t>
            </a:r>
            <a:r>
              <a:rPr b="0" i="0" lang="en-US" sz="13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cierre de esas tres historias.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4643934" y="3763268"/>
            <a:ext cx="2991257" cy="693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DM Sans"/>
              <a:buNone/>
            </a:pPr>
            <a:r>
              <a:rPr b="1" i="0" lang="en-US" sz="13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Sigue:</a:t>
            </a:r>
            <a:r>
              <a:rPr b="0" i="0" lang="en-US" sz="13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integración de front y back desde el 11/10; corregir DEF-03 y DEF-04.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7998916" y="1520130"/>
            <a:ext cx="3373934" cy="3146623"/>
          </a:xfrm>
          <a:prstGeom prst="roundRect">
            <a:avLst>
              <a:gd fmla="val 3027" name="adj"/>
            </a:avLst>
          </a:prstGeom>
          <a:solidFill>
            <a:srgbClr val="FCFCFB"/>
          </a:solidFill>
          <a:ln cap="flat" cmpd="sng" w="12700">
            <a:solidFill>
              <a:srgbClr val="DCDD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8233866" y="1755080"/>
            <a:ext cx="2991155" cy="299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800"/>
              <a:buFont typeface="DM Sans"/>
              <a:buNone/>
            </a:pPr>
            <a:r>
              <a:rPr b="1" i="0" lang="en-US" sz="1800" u="none" cap="none" strike="noStrik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Crisler Romero</a:t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8233866" y="2054721"/>
            <a:ext cx="2991155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A78D6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rgbClr val="2A78D6"/>
                </a:solidFill>
                <a:latin typeface="DM Sans"/>
                <a:ea typeface="DM Sans"/>
                <a:cs typeface="DM Sans"/>
                <a:sym typeface="DM Sans"/>
              </a:rPr>
              <a:t>Datos y Power BI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8233866" y="2395041"/>
            <a:ext cx="2991155" cy="9167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DM Sans"/>
              <a:buNone/>
            </a:pPr>
            <a:r>
              <a:rPr b="1" i="0" lang="en-US" sz="13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Listo:</a:t>
            </a:r>
            <a:r>
              <a:rPr b="0" i="0" lang="en-US" sz="13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tres meses de datos de ejemplo cargados y las 6 restricciones de la base probadas, y las consultas para Power BI listas.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8233866" y="3413423"/>
            <a:ext cx="2991155" cy="471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DM Sans"/>
              <a:buNone/>
            </a:pPr>
            <a:r>
              <a:rPr b="1" i="0" lang="en-US" sz="13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En curso:</a:t>
            </a:r>
            <a:r>
              <a:rPr b="0" i="0" lang="en-US" sz="13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limpiar los datos de prueba de las vistas de Power BI (13/10).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8233866" y="3986113"/>
            <a:ext cx="2991155" cy="471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DM Sans"/>
              <a:buNone/>
            </a:pPr>
            <a:r>
              <a:rPr b="1" i="0" lang="en-US" sz="13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Sigue:</a:t>
            </a:r>
            <a:r>
              <a:rPr b="0" i="0" lang="en-US" sz="13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 conectar Power BI a Oracle Cloud (14 al 16/10).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 txBox="1"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200"/>
              <a:buFont typeface="DM Sans"/>
              <a:buNone/>
            </a:pPr>
            <a:r>
              <a:rPr b="1" i="0" lang="en-US" sz="3200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Riesgos y qué hacemos</a:t>
            </a:r>
            <a:endParaRPr sz="3200"/>
          </a:p>
        </p:txBody>
      </p:sp>
      <p:sp>
        <p:nvSpPr>
          <p:cNvPr id="145" name="Google Shape;145;p7"/>
          <p:cNvSpPr/>
          <p:nvPr/>
        </p:nvSpPr>
        <p:spPr>
          <a:xfrm>
            <a:off x="812800" y="1513780"/>
            <a:ext cx="1143000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Probabilidad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762000" y="2174180"/>
            <a:ext cx="863600" cy="6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DM Sans"/>
              <a:buNone/>
            </a:pPr>
            <a:r>
              <a:rPr b="1" i="0" lang="en-US" sz="1300" u="none" cap="none" strike="noStrik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Alta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1752600" y="1818580"/>
            <a:ext cx="1016000" cy="952500"/>
          </a:xfrm>
          <a:prstGeom prst="roundRect">
            <a:avLst>
              <a:gd fmla="val 6667" name="adj"/>
            </a:avLst>
          </a:prstGeom>
          <a:solidFill>
            <a:srgbClr val="F2CF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2819400" y="1818580"/>
            <a:ext cx="1016000" cy="952500"/>
          </a:xfrm>
          <a:prstGeom prst="roundRect">
            <a:avLst>
              <a:gd fmla="val 6667" name="adj"/>
            </a:avLst>
          </a:prstGeom>
          <a:solidFill>
            <a:srgbClr val="E567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3886200" y="1818580"/>
            <a:ext cx="1016000" cy="952500"/>
          </a:xfrm>
          <a:prstGeom prst="roundRect">
            <a:avLst>
              <a:gd fmla="val 6667" name="adj"/>
            </a:avLst>
          </a:prstGeom>
          <a:solidFill>
            <a:srgbClr val="E567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4245173" y="2123380"/>
            <a:ext cx="297954" cy="342900"/>
          </a:xfrm>
          <a:custGeom>
            <a:rect b="b" l="l" r="r" t="t"/>
            <a:pathLst>
              <a:path extrusionOk="0" h="342900" w="297954">
                <a:moveTo>
                  <a:pt x="148977" y="0"/>
                </a:moveTo>
                <a:lnTo>
                  <a:pt x="148977" y="0"/>
                </a:lnTo>
                <a:cubicBezTo>
                  <a:pt x="188488" y="0"/>
                  <a:pt x="226381" y="15696"/>
                  <a:pt x="254320" y="43634"/>
                </a:cubicBezTo>
                <a:cubicBezTo>
                  <a:pt x="282258" y="71573"/>
                  <a:pt x="297954" y="109466"/>
                  <a:pt x="297954" y="148977"/>
                </a:cubicBezTo>
                <a:lnTo>
                  <a:pt x="297954" y="193923"/>
                </a:lnTo>
                <a:cubicBezTo>
                  <a:pt x="297954" y="276201"/>
                  <a:pt x="231255" y="342900"/>
                  <a:pt x="148977" y="342900"/>
                </a:cubicBezTo>
                <a:lnTo>
                  <a:pt x="148977" y="342900"/>
                </a:lnTo>
                <a:cubicBezTo>
                  <a:pt x="66699" y="342900"/>
                  <a:pt x="0" y="276201"/>
                  <a:pt x="0" y="193923"/>
                </a:cubicBezTo>
                <a:lnTo>
                  <a:pt x="0" y="148977"/>
                </a:lnTo>
                <a:cubicBezTo>
                  <a:pt x="0" y="66699"/>
                  <a:pt x="66699" y="0"/>
                  <a:pt x="148977" y="0"/>
                </a:cubicBezTo>
                <a:close/>
              </a:path>
            </a:pathLst>
          </a:custGeom>
          <a:solidFill>
            <a:srgbClr val="14213D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500"/>
              <a:buFont typeface="DM Sans"/>
              <a:buNone/>
            </a:pPr>
            <a:r>
              <a:rPr b="1" i="0" lang="en-US" sz="1500" u="none" cap="none" strike="noStrike">
                <a:solidFill>
                  <a:srgbClr val="F7F6F2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762000" y="3177480"/>
            <a:ext cx="863600" cy="6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DM Sans"/>
              <a:buNone/>
            </a:pPr>
            <a:r>
              <a:rPr b="1" i="0" lang="en-US" sz="1300" u="none" cap="none" strike="noStrik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Media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1752600" y="2821880"/>
            <a:ext cx="1016000" cy="952500"/>
          </a:xfrm>
          <a:prstGeom prst="roundRect">
            <a:avLst>
              <a:gd fmla="val 6667" name="adj"/>
            </a:avLst>
          </a:prstGeom>
          <a:solidFill>
            <a:srgbClr val="7BC6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2819400" y="2821880"/>
            <a:ext cx="1016000" cy="952500"/>
          </a:xfrm>
          <a:prstGeom prst="roundRect">
            <a:avLst>
              <a:gd fmla="val 6667" name="adj"/>
            </a:avLst>
          </a:prstGeom>
          <a:solidFill>
            <a:srgbClr val="F2CF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2947690" y="3126680"/>
            <a:ext cx="343495" cy="342900"/>
          </a:xfrm>
          <a:custGeom>
            <a:rect b="b" l="l" r="r" t="t"/>
            <a:pathLst>
              <a:path extrusionOk="0" h="342900" w="343495">
                <a:moveTo>
                  <a:pt x="171450" y="0"/>
                </a:moveTo>
                <a:lnTo>
                  <a:pt x="172045" y="0"/>
                </a:lnTo>
                <a:cubicBezTo>
                  <a:pt x="217516" y="0"/>
                  <a:pt x="261125" y="18063"/>
                  <a:pt x="293278" y="50217"/>
                </a:cubicBezTo>
                <a:cubicBezTo>
                  <a:pt x="325432" y="82370"/>
                  <a:pt x="343495" y="125979"/>
                  <a:pt x="343495" y="171450"/>
                </a:cubicBezTo>
                <a:lnTo>
                  <a:pt x="343495" y="171450"/>
                </a:lnTo>
                <a:cubicBezTo>
                  <a:pt x="343495" y="266139"/>
                  <a:pt x="266734" y="342900"/>
                  <a:pt x="172045" y="342900"/>
                </a:cubicBezTo>
                <a:lnTo>
                  <a:pt x="171450" y="342900"/>
                </a:lnTo>
                <a:cubicBezTo>
                  <a:pt x="76761" y="342900"/>
                  <a:pt x="0" y="266139"/>
                  <a:pt x="0" y="1714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14213D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500"/>
              <a:buFont typeface="DM Sans"/>
              <a:buNone/>
            </a:pPr>
            <a:r>
              <a:rPr b="1" i="0" lang="en-US" sz="1500" u="none" cap="none" strike="noStrike">
                <a:solidFill>
                  <a:srgbClr val="F7F6F2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3354685" y="3126680"/>
            <a:ext cx="352425" cy="342900"/>
          </a:xfrm>
          <a:custGeom>
            <a:rect b="b" l="l" r="r" t="t"/>
            <a:pathLst>
              <a:path extrusionOk="0" h="342900" w="352425">
                <a:moveTo>
                  <a:pt x="171450" y="0"/>
                </a:moveTo>
                <a:lnTo>
                  <a:pt x="180975" y="0"/>
                </a:lnTo>
                <a:cubicBezTo>
                  <a:pt x="226446" y="0"/>
                  <a:pt x="270055" y="18063"/>
                  <a:pt x="302208" y="50217"/>
                </a:cubicBezTo>
                <a:cubicBezTo>
                  <a:pt x="334362" y="82370"/>
                  <a:pt x="352425" y="125979"/>
                  <a:pt x="352425" y="171450"/>
                </a:cubicBezTo>
                <a:lnTo>
                  <a:pt x="352425" y="171450"/>
                </a:lnTo>
                <a:cubicBezTo>
                  <a:pt x="352425" y="266139"/>
                  <a:pt x="275664" y="342900"/>
                  <a:pt x="180975" y="342900"/>
                </a:cubicBezTo>
                <a:lnTo>
                  <a:pt x="171450" y="342900"/>
                </a:lnTo>
                <a:cubicBezTo>
                  <a:pt x="76761" y="342900"/>
                  <a:pt x="0" y="266139"/>
                  <a:pt x="0" y="1714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14213D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500"/>
              <a:buFont typeface="DM Sans"/>
              <a:buNone/>
            </a:pPr>
            <a:r>
              <a:rPr b="1" i="0" lang="en-US" sz="1500" u="none" cap="none" strike="noStrike">
                <a:solidFill>
                  <a:srgbClr val="F7F6F2"/>
                </a:solidFill>
                <a:latin typeface="DM Sans"/>
                <a:ea typeface="DM Sans"/>
                <a:cs typeface="DM Sans"/>
                <a:sym typeface="DM Sans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3886200" y="2821880"/>
            <a:ext cx="1016000" cy="952500"/>
          </a:xfrm>
          <a:prstGeom prst="roundRect">
            <a:avLst>
              <a:gd fmla="val 6667" name="adj"/>
            </a:avLst>
          </a:prstGeom>
          <a:solidFill>
            <a:srgbClr val="E567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4224933" y="3126680"/>
            <a:ext cx="338534" cy="342900"/>
          </a:xfrm>
          <a:custGeom>
            <a:rect b="b" l="l" r="r" t="t"/>
            <a:pathLst>
              <a:path extrusionOk="0" h="342900" w="338534">
                <a:moveTo>
                  <a:pt x="169267" y="0"/>
                </a:moveTo>
                <a:lnTo>
                  <a:pt x="169267" y="0"/>
                </a:lnTo>
                <a:cubicBezTo>
                  <a:pt x="214159" y="0"/>
                  <a:pt x="257213" y="17833"/>
                  <a:pt x="288957" y="49577"/>
                </a:cubicBezTo>
                <a:cubicBezTo>
                  <a:pt x="320701" y="81321"/>
                  <a:pt x="338534" y="124375"/>
                  <a:pt x="338534" y="169267"/>
                </a:cubicBezTo>
                <a:lnTo>
                  <a:pt x="338534" y="173633"/>
                </a:lnTo>
                <a:cubicBezTo>
                  <a:pt x="338534" y="267117"/>
                  <a:pt x="262751" y="342900"/>
                  <a:pt x="169267" y="342900"/>
                </a:cubicBezTo>
                <a:lnTo>
                  <a:pt x="169267" y="342900"/>
                </a:lnTo>
                <a:cubicBezTo>
                  <a:pt x="75783" y="342900"/>
                  <a:pt x="0" y="267117"/>
                  <a:pt x="0" y="173633"/>
                </a:cubicBezTo>
                <a:lnTo>
                  <a:pt x="0" y="169267"/>
                </a:lnTo>
                <a:cubicBezTo>
                  <a:pt x="0" y="75783"/>
                  <a:pt x="75783" y="0"/>
                  <a:pt x="169267" y="0"/>
                </a:cubicBezTo>
                <a:close/>
              </a:path>
            </a:pathLst>
          </a:custGeom>
          <a:solidFill>
            <a:srgbClr val="14213D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500"/>
              <a:buFont typeface="DM Sans"/>
              <a:buNone/>
            </a:pPr>
            <a:r>
              <a:rPr b="1" i="0" lang="en-US" sz="1500" u="none" cap="none" strike="noStrike">
                <a:solidFill>
                  <a:srgbClr val="F7F6F2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762000" y="4180780"/>
            <a:ext cx="863600" cy="6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DM Sans"/>
              <a:buNone/>
            </a:pPr>
            <a:r>
              <a:rPr b="1" i="0" lang="en-US" sz="1300" u="none" cap="none" strike="noStrik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Baja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1752600" y="3825180"/>
            <a:ext cx="1016000" cy="952500"/>
          </a:xfrm>
          <a:prstGeom prst="roundRect">
            <a:avLst>
              <a:gd fmla="val 6667" name="adj"/>
            </a:avLst>
          </a:prstGeom>
          <a:solidFill>
            <a:srgbClr val="7BC6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2087066" y="4129980"/>
            <a:ext cx="346968" cy="342900"/>
          </a:xfrm>
          <a:custGeom>
            <a:rect b="b" l="l" r="r" t="t"/>
            <a:pathLst>
              <a:path extrusionOk="0" h="342900" w="346968">
                <a:moveTo>
                  <a:pt x="171450" y="0"/>
                </a:moveTo>
                <a:lnTo>
                  <a:pt x="175518" y="0"/>
                </a:lnTo>
                <a:cubicBezTo>
                  <a:pt x="220989" y="0"/>
                  <a:pt x="264598" y="18063"/>
                  <a:pt x="296751" y="50217"/>
                </a:cubicBezTo>
                <a:cubicBezTo>
                  <a:pt x="328905" y="82370"/>
                  <a:pt x="346968" y="125979"/>
                  <a:pt x="346968" y="171450"/>
                </a:cubicBezTo>
                <a:lnTo>
                  <a:pt x="346968" y="171450"/>
                </a:lnTo>
                <a:cubicBezTo>
                  <a:pt x="346968" y="266139"/>
                  <a:pt x="270207" y="342900"/>
                  <a:pt x="175518" y="342900"/>
                </a:cubicBezTo>
                <a:lnTo>
                  <a:pt x="171450" y="342900"/>
                </a:lnTo>
                <a:cubicBezTo>
                  <a:pt x="76761" y="342900"/>
                  <a:pt x="0" y="266139"/>
                  <a:pt x="0" y="1714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14213D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500"/>
              <a:buFont typeface="DM Sans"/>
              <a:buNone/>
            </a:pPr>
            <a:r>
              <a:rPr b="1" i="0" lang="en-US" sz="1500" u="none" cap="none" strike="noStrike">
                <a:solidFill>
                  <a:srgbClr val="F7F6F2"/>
                </a:solidFill>
                <a:latin typeface="DM Sans"/>
                <a:ea typeface="DM Sans"/>
                <a:cs typeface="DM Sans"/>
                <a:sym typeface="DM Sans"/>
              </a:rPr>
              <a:t>5</a:t>
            </a:r>
            <a:endParaRPr b="0" i="0" sz="15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2819400" y="3825180"/>
            <a:ext cx="1016000" cy="952500"/>
          </a:xfrm>
          <a:prstGeom prst="roundRect">
            <a:avLst>
              <a:gd fmla="val 6667" name="adj"/>
            </a:avLst>
          </a:prstGeom>
          <a:solidFill>
            <a:srgbClr val="7BC6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3886200" y="3825180"/>
            <a:ext cx="1016000" cy="952500"/>
          </a:xfrm>
          <a:prstGeom prst="roundRect">
            <a:avLst>
              <a:gd fmla="val 6667" name="adj"/>
            </a:avLst>
          </a:prstGeom>
          <a:solidFill>
            <a:srgbClr val="F2CF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1727200" y="4828480"/>
            <a:ext cx="10668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DM Sans"/>
              <a:buNone/>
            </a:pPr>
            <a:r>
              <a:rPr b="1" i="0" lang="en-US" sz="1300" u="none" cap="none" strike="noStrik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Bajo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2794000" y="4828480"/>
            <a:ext cx="10668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DM Sans"/>
              <a:buNone/>
            </a:pPr>
            <a:r>
              <a:rPr b="1" i="0" lang="en-US" sz="1300" u="none" cap="none" strike="noStrik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Medio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3860800" y="4828480"/>
            <a:ext cx="10668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DM Sans"/>
              <a:buNone/>
            </a:pPr>
            <a:r>
              <a:rPr b="1" i="0" lang="en-US" sz="1300" u="none" cap="none" strike="noStrik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Alto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1705356" y="5133280"/>
            <a:ext cx="3244088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Impacto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1752600" y="5465961"/>
            <a:ext cx="177800" cy="177800"/>
          </a:xfrm>
          <a:prstGeom prst="roundRect">
            <a:avLst>
              <a:gd fmla="val 21429" name="adj"/>
            </a:avLst>
          </a:prstGeom>
          <a:solidFill>
            <a:srgbClr val="7BC6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2032000" y="5448201"/>
            <a:ext cx="362664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Bajo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2435820" y="5465961"/>
            <a:ext cx="177800" cy="177800"/>
          </a:xfrm>
          <a:prstGeom prst="roundRect">
            <a:avLst>
              <a:gd fmla="val 21429" name="adj"/>
            </a:avLst>
          </a:prstGeom>
          <a:solidFill>
            <a:srgbClr val="F2CF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2715220" y="5448201"/>
            <a:ext cx="524708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Medio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3254077" y="5465961"/>
            <a:ext cx="177800" cy="177800"/>
          </a:xfrm>
          <a:prstGeom prst="roundRect">
            <a:avLst>
              <a:gd fmla="val 21429" name="adj"/>
            </a:avLst>
          </a:prstGeom>
          <a:solidFill>
            <a:srgbClr val="E567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3533477" y="5448201"/>
            <a:ext cx="339804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Alto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5308600" y="1513780"/>
            <a:ext cx="263327" cy="281880"/>
          </a:xfrm>
          <a:custGeom>
            <a:rect b="b" l="l" r="r" t="t"/>
            <a:pathLst>
              <a:path extrusionOk="0" h="281880" w="263327">
                <a:moveTo>
                  <a:pt x="131663" y="0"/>
                </a:moveTo>
                <a:lnTo>
                  <a:pt x="131663" y="0"/>
                </a:lnTo>
                <a:cubicBezTo>
                  <a:pt x="166582" y="0"/>
                  <a:pt x="200071" y="13872"/>
                  <a:pt x="224763" y="38563"/>
                </a:cubicBezTo>
                <a:cubicBezTo>
                  <a:pt x="249454" y="63255"/>
                  <a:pt x="263326" y="96744"/>
                  <a:pt x="263326" y="131663"/>
                </a:cubicBezTo>
                <a:lnTo>
                  <a:pt x="263327" y="150217"/>
                </a:lnTo>
                <a:cubicBezTo>
                  <a:pt x="263327" y="222932"/>
                  <a:pt x="204379" y="281880"/>
                  <a:pt x="131664" y="281880"/>
                </a:cubicBezTo>
                <a:lnTo>
                  <a:pt x="131663" y="281880"/>
                </a:lnTo>
                <a:cubicBezTo>
                  <a:pt x="58948" y="281880"/>
                  <a:pt x="0" y="222932"/>
                  <a:pt x="0" y="150217"/>
                </a:cubicBezTo>
                <a:lnTo>
                  <a:pt x="0" y="131663"/>
                </a:lnTo>
                <a:cubicBezTo>
                  <a:pt x="0" y="58948"/>
                  <a:pt x="58948" y="0"/>
                  <a:pt x="131663" y="0"/>
                </a:cubicBezTo>
                <a:close/>
              </a:path>
            </a:pathLst>
          </a:custGeom>
          <a:solidFill>
            <a:srgbClr val="14213D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300"/>
              <a:buFont typeface="DM Sans"/>
              <a:buNone/>
            </a:pPr>
            <a:r>
              <a:rPr b="1" i="0" lang="en-US" sz="1300" u="none" cap="none" strike="noStrike">
                <a:solidFill>
                  <a:srgbClr val="F7F6F2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5698927" y="1513780"/>
            <a:ext cx="5850682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DM Sans"/>
              <a:buNone/>
            </a:pPr>
            <a:r>
              <a:rPr b="1" i="0" lang="en-US" sz="1300" u="none" cap="none" strike="noStrik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Poco tiempo para terminar las pantallas e integrarlas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5698927" y="1753791"/>
            <a:ext cx="5850682" cy="436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Nivel alto. Probar cada pantalla apenas esté; la integración parte el 11/10, antes del feriado del 12/10.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5308600" y="2304852"/>
            <a:ext cx="298549" cy="281880"/>
          </a:xfrm>
          <a:custGeom>
            <a:rect b="b" l="l" r="r" t="t"/>
            <a:pathLst>
              <a:path extrusionOk="0" h="281880" w="298549">
                <a:moveTo>
                  <a:pt x="140940" y="0"/>
                </a:moveTo>
                <a:lnTo>
                  <a:pt x="157609" y="0"/>
                </a:lnTo>
                <a:cubicBezTo>
                  <a:pt x="194989" y="0"/>
                  <a:pt x="230837" y="14849"/>
                  <a:pt x="257269" y="41280"/>
                </a:cubicBezTo>
                <a:cubicBezTo>
                  <a:pt x="283700" y="67712"/>
                  <a:pt x="298549" y="103560"/>
                  <a:pt x="298549" y="140940"/>
                </a:cubicBezTo>
                <a:lnTo>
                  <a:pt x="298549" y="140940"/>
                </a:lnTo>
                <a:cubicBezTo>
                  <a:pt x="298549" y="218779"/>
                  <a:pt x="235448" y="281880"/>
                  <a:pt x="157609" y="281880"/>
                </a:cubicBezTo>
                <a:lnTo>
                  <a:pt x="140940" y="281880"/>
                </a:lnTo>
                <a:cubicBezTo>
                  <a:pt x="63101" y="281880"/>
                  <a:pt x="0" y="218779"/>
                  <a:pt x="0" y="140940"/>
                </a:cubicBezTo>
                <a:lnTo>
                  <a:pt x="0" y="140940"/>
                </a:lnTo>
                <a:cubicBezTo>
                  <a:pt x="0" y="63101"/>
                  <a:pt x="63101" y="0"/>
                  <a:pt x="140940" y="0"/>
                </a:cubicBezTo>
                <a:close/>
              </a:path>
            </a:pathLst>
          </a:custGeom>
          <a:solidFill>
            <a:srgbClr val="14213D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300"/>
              <a:buFont typeface="DM Sans"/>
              <a:buNone/>
            </a:pPr>
            <a:r>
              <a:rPr b="1" i="0" lang="en-US" sz="1300" u="none" cap="none" strike="noStrike">
                <a:solidFill>
                  <a:srgbClr val="F7F6F2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5734149" y="2304852"/>
            <a:ext cx="5814402" cy="454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DM Sans"/>
              <a:buNone/>
            </a:pPr>
            <a:r>
              <a:rPr b="1" i="0" lang="en-US" sz="1300" u="none" cap="none" strike="noStrik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Power BI: publicar e incrustar el informe pide licencia de pago y conectar el servicio a Oracle Cloud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5734149" y="2759472"/>
            <a:ext cx="5814402" cy="436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Nivel alto. Probar con la licencia de prueba y validar la conexión a la nube; plan B: publicar en la web con los datos de ejemplo.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5308600" y="3310533"/>
            <a:ext cx="302816" cy="281880"/>
          </a:xfrm>
          <a:custGeom>
            <a:rect b="b" l="l" r="r" t="t"/>
            <a:pathLst>
              <a:path extrusionOk="0" h="281880" w="302816">
                <a:moveTo>
                  <a:pt x="140940" y="0"/>
                </a:moveTo>
                <a:lnTo>
                  <a:pt x="161875" y="0"/>
                </a:lnTo>
                <a:cubicBezTo>
                  <a:pt x="199255" y="0"/>
                  <a:pt x="235103" y="14849"/>
                  <a:pt x="261535" y="41280"/>
                </a:cubicBezTo>
                <a:cubicBezTo>
                  <a:pt x="287966" y="67712"/>
                  <a:pt x="302815" y="103560"/>
                  <a:pt x="302815" y="140940"/>
                </a:cubicBezTo>
                <a:lnTo>
                  <a:pt x="302816" y="140940"/>
                </a:lnTo>
                <a:cubicBezTo>
                  <a:pt x="302816" y="218779"/>
                  <a:pt x="239715" y="281880"/>
                  <a:pt x="161876" y="281880"/>
                </a:cubicBezTo>
                <a:lnTo>
                  <a:pt x="140940" y="281880"/>
                </a:lnTo>
                <a:cubicBezTo>
                  <a:pt x="63101" y="281880"/>
                  <a:pt x="0" y="218779"/>
                  <a:pt x="0" y="140940"/>
                </a:cubicBezTo>
                <a:lnTo>
                  <a:pt x="0" y="140940"/>
                </a:lnTo>
                <a:cubicBezTo>
                  <a:pt x="0" y="63101"/>
                  <a:pt x="63101" y="0"/>
                  <a:pt x="140940" y="0"/>
                </a:cubicBezTo>
                <a:close/>
              </a:path>
            </a:pathLst>
          </a:custGeom>
          <a:solidFill>
            <a:srgbClr val="14213D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300"/>
              <a:buFont typeface="DM Sans"/>
              <a:buNone/>
            </a:pPr>
            <a:r>
              <a:rPr b="1" i="0" lang="en-US" sz="1300" u="none" cap="none" strike="noStrike">
                <a:solidFill>
                  <a:srgbClr val="F7F6F2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5738416" y="3310533"/>
            <a:ext cx="5810008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DM Sans"/>
              <a:buNone/>
            </a:pPr>
            <a:r>
              <a:rPr b="1" i="0" lang="en-US" sz="1300" u="none" cap="none" strike="noStrik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Dos defectos abiertos (DEF-03 y DEF-04)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5738416" y="3550543"/>
            <a:ext cx="5810008" cy="231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Nivel medio. Felipe los corrige y repetimos la regresión de la API.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5308600" y="3895923"/>
            <a:ext cx="310555" cy="281880"/>
          </a:xfrm>
          <a:custGeom>
            <a:rect b="b" l="l" r="r" t="t"/>
            <a:pathLst>
              <a:path extrusionOk="0" h="281880" w="310555">
                <a:moveTo>
                  <a:pt x="140940" y="0"/>
                </a:moveTo>
                <a:lnTo>
                  <a:pt x="169614" y="0"/>
                </a:lnTo>
                <a:cubicBezTo>
                  <a:pt x="206994" y="0"/>
                  <a:pt x="242842" y="14849"/>
                  <a:pt x="269274" y="41280"/>
                </a:cubicBezTo>
                <a:cubicBezTo>
                  <a:pt x="295705" y="67712"/>
                  <a:pt x="310554" y="103560"/>
                  <a:pt x="310554" y="140940"/>
                </a:cubicBezTo>
                <a:lnTo>
                  <a:pt x="310555" y="140940"/>
                </a:lnTo>
                <a:cubicBezTo>
                  <a:pt x="310555" y="218779"/>
                  <a:pt x="247454" y="281880"/>
                  <a:pt x="169615" y="281880"/>
                </a:cubicBezTo>
                <a:lnTo>
                  <a:pt x="140940" y="281880"/>
                </a:lnTo>
                <a:cubicBezTo>
                  <a:pt x="63101" y="281880"/>
                  <a:pt x="0" y="218779"/>
                  <a:pt x="0" y="140940"/>
                </a:cubicBezTo>
                <a:lnTo>
                  <a:pt x="0" y="140940"/>
                </a:lnTo>
                <a:cubicBezTo>
                  <a:pt x="0" y="63101"/>
                  <a:pt x="63101" y="0"/>
                  <a:pt x="140940" y="0"/>
                </a:cubicBezTo>
                <a:close/>
              </a:path>
            </a:pathLst>
          </a:custGeom>
          <a:solidFill>
            <a:srgbClr val="14213D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300"/>
              <a:buFont typeface="DM Sans"/>
              <a:buNone/>
            </a:pPr>
            <a:r>
              <a:rPr b="1" i="0" lang="en-US" sz="1300" u="none" cap="none" strike="noStrike">
                <a:solidFill>
                  <a:srgbClr val="F7F6F2"/>
                </a:solidFill>
                <a:latin typeface="DM Sans"/>
                <a:ea typeface="DM Sans"/>
                <a:cs typeface="DM Sans"/>
                <a:sym typeface="DM Sans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5746155" y="3895923"/>
            <a:ext cx="5802037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DM Sans"/>
              <a:buNone/>
            </a:pPr>
            <a:r>
              <a:rPr b="1" i="0" lang="en-US" sz="1300" u="none" cap="none" strike="noStrik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El código aún no está completo en GitHub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5746155" y="4135934"/>
            <a:ext cx="5802037" cy="231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Nivel medio. Subirlo antes del cierre del Sprint 3 (18/10).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5308600" y="4481314"/>
            <a:ext cx="305792" cy="281880"/>
          </a:xfrm>
          <a:custGeom>
            <a:rect b="b" l="l" r="r" t="t"/>
            <a:pathLst>
              <a:path extrusionOk="0" h="281880" w="305792">
                <a:moveTo>
                  <a:pt x="140940" y="0"/>
                </a:moveTo>
                <a:lnTo>
                  <a:pt x="164852" y="0"/>
                </a:lnTo>
                <a:cubicBezTo>
                  <a:pt x="202232" y="0"/>
                  <a:pt x="238080" y="14849"/>
                  <a:pt x="264512" y="41280"/>
                </a:cubicBezTo>
                <a:cubicBezTo>
                  <a:pt x="290943" y="67712"/>
                  <a:pt x="305792" y="103560"/>
                  <a:pt x="305792" y="140940"/>
                </a:cubicBezTo>
                <a:lnTo>
                  <a:pt x="305792" y="140940"/>
                </a:lnTo>
                <a:cubicBezTo>
                  <a:pt x="305792" y="218779"/>
                  <a:pt x="242691" y="281880"/>
                  <a:pt x="164852" y="281880"/>
                </a:cubicBezTo>
                <a:lnTo>
                  <a:pt x="140940" y="281880"/>
                </a:lnTo>
                <a:cubicBezTo>
                  <a:pt x="63101" y="281880"/>
                  <a:pt x="0" y="218779"/>
                  <a:pt x="0" y="140940"/>
                </a:cubicBezTo>
                <a:lnTo>
                  <a:pt x="0" y="140940"/>
                </a:lnTo>
                <a:cubicBezTo>
                  <a:pt x="0" y="63101"/>
                  <a:pt x="63101" y="0"/>
                  <a:pt x="140940" y="0"/>
                </a:cubicBezTo>
                <a:close/>
              </a:path>
            </a:pathLst>
          </a:custGeom>
          <a:solidFill>
            <a:srgbClr val="14213D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300"/>
              <a:buFont typeface="DM Sans"/>
              <a:buNone/>
            </a:pPr>
            <a:r>
              <a:rPr b="1" i="0" lang="en-US" sz="1300" u="none" cap="none" strike="noStrike">
                <a:solidFill>
                  <a:srgbClr val="F7F6F2"/>
                </a:solidFill>
                <a:latin typeface="DM Sans"/>
                <a:ea typeface="DM Sans"/>
                <a:cs typeface="DM Sans"/>
                <a:sym typeface="DM Sans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5741392" y="4481314"/>
            <a:ext cx="5806942" cy="2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DM Sans"/>
              <a:buNone/>
            </a:pPr>
            <a:r>
              <a:rPr b="1" i="0" lang="en-US" sz="1300" u="none" cap="none" strike="noStrike">
                <a:solidFill>
                  <a:srgbClr val="14213D"/>
                </a:solidFill>
                <a:latin typeface="DM Sans"/>
                <a:ea typeface="DM Sans"/>
                <a:cs typeface="DM Sans"/>
                <a:sym typeface="DM Sans"/>
              </a:rPr>
              <a:t>Ventana de reserva sin definir (hoy 15 minutos)</a:t>
            </a:r>
            <a:endParaRPr b="0" i="0" sz="13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5741392" y="4721324"/>
            <a:ext cx="5806942" cy="231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DM Sans"/>
                <a:ea typeface="DM Sans"/>
                <a:cs typeface="DM Sans"/>
                <a:sym typeface="DM Sans"/>
              </a:rPr>
              <a:t>Nivel bajo. Decidirla esta semana; es un parámetro y el cambio es rápido.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213D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 txBox="1"/>
          <p:nvPr>
            <p:ph type="title"/>
          </p:nvPr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3200"/>
              <a:buFont typeface="DM Sans"/>
              <a:buNone/>
            </a:pPr>
            <a:r>
              <a:rPr b="1" i="0" lang="en-US" sz="3200">
                <a:solidFill>
                  <a:srgbClr val="F7F6F2"/>
                </a:solidFill>
                <a:latin typeface="DM Sans"/>
                <a:ea typeface="DM Sans"/>
                <a:cs typeface="DM Sans"/>
                <a:sym typeface="DM Sans"/>
              </a:rPr>
              <a:t>Próximos pasos</a:t>
            </a:r>
            <a:endParaRPr sz="3200"/>
          </a:p>
        </p:txBody>
      </p:sp>
      <p:cxnSp>
        <p:nvCxnSpPr>
          <p:cNvPr id="194" name="Google Shape;194;p8"/>
          <p:cNvCxnSpPr/>
          <p:nvPr/>
        </p:nvCxnSpPr>
        <p:spPr>
          <a:xfrm>
            <a:off x="812800" y="1520130"/>
            <a:ext cx="10566400" cy="0"/>
          </a:xfrm>
          <a:prstGeom prst="straightConnector1">
            <a:avLst/>
          </a:prstGeom>
          <a:noFill/>
          <a:ln cap="flat" cmpd="sng" w="12700">
            <a:solidFill>
              <a:srgbClr val="3A47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" name="Google Shape;195;p8"/>
          <p:cNvSpPr/>
          <p:nvPr/>
        </p:nvSpPr>
        <p:spPr>
          <a:xfrm>
            <a:off x="812800" y="1678880"/>
            <a:ext cx="1962150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FB3F0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7FB3F0"/>
                </a:solidFill>
                <a:latin typeface="DM Sans"/>
                <a:ea typeface="DM Sans"/>
                <a:cs typeface="DM Sans"/>
                <a:sym typeface="DM Sans"/>
              </a:rPr>
              <a:t>11/10</a:t>
            </a:r>
            <a:endParaRPr b="0" i="0" sz="1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2971800" y="1678880"/>
            <a:ext cx="8659622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F7F6F2"/>
                </a:solidFill>
                <a:latin typeface="DM Sans"/>
                <a:ea typeface="DM Sans"/>
                <a:cs typeface="DM Sans"/>
                <a:sym typeface="DM Sans"/>
              </a:rPr>
              <a:t>Pantallas de la app y del panel terminadas; parte la integración</a:t>
            </a:r>
            <a:endParaRPr b="0" i="0" sz="1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97" name="Google Shape;197;p8"/>
          <p:cNvCxnSpPr/>
          <p:nvPr/>
        </p:nvCxnSpPr>
        <p:spPr>
          <a:xfrm>
            <a:off x="812800" y="2122091"/>
            <a:ext cx="10566400" cy="0"/>
          </a:xfrm>
          <a:prstGeom prst="straightConnector1">
            <a:avLst/>
          </a:prstGeom>
          <a:noFill/>
          <a:ln cap="flat" cmpd="sng" w="12700">
            <a:solidFill>
              <a:srgbClr val="3A47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8" name="Google Shape;198;p8"/>
          <p:cNvSpPr/>
          <p:nvPr/>
        </p:nvSpPr>
        <p:spPr>
          <a:xfrm>
            <a:off x="812800" y="2280841"/>
            <a:ext cx="1962150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FB3F0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7FB3F0"/>
                </a:solidFill>
                <a:latin typeface="DM Sans"/>
                <a:ea typeface="DM Sans"/>
                <a:cs typeface="DM Sans"/>
                <a:sym typeface="DM Sans"/>
              </a:rPr>
              <a:t>13/10</a:t>
            </a:r>
            <a:endParaRPr b="0" i="0" sz="1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2971800" y="2280841"/>
            <a:ext cx="8659622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F7F6F2"/>
                </a:solidFill>
                <a:latin typeface="DM Sans"/>
                <a:ea typeface="DM Sans"/>
                <a:cs typeface="DM Sans"/>
                <a:sym typeface="DM Sans"/>
              </a:rPr>
              <a:t>Datos de prueba fuera de las vistas de Power BI</a:t>
            </a:r>
            <a:endParaRPr b="0" i="0" sz="1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200" name="Google Shape;200;p8"/>
          <p:cNvCxnSpPr/>
          <p:nvPr/>
        </p:nvCxnSpPr>
        <p:spPr>
          <a:xfrm>
            <a:off x="812800" y="2724051"/>
            <a:ext cx="10566400" cy="0"/>
          </a:xfrm>
          <a:prstGeom prst="straightConnector1">
            <a:avLst/>
          </a:prstGeom>
          <a:noFill/>
          <a:ln cap="flat" cmpd="sng" w="12700">
            <a:solidFill>
              <a:srgbClr val="3A47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" name="Google Shape;201;p8"/>
          <p:cNvSpPr/>
          <p:nvPr/>
        </p:nvSpPr>
        <p:spPr>
          <a:xfrm>
            <a:off x="812800" y="2882801"/>
            <a:ext cx="1962150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FB3F0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7FB3F0"/>
                </a:solidFill>
                <a:latin typeface="DM Sans"/>
                <a:ea typeface="DM Sans"/>
                <a:cs typeface="DM Sans"/>
                <a:sym typeface="DM Sans"/>
              </a:rPr>
              <a:t>14 al 16/10</a:t>
            </a:r>
            <a:endParaRPr b="0" i="0" sz="1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2971800" y="2882801"/>
            <a:ext cx="8659622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F7F6F2"/>
                </a:solidFill>
                <a:latin typeface="DM Sans"/>
                <a:ea typeface="DM Sans"/>
                <a:cs typeface="DM Sans"/>
                <a:sym typeface="DM Sans"/>
              </a:rPr>
              <a:t>Conexión de Power BI a la base en Oracle Cloud</a:t>
            </a:r>
            <a:endParaRPr b="0" i="0" sz="1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203" name="Google Shape;203;p8"/>
          <p:cNvCxnSpPr/>
          <p:nvPr/>
        </p:nvCxnSpPr>
        <p:spPr>
          <a:xfrm>
            <a:off x="812800" y="3326011"/>
            <a:ext cx="10566400" cy="0"/>
          </a:xfrm>
          <a:prstGeom prst="straightConnector1">
            <a:avLst/>
          </a:prstGeom>
          <a:noFill/>
          <a:ln cap="flat" cmpd="sng" w="12700">
            <a:solidFill>
              <a:srgbClr val="3A47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" name="Google Shape;204;p8"/>
          <p:cNvSpPr/>
          <p:nvPr/>
        </p:nvSpPr>
        <p:spPr>
          <a:xfrm>
            <a:off x="812800" y="3484761"/>
            <a:ext cx="1962150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FB3F0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7FB3F0"/>
                </a:solidFill>
                <a:latin typeface="DM Sans"/>
                <a:ea typeface="DM Sans"/>
                <a:cs typeface="DM Sans"/>
                <a:sym typeface="DM Sans"/>
              </a:rPr>
              <a:t>18/10</a:t>
            </a:r>
            <a:endParaRPr b="0" i="0" sz="1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2971800" y="3484761"/>
            <a:ext cx="8659622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F7F6F2"/>
                </a:solidFill>
                <a:latin typeface="DM Sans"/>
                <a:ea typeface="DM Sans"/>
                <a:cs typeface="DM Sans"/>
                <a:sym typeface="DM Sans"/>
              </a:rPr>
              <a:t>Cierre del Sprint 3: pantallas probadas contra el backend</a:t>
            </a:r>
            <a:endParaRPr b="0" i="0" sz="1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206" name="Google Shape;206;p8"/>
          <p:cNvCxnSpPr/>
          <p:nvPr/>
        </p:nvCxnSpPr>
        <p:spPr>
          <a:xfrm>
            <a:off x="812800" y="3927971"/>
            <a:ext cx="10566400" cy="0"/>
          </a:xfrm>
          <a:prstGeom prst="straightConnector1">
            <a:avLst/>
          </a:prstGeom>
          <a:noFill/>
          <a:ln cap="flat" cmpd="sng" w="12700">
            <a:solidFill>
              <a:srgbClr val="3A47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" name="Google Shape;207;p8"/>
          <p:cNvCxnSpPr/>
          <p:nvPr/>
        </p:nvCxnSpPr>
        <p:spPr>
          <a:xfrm>
            <a:off x="812800" y="4793952"/>
            <a:ext cx="10566400" cy="0"/>
          </a:xfrm>
          <a:prstGeom prst="straightConnector1">
            <a:avLst/>
          </a:prstGeom>
          <a:noFill/>
          <a:ln cap="flat" cmpd="sng" w="12700">
            <a:solidFill>
              <a:srgbClr val="3A47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p8"/>
          <p:cNvSpPr/>
          <p:nvPr/>
        </p:nvSpPr>
        <p:spPr>
          <a:xfrm>
            <a:off x="812800" y="4086721"/>
            <a:ext cx="1962150" cy="573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FB3F0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7FB3F0"/>
                </a:solidFill>
                <a:latin typeface="DM Sans"/>
                <a:ea typeface="DM Sans"/>
                <a:cs typeface="DM Sans"/>
                <a:sym typeface="DM Sans"/>
              </a:rPr>
              <a:t>19/10 al 01/11</a:t>
            </a:r>
            <a:endParaRPr b="0" i="0" sz="1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2971800" y="4086721"/>
            <a:ext cx="8659622" cy="573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F7F6F2"/>
                </a:solidFill>
                <a:latin typeface="DM Sans"/>
                <a:ea typeface="DM Sans"/>
                <a:cs typeface="DM Sans"/>
                <a:sym typeface="DM Sans"/>
              </a:rPr>
              <a:t>Sprint 4: Power BI dentro del panel web, pruebas finales, app instalable y documentos finales</a:t>
            </a:r>
            <a:endParaRPr b="0" i="0" sz="16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mniDock — Avance semanal Sprint 3">
  <a:themeElements>
    <a:clrScheme name="OmniDock — Avance semanal Sprint 3">
      <a:dk1>
        <a:srgbClr val="14213D"/>
      </a:dk1>
      <a:lt1>
        <a:srgbClr val="F7F6F2"/>
      </a:lt1>
      <a:dk2>
        <a:srgbClr val="4D566A"/>
      </a:dk2>
      <a:lt2>
        <a:srgbClr val="E0E1E0"/>
      </a:lt2>
      <a:accent1>
        <a:srgbClr val="2A78D6"/>
      </a:accent1>
      <a:accent2>
        <a:srgbClr val="7FB3F0"/>
      </a:accent2>
      <a:accent3>
        <a:srgbClr val="F2CF4A"/>
      </a:accent3>
      <a:accent4>
        <a:srgbClr val="E5675C"/>
      </a:accent4>
      <a:accent5>
        <a:srgbClr val="7BC67E"/>
      </a:accent5>
      <a:accent6>
        <a:srgbClr val="1B4F8F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mniDock — Avance semanal Sprint 3">
  <a:themeElements>
    <a:clrScheme name="OmniDock — Avance semanal Sprint 3">
      <a:dk1>
        <a:srgbClr val="14213D"/>
      </a:dk1>
      <a:lt1>
        <a:srgbClr val="F7F6F2"/>
      </a:lt1>
      <a:dk2>
        <a:srgbClr val="4D566A"/>
      </a:dk2>
      <a:lt2>
        <a:srgbClr val="E0E1E0"/>
      </a:lt2>
      <a:accent1>
        <a:srgbClr val="2A78D6"/>
      </a:accent1>
      <a:accent2>
        <a:srgbClr val="7FB3F0"/>
      </a:accent2>
      <a:accent3>
        <a:srgbClr val="F2CF4A"/>
      </a:accent3>
      <a:accent4>
        <a:srgbClr val="E5675C"/>
      </a:accent4>
      <a:accent5>
        <a:srgbClr val="7BC67E"/>
      </a:accent5>
      <a:accent6>
        <a:srgbClr val="1B4F8F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2026-10-09T20:04:40Z</dcterms:created>
</cp:coreProperties>
</file>