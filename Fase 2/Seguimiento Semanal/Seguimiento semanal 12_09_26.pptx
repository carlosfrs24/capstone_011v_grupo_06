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2" roundtripDataSignature="AMtx7mjgdMqpbmq4M39b6Tcam+0zN+Lo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24D409C-238C-4764-B758-1149AE20A97F}">
  <a:tblStyle styleId="{C24D409C-238C-4764-B758-1149AE20A97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customschemas.google.com/relationships/presentationmetadata" Target="metadata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7334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uocuc_logo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42448" y="320040"/>
            <a:ext cx="1170432" cy="2877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mnidock_logo.p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1143000"/>
            <a:ext cx="3703320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4617720" y="1481328"/>
            <a:ext cx="6720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2B5E0"/>
                </a:solidFill>
                <a:latin typeface="Arial"/>
                <a:ea typeface="Arial"/>
                <a:cs typeface="Arial"/>
                <a:sym typeface="Arial"/>
              </a:rPr>
              <a:t>SEGUIMIENTO SEMANAL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4617720" y="1965960"/>
            <a:ext cx="67208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OmniDock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4617720" y="2926080"/>
            <a:ext cx="6263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Estado de avance · Sprint 1 · Riesgos · Compromisos</a:t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4617720" y="3858768"/>
            <a:ext cx="914400" cy="54864"/>
          </a:xfrm>
          <a:prstGeom prst="rect">
            <a:avLst/>
          </a:prstGeom>
          <a:solidFill>
            <a:srgbClr val="1E6E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5577840" y="3858768"/>
            <a:ext cx="320040" cy="54864"/>
          </a:xfrm>
          <a:prstGeom prst="rect">
            <a:avLst/>
          </a:prstGeom>
          <a:solidFill>
            <a:srgbClr val="A6E5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617720" y="4709160"/>
            <a:ext cx="6217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11 de septiembre de 2026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4617720" y="5056632"/>
            <a:ext cx="6217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Sprint 1: Fundamentos · revisión semanal</a:t>
            </a:r>
            <a:endParaRPr/>
          </a:p>
        </p:txBody>
      </p:sp>
      <p:pic>
        <p:nvPicPr>
          <p:cNvPr descr="nodalix_logo.png" id="93" name="Google Shape;93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61320" y="5989320"/>
            <a:ext cx="665480" cy="66548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 txBox="1"/>
          <p:nvPr/>
        </p:nvSpPr>
        <p:spPr>
          <a:xfrm>
            <a:off x="640080" y="617220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Plataforma transaccional de gestión de micromovilidad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73344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/>
        </p:nvSpPr>
        <p:spPr>
          <a:xfrm>
            <a:off x="502920" y="32004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2B5E0"/>
                </a:solidFill>
                <a:latin typeface="Arial"/>
                <a:ea typeface="Arial"/>
                <a:cs typeface="Arial"/>
                <a:sym typeface="Arial"/>
              </a:rPr>
              <a:t>01 · ESTADO GENERAL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502920" y="658368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Avance general del proyecto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502920" y="1170432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El proyecto se encuentra en Sprint 1 de 4, con foco en cerrar los fundamentos que habilitan el desarrollo posterior.</a:t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502920" y="1645920"/>
            <a:ext cx="594360" cy="41148"/>
          </a:xfrm>
          <a:prstGeom prst="rect">
            <a:avLst/>
          </a:prstGeom>
          <a:solidFill>
            <a:srgbClr val="1E6E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1124712" y="1645920"/>
            <a:ext cx="201168" cy="41148"/>
          </a:xfrm>
          <a:prstGeom prst="rect">
            <a:avLst/>
          </a:prstGeom>
          <a:solidFill>
            <a:srgbClr val="A6E5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OmniDock · Seguimiento semanal · 11 sep 2026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11018520" y="6492240"/>
            <a:ext cx="685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502920" y="1920240"/>
            <a:ext cx="6995160" cy="4251960"/>
          </a:xfrm>
          <a:prstGeom prst="roundRect">
            <a:avLst>
              <a:gd fmla="val 16667" name="adj"/>
            </a:avLst>
          </a:prstGeom>
          <a:solidFill>
            <a:srgbClr val="313D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777240" y="221284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2B5E0"/>
                </a:solidFill>
                <a:latin typeface="Arial"/>
                <a:ea typeface="Arial"/>
                <a:cs typeface="Arial"/>
                <a:sym typeface="Arial"/>
              </a:rPr>
              <a:t>ESTADO ACTUAL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777240" y="2596896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EN CURSO</a:t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5321808" y="2615184"/>
            <a:ext cx="1600200" cy="256032"/>
          </a:xfrm>
          <a:prstGeom prst="roundRect">
            <a:avLst>
              <a:gd fmla="val 16667" name="adj"/>
            </a:avLst>
          </a:prstGeom>
          <a:solidFill>
            <a:srgbClr val="A6E5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5321808" y="2628900"/>
            <a:ext cx="1600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73344"/>
                </a:solidFill>
                <a:latin typeface="Arial"/>
                <a:ea typeface="Arial"/>
                <a:cs typeface="Arial"/>
                <a:sym typeface="Arial"/>
              </a:rPr>
              <a:t>SPRINT 1 / 4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777240" y="324612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La planificación oficial contempla 4 sprints de dos semanas.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777240" y="3767328"/>
            <a:ext cx="5822235" cy="486287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Prioridad actual: consolidar ERS, modelo relacional Oracle y contratos API </a:t>
            </a:r>
            <a:endParaRPr b="0" i="0" sz="1400" u="none" cap="none" strike="noStrike">
              <a:solidFill>
                <a:srgbClr val="B7C2C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antes de acelerar el desarrollo del core.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777240" y="5138928"/>
            <a:ext cx="53949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2B5E0"/>
                </a:solidFill>
                <a:latin typeface="Arial"/>
                <a:ea typeface="Arial"/>
                <a:cs typeface="Arial"/>
                <a:sym typeface="Arial"/>
              </a:rPr>
              <a:t>Roadmap</a:t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777240" y="5504688"/>
            <a:ext cx="210312" cy="210312"/>
          </a:xfrm>
          <a:prstGeom prst="ellipse">
            <a:avLst/>
          </a:prstGeom>
          <a:solidFill>
            <a:srgbClr val="A6E5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987552" y="5586984"/>
            <a:ext cx="1225296" cy="22860"/>
          </a:xfrm>
          <a:prstGeom prst="rect">
            <a:avLst/>
          </a:prstGeom>
          <a:solidFill>
            <a:srgbClr val="A6E5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758952" y="5797296"/>
            <a:ext cx="13533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S1 · Fundamentos</a:t>
            </a:r>
            <a:endParaRPr/>
          </a:p>
        </p:txBody>
      </p:sp>
      <p:sp>
        <p:nvSpPr>
          <p:cNvPr id="117" name="Google Shape;117;p2"/>
          <p:cNvSpPr/>
          <p:nvPr/>
        </p:nvSpPr>
        <p:spPr>
          <a:xfrm>
            <a:off x="2258568" y="5504688"/>
            <a:ext cx="210312" cy="210312"/>
          </a:xfrm>
          <a:prstGeom prst="ellipse">
            <a:avLst/>
          </a:prstGeom>
          <a:solidFill>
            <a:srgbClr val="525F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2468880" y="5586984"/>
            <a:ext cx="1225296" cy="22860"/>
          </a:xfrm>
          <a:prstGeom prst="rect">
            <a:avLst/>
          </a:prstGeom>
          <a:solidFill>
            <a:srgbClr val="525F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2240280" y="5797296"/>
            <a:ext cx="13533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S2 · Backend + Seguridad</a:t>
            </a:r>
            <a:endParaRPr/>
          </a:p>
        </p:txBody>
      </p:sp>
      <p:sp>
        <p:nvSpPr>
          <p:cNvPr id="120" name="Google Shape;120;p2"/>
          <p:cNvSpPr/>
          <p:nvPr/>
        </p:nvSpPr>
        <p:spPr>
          <a:xfrm>
            <a:off x="3739896" y="5504688"/>
            <a:ext cx="210312" cy="210312"/>
          </a:xfrm>
          <a:prstGeom prst="ellipse">
            <a:avLst/>
          </a:prstGeom>
          <a:solidFill>
            <a:srgbClr val="525F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3950208" y="5586984"/>
            <a:ext cx="1225296" cy="22860"/>
          </a:xfrm>
          <a:prstGeom prst="rect">
            <a:avLst/>
          </a:prstGeom>
          <a:solidFill>
            <a:srgbClr val="525F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3721608" y="5797296"/>
            <a:ext cx="13533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S3 · IoT + UI</a:t>
            </a: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5221224" y="5504688"/>
            <a:ext cx="210312" cy="210312"/>
          </a:xfrm>
          <a:prstGeom prst="ellipse">
            <a:avLst/>
          </a:prstGeom>
          <a:solidFill>
            <a:srgbClr val="525F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5202936" y="5797296"/>
            <a:ext cx="13533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S4 · Analítica + Cierre</a:t>
            </a:r>
            <a:endParaRPr/>
          </a:p>
        </p:txBody>
      </p:sp>
      <p:sp>
        <p:nvSpPr>
          <p:cNvPr id="125" name="Google Shape;125;p2"/>
          <p:cNvSpPr/>
          <p:nvPr/>
        </p:nvSpPr>
        <p:spPr>
          <a:xfrm>
            <a:off x="7726679" y="1920240"/>
            <a:ext cx="3950208" cy="4251960"/>
          </a:xfrm>
          <a:prstGeom prst="roundRect">
            <a:avLst>
              <a:gd fmla="val 16667" name="adj"/>
            </a:avLst>
          </a:prstGeom>
          <a:solidFill>
            <a:srgbClr val="1D283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8028431" y="221284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2B5E0"/>
                </a:solidFill>
                <a:latin typeface="Arial"/>
                <a:ea typeface="Arial"/>
                <a:cs typeface="Arial"/>
                <a:sym typeface="Arial"/>
              </a:rPr>
              <a:t>HITOS DE LA ITERACIÓN</a:t>
            </a:r>
            <a:endParaRPr/>
          </a:p>
        </p:txBody>
      </p:sp>
      <p:sp>
        <p:nvSpPr>
          <p:cNvPr id="127" name="Google Shape;127;p2"/>
          <p:cNvSpPr/>
          <p:nvPr/>
        </p:nvSpPr>
        <p:spPr>
          <a:xfrm>
            <a:off x="8028431" y="2697480"/>
            <a:ext cx="329184" cy="329184"/>
          </a:xfrm>
          <a:prstGeom prst="ellipse">
            <a:avLst/>
          </a:prstGeom>
          <a:solidFill>
            <a:srgbClr val="1E6E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8028431" y="2734056"/>
            <a:ext cx="3291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8503920" y="2688336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ERS / requisitos</a:t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8503920" y="2980944"/>
            <a:ext cx="2788920" cy="6126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" u="none" cap="none" strike="noStrik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Documento v1.1.0 actualizado al 09/09/2026</a:t>
            </a:r>
            <a:endParaRPr/>
          </a:p>
        </p:txBody>
      </p:sp>
      <p:sp>
        <p:nvSpPr>
          <p:cNvPr id="131" name="Google Shape;131;p2"/>
          <p:cNvSpPr/>
          <p:nvPr/>
        </p:nvSpPr>
        <p:spPr>
          <a:xfrm>
            <a:off x="8028431" y="3685032"/>
            <a:ext cx="329184" cy="329184"/>
          </a:xfrm>
          <a:prstGeom prst="ellipse">
            <a:avLst/>
          </a:prstGeom>
          <a:solidFill>
            <a:srgbClr val="1E6E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 txBox="1"/>
          <p:nvPr/>
        </p:nvSpPr>
        <p:spPr>
          <a:xfrm>
            <a:off x="8028431" y="3721608"/>
            <a:ext cx="3291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8503920" y="367588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Modelo de datos</a:t>
            </a:r>
            <a:endParaRPr/>
          </a:p>
        </p:txBody>
      </p:sp>
      <p:sp>
        <p:nvSpPr>
          <p:cNvPr id="134" name="Google Shape;134;p2"/>
          <p:cNvSpPr txBox="1"/>
          <p:nvPr/>
        </p:nvSpPr>
        <p:spPr>
          <a:xfrm>
            <a:off x="8503920" y="3968496"/>
            <a:ext cx="2788920" cy="6126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" u="none" cap="none" strike="noStrik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Diseño relacional Oracle como fuente transaccional</a:t>
            </a:r>
            <a:endParaRPr/>
          </a:p>
        </p:txBody>
      </p:sp>
      <p:sp>
        <p:nvSpPr>
          <p:cNvPr id="135" name="Google Shape;135;p2"/>
          <p:cNvSpPr/>
          <p:nvPr/>
        </p:nvSpPr>
        <p:spPr>
          <a:xfrm>
            <a:off x="8028431" y="4672584"/>
            <a:ext cx="329184" cy="329184"/>
          </a:xfrm>
          <a:prstGeom prst="ellipse">
            <a:avLst/>
          </a:prstGeom>
          <a:solidFill>
            <a:srgbClr val="1E6E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"/>
          <p:cNvSpPr txBox="1"/>
          <p:nvPr/>
        </p:nvSpPr>
        <p:spPr>
          <a:xfrm>
            <a:off x="8028431" y="4709160"/>
            <a:ext cx="3291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37" name="Google Shape;137;p2"/>
          <p:cNvSpPr txBox="1"/>
          <p:nvPr/>
        </p:nvSpPr>
        <p:spPr>
          <a:xfrm>
            <a:off x="8503920" y="4663440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Contratos API</a:t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8503920" y="4956048"/>
            <a:ext cx="2788920" cy="6126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" u="none" cap="none" strike="noStrik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Definición del puente hacia simuladores IoT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73344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/>
          <p:cNvSpPr txBox="1"/>
          <p:nvPr/>
        </p:nvSpPr>
        <p:spPr>
          <a:xfrm>
            <a:off x="502920" y="32004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2B5E0"/>
                </a:solidFill>
                <a:latin typeface="Arial"/>
                <a:ea typeface="Arial"/>
                <a:cs typeface="Arial"/>
                <a:sym typeface="Arial"/>
              </a:rPr>
              <a:t>02 · SPRINT 1</a:t>
            </a:r>
            <a:endParaRPr/>
          </a:p>
        </p:txBody>
      </p:sp>
      <p:sp>
        <p:nvSpPr>
          <p:cNvPr id="144" name="Google Shape;144;p3"/>
          <p:cNvSpPr txBox="1"/>
          <p:nvPr/>
        </p:nvSpPr>
        <p:spPr>
          <a:xfrm>
            <a:off x="502920" y="658368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Avance del sprint</a:t>
            </a:r>
            <a:endParaRPr/>
          </a:p>
        </p:txBody>
      </p:sp>
      <p:sp>
        <p:nvSpPr>
          <p:cNvPr id="145" name="Google Shape;145;p3"/>
          <p:cNvSpPr txBox="1"/>
          <p:nvPr/>
        </p:nvSpPr>
        <p:spPr>
          <a:xfrm>
            <a:off x="502920" y="1170432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Vista de Jira al 11/09/2026: 3 tareas en curso y ninguna tarea reportada como finalizada, por hacer o atrasada.</a:t>
            </a: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502920" y="1645920"/>
            <a:ext cx="594360" cy="41148"/>
          </a:xfrm>
          <a:prstGeom prst="rect">
            <a:avLst/>
          </a:prstGeom>
          <a:solidFill>
            <a:srgbClr val="1E6E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1124712" y="1645920"/>
            <a:ext cx="201168" cy="41148"/>
          </a:xfrm>
          <a:prstGeom prst="rect">
            <a:avLst/>
          </a:prstGeom>
          <a:solidFill>
            <a:srgbClr val="A6E5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OmniDock · Seguimiento semanal · 11 sep 2026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11018520" y="6492240"/>
            <a:ext cx="685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50" name="Google Shape;150;p3"/>
          <p:cNvSpPr/>
          <p:nvPr/>
        </p:nvSpPr>
        <p:spPr>
          <a:xfrm>
            <a:off x="502920" y="1874519"/>
            <a:ext cx="2633472" cy="1115568"/>
          </a:xfrm>
          <a:prstGeom prst="roundRect">
            <a:avLst>
              <a:gd fmla="val 16667" name="adj"/>
            </a:avLst>
          </a:prstGeom>
          <a:solidFill>
            <a:srgbClr val="313D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502920" y="1874519"/>
            <a:ext cx="64008" cy="1115568"/>
          </a:xfrm>
          <a:prstGeom prst="roundRect">
            <a:avLst>
              <a:gd fmla="val 16667" name="adj"/>
            </a:avLst>
          </a:prstGeom>
          <a:solidFill>
            <a:srgbClr val="4FBF8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 txBox="1"/>
          <p:nvPr/>
        </p:nvSpPr>
        <p:spPr>
          <a:xfrm>
            <a:off x="704088" y="2039112"/>
            <a:ext cx="2359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53" name="Google Shape;153;p3"/>
          <p:cNvSpPr txBox="1"/>
          <p:nvPr/>
        </p:nvSpPr>
        <p:spPr>
          <a:xfrm>
            <a:off x="704088" y="2532887"/>
            <a:ext cx="23591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Finalizadas</a:t>
            </a:r>
            <a:endParaRPr/>
          </a:p>
        </p:txBody>
      </p:sp>
      <p:sp>
        <p:nvSpPr>
          <p:cNvPr id="154" name="Google Shape;154;p3"/>
          <p:cNvSpPr/>
          <p:nvPr/>
        </p:nvSpPr>
        <p:spPr>
          <a:xfrm>
            <a:off x="3246120" y="1874519"/>
            <a:ext cx="2633472" cy="1115568"/>
          </a:xfrm>
          <a:prstGeom prst="roundRect">
            <a:avLst>
              <a:gd fmla="val 16667" name="adj"/>
            </a:avLst>
          </a:prstGeom>
          <a:solidFill>
            <a:srgbClr val="313D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3246120" y="1874519"/>
            <a:ext cx="64008" cy="1115568"/>
          </a:xfrm>
          <a:prstGeom prst="roundRect">
            <a:avLst>
              <a:gd fmla="val 16667" name="adj"/>
            </a:avLst>
          </a:prstGeom>
          <a:solidFill>
            <a:srgbClr val="1E6E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3447288" y="2039112"/>
            <a:ext cx="2359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57" name="Google Shape;157;p3"/>
          <p:cNvSpPr txBox="1"/>
          <p:nvPr/>
        </p:nvSpPr>
        <p:spPr>
          <a:xfrm>
            <a:off x="3447288" y="2532887"/>
            <a:ext cx="23591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Por hacer</a:t>
            </a:r>
            <a:endParaRPr/>
          </a:p>
        </p:txBody>
      </p:sp>
      <p:sp>
        <p:nvSpPr>
          <p:cNvPr id="158" name="Google Shape;158;p3"/>
          <p:cNvSpPr/>
          <p:nvPr/>
        </p:nvSpPr>
        <p:spPr>
          <a:xfrm>
            <a:off x="5989320" y="1874519"/>
            <a:ext cx="2633472" cy="1115568"/>
          </a:xfrm>
          <a:prstGeom prst="roundRect">
            <a:avLst>
              <a:gd fmla="val 16667" name="adj"/>
            </a:avLst>
          </a:prstGeom>
          <a:solidFill>
            <a:srgbClr val="313D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5989320" y="1874519"/>
            <a:ext cx="64008" cy="1115568"/>
          </a:xfrm>
          <a:prstGeom prst="roundRect">
            <a:avLst>
              <a:gd fmla="val 16667" name="adj"/>
            </a:avLst>
          </a:prstGeom>
          <a:solidFill>
            <a:srgbClr val="12B5E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 txBox="1"/>
          <p:nvPr/>
        </p:nvSpPr>
        <p:spPr>
          <a:xfrm>
            <a:off x="6190488" y="2039112"/>
            <a:ext cx="2359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61" name="Google Shape;161;p3"/>
          <p:cNvSpPr txBox="1"/>
          <p:nvPr/>
        </p:nvSpPr>
        <p:spPr>
          <a:xfrm>
            <a:off x="6190488" y="2532887"/>
            <a:ext cx="23591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En curso</a:t>
            </a:r>
            <a:endParaRPr/>
          </a:p>
        </p:txBody>
      </p:sp>
      <p:sp>
        <p:nvSpPr>
          <p:cNvPr id="162" name="Google Shape;162;p3"/>
          <p:cNvSpPr/>
          <p:nvPr/>
        </p:nvSpPr>
        <p:spPr>
          <a:xfrm>
            <a:off x="8732520" y="1874519"/>
            <a:ext cx="2633472" cy="1115568"/>
          </a:xfrm>
          <a:prstGeom prst="roundRect">
            <a:avLst>
              <a:gd fmla="val 16667" name="adj"/>
            </a:avLst>
          </a:prstGeom>
          <a:solidFill>
            <a:srgbClr val="313D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/>
          <p:nvPr/>
        </p:nvSpPr>
        <p:spPr>
          <a:xfrm>
            <a:off x="8732520" y="1874519"/>
            <a:ext cx="64008" cy="1115568"/>
          </a:xfrm>
          <a:prstGeom prst="roundRect">
            <a:avLst>
              <a:gd fmla="val 16667" name="adj"/>
            </a:avLst>
          </a:prstGeom>
          <a:solidFill>
            <a:srgbClr val="EA54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 txBox="1"/>
          <p:nvPr/>
        </p:nvSpPr>
        <p:spPr>
          <a:xfrm>
            <a:off x="8933688" y="2039112"/>
            <a:ext cx="2359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65" name="Google Shape;165;p3"/>
          <p:cNvSpPr txBox="1"/>
          <p:nvPr/>
        </p:nvSpPr>
        <p:spPr>
          <a:xfrm>
            <a:off x="8933688" y="2532887"/>
            <a:ext cx="23591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Atrasadas</a:t>
            </a:r>
            <a:endParaRPr/>
          </a:p>
        </p:txBody>
      </p:sp>
      <p:sp>
        <p:nvSpPr>
          <p:cNvPr id="166" name="Google Shape;166;p3"/>
          <p:cNvSpPr/>
          <p:nvPr/>
        </p:nvSpPr>
        <p:spPr>
          <a:xfrm>
            <a:off x="502920" y="3182112"/>
            <a:ext cx="6903720" cy="2907792"/>
          </a:xfrm>
          <a:prstGeom prst="roundRect">
            <a:avLst>
              <a:gd fmla="val 16667" name="adj"/>
            </a:avLst>
          </a:prstGeom>
          <a:solidFill>
            <a:srgbClr val="313D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"/>
          <p:cNvSpPr txBox="1"/>
          <p:nvPr/>
        </p:nvSpPr>
        <p:spPr>
          <a:xfrm>
            <a:off x="777240" y="3429000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2B5E0"/>
                </a:solidFill>
                <a:latin typeface="Arial"/>
                <a:ea typeface="Arial"/>
                <a:cs typeface="Arial"/>
                <a:sym typeface="Arial"/>
              </a:rPr>
              <a:t>TAREAS ACTIVAS DEL SPRINT</a:t>
            </a:r>
            <a:endParaRPr/>
          </a:p>
        </p:txBody>
      </p:sp>
      <p:sp>
        <p:nvSpPr>
          <p:cNvPr id="168" name="Google Shape;168;p3"/>
          <p:cNvSpPr/>
          <p:nvPr/>
        </p:nvSpPr>
        <p:spPr>
          <a:xfrm>
            <a:off x="777240" y="3822191"/>
            <a:ext cx="6355080" cy="594360"/>
          </a:xfrm>
          <a:prstGeom prst="roundRect">
            <a:avLst>
              <a:gd fmla="val 16667" name="adj"/>
            </a:avLst>
          </a:prstGeom>
          <a:solidFill>
            <a:srgbClr val="2B374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777240" y="3822191"/>
            <a:ext cx="45720" cy="594360"/>
          </a:xfrm>
          <a:prstGeom prst="rect">
            <a:avLst/>
          </a:prstGeom>
          <a:solidFill>
            <a:srgbClr val="A6E5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"/>
          <p:cNvSpPr txBox="1"/>
          <p:nvPr/>
        </p:nvSpPr>
        <p:spPr>
          <a:xfrm>
            <a:off x="960120" y="3913631"/>
            <a:ext cx="3886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Levantamiento de Requerimientos (ERS)</a:t>
            </a:r>
            <a:endParaRPr/>
          </a:p>
        </p:txBody>
      </p:sp>
      <p:sp>
        <p:nvSpPr>
          <p:cNvPr id="171" name="Google Shape;171;p3"/>
          <p:cNvSpPr txBox="1"/>
          <p:nvPr/>
        </p:nvSpPr>
        <p:spPr>
          <a:xfrm>
            <a:off x="960120" y="4142231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2B5E0"/>
                </a:solidFill>
                <a:latin typeface="Arial"/>
                <a:ea typeface="Arial"/>
                <a:cs typeface="Arial"/>
                <a:sym typeface="Arial"/>
              </a:rPr>
              <a:t>KAN-9</a:t>
            </a:r>
            <a:endParaRPr/>
          </a:p>
        </p:txBody>
      </p:sp>
      <p:sp>
        <p:nvSpPr>
          <p:cNvPr id="172" name="Google Shape;172;p3"/>
          <p:cNvSpPr txBox="1"/>
          <p:nvPr/>
        </p:nvSpPr>
        <p:spPr>
          <a:xfrm>
            <a:off x="1874519" y="4142231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Vence · 20 sept 2026</a:t>
            </a:r>
            <a:endParaRPr/>
          </a:p>
        </p:txBody>
      </p:sp>
      <p:sp>
        <p:nvSpPr>
          <p:cNvPr id="173" name="Google Shape;173;p3"/>
          <p:cNvSpPr/>
          <p:nvPr/>
        </p:nvSpPr>
        <p:spPr>
          <a:xfrm>
            <a:off x="777240" y="4535424"/>
            <a:ext cx="6355080" cy="594360"/>
          </a:xfrm>
          <a:prstGeom prst="roundRect">
            <a:avLst>
              <a:gd fmla="val 16667" name="adj"/>
            </a:avLst>
          </a:prstGeom>
          <a:solidFill>
            <a:srgbClr val="2B374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"/>
          <p:cNvSpPr/>
          <p:nvPr/>
        </p:nvSpPr>
        <p:spPr>
          <a:xfrm>
            <a:off x="777240" y="4535424"/>
            <a:ext cx="45720" cy="594360"/>
          </a:xfrm>
          <a:prstGeom prst="rect">
            <a:avLst/>
          </a:prstGeom>
          <a:solidFill>
            <a:srgbClr val="A6E5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"/>
          <p:cNvSpPr txBox="1"/>
          <p:nvPr/>
        </p:nvSpPr>
        <p:spPr>
          <a:xfrm>
            <a:off x="960120" y="4626864"/>
            <a:ext cx="3886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Diseño de BD Oracle</a:t>
            </a:r>
            <a:endParaRPr/>
          </a:p>
        </p:txBody>
      </p:sp>
      <p:sp>
        <p:nvSpPr>
          <p:cNvPr id="176" name="Google Shape;176;p3"/>
          <p:cNvSpPr txBox="1"/>
          <p:nvPr/>
        </p:nvSpPr>
        <p:spPr>
          <a:xfrm>
            <a:off x="960120" y="4855464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2B5E0"/>
                </a:solidFill>
                <a:latin typeface="Arial"/>
                <a:ea typeface="Arial"/>
                <a:cs typeface="Arial"/>
                <a:sym typeface="Arial"/>
              </a:rPr>
              <a:t>KAN-7</a:t>
            </a:r>
            <a:endParaRPr/>
          </a:p>
        </p:txBody>
      </p:sp>
      <p:sp>
        <p:nvSpPr>
          <p:cNvPr id="177" name="Google Shape;177;p3"/>
          <p:cNvSpPr txBox="1"/>
          <p:nvPr/>
        </p:nvSpPr>
        <p:spPr>
          <a:xfrm>
            <a:off x="1874519" y="4855464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Vence · 20 sept 2026</a:t>
            </a:r>
            <a:endParaRPr/>
          </a:p>
        </p:txBody>
      </p:sp>
      <p:sp>
        <p:nvSpPr>
          <p:cNvPr id="178" name="Google Shape;178;p3"/>
          <p:cNvSpPr/>
          <p:nvPr/>
        </p:nvSpPr>
        <p:spPr>
          <a:xfrm>
            <a:off x="777240" y="5248656"/>
            <a:ext cx="6355080" cy="594360"/>
          </a:xfrm>
          <a:prstGeom prst="roundRect">
            <a:avLst>
              <a:gd fmla="val 16667" name="adj"/>
            </a:avLst>
          </a:prstGeom>
          <a:solidFill>
            <a:srgbClr val="2B374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"/>
          <p:cNvSpPr/>
          <p:nvPr/>
        </p:nvSpPr>
        <p:spPr>
          <a:xfrm>
            <a:off x="777240" y="5248656"/>
            <a:ext cx="45720" cy="594360"/>
          </a:xfrm>
          <a:prstGeom prst="rect">
            <a:avLst/>
          </a:prstGeom>
          <a:solidFill>
            <a:srgbClr val="A6E5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"/>
          <p:cNvSpPr txBox="1"/>
          <p:nvPr/>
        </p:nvSpPr>
        <p:spPr>
          <a:xfrm>
            <a:off x="960120" y="5340096"/>
            <a:ext cx="3886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Definición contratos API</a:t>
            </a:r>
            <a:endParaRPr/>
          </a:p>
        </p:txBody>
      </p:sp>
      <p:sp>
        <p:nvSpPr>
          <p:cNvPr id="181" name="Google Shape;181;p3"/>
          <p:cNvSpPr txBox="1"/>
          <p:nvPr/>
        </p:nvSpPr>
        <p:spPr>
          <a:xfrm>
            <a:off x="960120" y="5568696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2B5E0"/>
                </a:solidFill>
                <a:latin typeface="Arial"/>
                <a:ea typeface="Arial"/>
                <a:cs typeface="Arial"/>
                <a:sym typeface="Arial"/>
              </a:rPr>
              <a:t>KAN-8</a:t>
            </a:r>
            <a:endParaRPr/>
          </a:p>
        </p:txBody>
      </p:sp>
      <p:sp>
        <p:nvSpPr>
          <p:cNvPr id="182" name="Google Shape;182;p3"/>
          <p:cNvSpPr txBox="1"/>
          <p:nvPr/>
        </p:nvSpPr>
        <p:spPr>
          <a:xfrm>
            <a:off x="1874519" y="5568696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Vence · 20 sept 2026</a:t>
            </a:r>
            <a:endParaRPr/>
          </a:p>
        </p:txBody>
      </p:sp>
      <p:sp>
        <p:nvSpPr>
          <p:cNvPr id="183" name="Google Shape;183;p3"/>
          <p:cNvSpPr/>
          <p:nvPr/>
        </p:nvSpPr>
        <p:spPr>
          <a:xfrm>
            <a:off x="7635240" y="3182112"/>
            <a:ext cx="4041648" cy="2907792"/>
          </a:xfrm>
          <a:prstGeom prst="roundRect">
            <a:avLst>
              <a:gd fmla="val 16667" name="adj"/>
            </a:avLst>
          </a:prstGeom>
          <a:solidFill>
            <a:srgbClr val="1D283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3"/>
          <p:cNvSpPr txBox="1"/>
          <p:nvPr/>
        </p:nvSpPr>
        <p:spPr>
          <a:xfrm>
            <a:off x="7909560" y="3419856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2B5E0"/>
                </a:solidFill>
                <a:latin typeface="Arial"/>
                <a:ea typeface="Arial"/>
                <a:cs typeface="Arial"/>
                <a:sym typeface="Arial"/>
              </a:rPr>
              <a:t>EVIDENCIA JIRA</a:t>
            </a:r>
            <a:endParaRPr/>
          </a:p>
        </p:txBody>
      </p:sp>
      <p:pic>
        <p:nvPicPr>
          <p:cNvPr descr="f4d3ba58-678c-43e6-91f1-ceb4c142ffcb.png" id="185" name="Google Shape;18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2127" y="3767328"/>
            <a:ext cx="3529584" cy="153619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"/>
          <p:cNvSpPr txBox="1"/>
          <p:nvPr/>
        </p:nvSpPr>
        <p:spPr>
          <a:xfrm>
            <a:off x="7909560" y="5431536"/>
            <a:ext cx="34290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Tablero: Idea · Por hacer · En curso · En revisión · Atrasadas · Finalizado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73344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"/>
          <p:cNvSpPr txBox="1"/>
          <p:nvPr/>
        </p:nvSpPr>
        <p:spPr>
          <a:xfrm>
            <a:off x="502920" y="32004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2B5E0"/>
                </a:solidFill>
                <a:latin typeface="Arial"/>
                <a:ea typeface="Arial"/>
                <a:cs typeface="Arial"/>
                <a:sym typeface="Arial"/>
              </a:rPr>
              <a:t>03 · RIESGOS</a:t>
            </a:r>
            <a:endParaRPr/>
          </a:p>
        </p:txBody>
      </p:sp>
      <p:sp>
        <p:nvSpPr>
          <p:cNvPr id="192" name="Google Shape;192;p4"/>
          <p:cNvSpPr txBox="1"/>
          <p:nvPr/>
        </p:nvSpPr>
        <p:spPr>
          <a:xfrm>
            <a:off x="502920" y="621792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Riesgos del proyecto OmniDock</a:t>
            </a:r>
            <a:endParaRPr/>
          </a:p>
        </p:txBody>
      </p:sp>
      <p:sp>
        <p:nvSpPr>
          <p:cNvPr id="193" name="Google Shape;193;p4"/>
          <p:cNvSpPr txBox="1"/>
          <p:nvPr/>
        </p:nvSpPr>
        <p:spPr>
          <a:xfrm>
            <a:off x="502920" y="1133856"/>
            <a:ext cx="10698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Registro de riesgos, mitigaciones y matriz probabilidad × impacto</a:t>
            </a:r>
            <a:endParaRPr/>
          </a:p>
        </p:txBody>
      </p:sp>
      <p:sp>
        <p:nvSpPr>
          <p:cNvPr id="194" name="Google Shape;194;p4"/>
          <p:cNvSpPr/>
          <p:nvPr/>
        </p:nvSpPr>
        <p:spPr>
          <a:xfrm>
            <a:off x="502920" y="1609344"/>
            <a:ext cx="594360" cy="41148"/>
          </a:xfrm>
          <a:prstGeom prst="rect">
            <a:avLst/>
          </a:prstGeom>
          <a:solidFill>
            <a:srgbClr val="1E6E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1124712" y="1609344"/>
            <a:ext cx="201168" cy="41148"/>
          </a:xfrm>
          <a:prstGeom prst="rect">
            <a:avLst/>
          </a:prstGeom>
          <a:solidFill>
            <a:srgbClr val="A6E5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"/>
          <p:cNvSpPr/>
          <p:nvPr/>
        </p:nvSpPr>
        <p:spPr>
          <a:xfrm>
            <a:off x="502920" y="1874519"/>
            <a:ext cx="11173968" cy="4315968"/>
          </a:xfrm>
          <a:prstGeom prst="roundRect">
            <a:avLst>
              <a:gd fmla="val 16667" name="adj"/>
            </a:avLst>
          </a:prstGeom>
          <a:solidFill>
            <a:srgbClr val="313D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"/>
          <p:cNvSpPr txBox="1"/>
          <p:nvPr/>
        </p:nvSpPr>
        <p:spPr>
          <a:xfrm>
            <a:off x="713232" y="2075688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2B5E0"/>
                </a:solidFill>
                <a:latin typeface="Arial"/>
                <a:ea typeface="Arial"/>
                <a:cs typeface="Arial"/>
                <a:sym typeface="Arial"/>
              </a:rPr>
              <a:t>REGISTRO Y PLAN DE MITIGACIÓN</a:t>
            </a:r>
            <a:endParaRPr/>
          </a:p>
        </p:txBody>
      </p:sp>
      <p:graphicFrame>
        <p:nvGraphicFramePr>
          <p:cNvPr id="198" name="Google Shape;198;p4"/>
          <p:cNvGraphicFramePr/>
          <p:nvPr/>
        </p:nvGraphicFramePr>
        <p:xfrm>
          <a:off x="617601" y="24414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{C24D409C-238C-4764-B758-1149AE20A97F}</a:tableStyleId>
              </a:tblPr>
              <a:tblGrid>
                <a:gridCol w="411475"/>
                <a:gridCol w="697750"/>
                <a:gridCol w="717550"/>
                <a:gridCol w="723900"/>
                <a:gridCol w="1930400"/>
                <a:gridCol w="1866900"/>
                <a:gridCol w="1022350"/>
                <a:gridCol w="895350"/>
                <a:gridCol w="876300"/>
              </a:tblGrid>
              <a:tr h="630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4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4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Frente de</a:t>
                      </a:r>
                      <a:br>
                        <a:rPr b="1" lang="en-US" sz="74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lang="en-US" sz="74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trabajo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4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Impacto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4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Prob.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4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Descripción del riesgo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4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Plan de mitigación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4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Responsable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4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Fecha</a:t>
                      </a:r>
                      <a:br>
                        <a:rPr b="1" lang="en-US" sz="74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lang="en-US" sz="74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revisión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4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Estado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1D2839"/>
                    </a:solidFill>
                  </a:tcPr>
                </a:tc>
              </a:tr>
              <a:tr h="630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Análisis /</a:t>
                      </a:r>
                      <a:br>
                        <a:rPr b="0" lang="en-US" sz="70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lang="en-US" sz="70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Requisitos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B7C2C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Media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Cambios o aclaraciones en requisitos pueden aumentar el alcance del Sprint 1.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Validar ERS al cierre del sprint y congelar cambios críticos de BD/API.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Carlos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18-09-</a:t>
                      </a:r>
                      <a:br>
                        <a:rPr b="0" lang="en-US" sz="70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lang="en-US" sz="70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2026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20" u="none" cap="none" strike="noStrike">
                          <a:solidFill>
                            <a:srgbClr val="2733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Abierto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EA5454"/>
                    </a:solidFill>
                  </a:tcPr>
                </a:tc>
              </a:tr>
              <a:tr h="630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Integraciones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B7C2C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Alta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Desalineación entre contratos API y futuras integraciones puede generar retrabajo.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Versionar contratos, payloads y criterios de prueba antes de integrar.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Felipe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18-09-</a:t>
                      </a:r>
                      <a:br>
                        <a:rPr b="0" lang="en-US" sz="70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lang="en-US" sz="70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2026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20" u="none" cap="none" strike="noStrike">
                          <a:solidFill>
                            <a:srgbClr val="2733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Abierto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EA5454"/>
                    </a:solidFill>
                  </a:tcPr>
                </a:tc>
              </a:tr>
              <a:tr h="630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Desarrollo /</a:t>
                      </a:r>
                      <a:br>
                        <a:rPr b="0" lang="en-US" sz="70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lang="en-US" sz="70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Datos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B7C2C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Media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Problemas de concurrencia o consistencia podrían afectar la asignación de espacios.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Pruebas transaccionales y de concurrencia sobre Oracle antes de avanzar.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Crisler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18-09-</a:t>
                      </a:r>
                      <a:br>
                        <a:rPr b="0" lang="en-US" sz="70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lang="en-US" sz="70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2026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20" u="none" cap="none" strike="noStrike">
                          <a:solidFill>
                            <a:srgbClr val="2733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Abierto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EA5454"/>
                    </a:solidFill>
                  </a:tcPr>
                </a:tc>
              </a:tr>
              <a:tr h="630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Infraestructura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Medio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B7C2C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Baja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Dependencia de disponibilidad del entorno cloud académico para pruebas.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Mantener configuración local de respaldo y checklist de recuperación.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Equipo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18-09-</a:t>
                      </a:r>
                      <a:br>
                        <a:rPr b="0" lang="en-US" sz="70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lang="en-US" sz="70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2026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20" u="none" cap="none" strike="noStrike">
                          <a:solidFill>
                            <a:srgbClr val="2733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Abierto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4FBF80"/>
                    </a:solidFill>
                  </a:tcPr>
                </a:tc>
              </a:tr>
            </a:tbl>
          </a:graphicData>
        </a:graphic>
      </p:graphicFrame>
      <p:sp>
        <p:nvSpPr>
          <p:cNvPr id="199" name="Google Shape;199;p4"/>
          <p:cNvSpPr txBox="1"/>
          <p:nvPr/>
        </p:nvSpPr>
        <p:spPr>
          <a:xfrm>
            <a:off x="713232" y="5715000"/>
            <a:ext cx="6126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60" u="none" cap="none" strike="noStrik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Severidad: Bajo = monitorear · Medio = seguimiento activo · Grave = acción prioritaria</a:t>
            </a:r>
            <a:endParaRPr/>
          </a:p>
        </p:txBody>
      </p:sp>
      <p:graphicFrame>
        <p:nvGraphicFramePr>
          <p:cNvPr id="200" name="Google Shape;200;p4"/>
          <p:cNvGraphicFramePr/>
          <p:nvPr/>
        </p:nvGraphicFramePr>
        <p:xfrm>
          <a:off x="9791319" y="24414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{C24D409C-238C-4764-B758-1149AE20A97F}</a:tableStyleId>
              </a:tblPr>
              <a:tblGrid>
                <a:gridCol w="462925"/>
                <a:gridCol w="448675"/>
                <a:gridCol w="448675"/>
                <a:gridCol w="448675"/>
              </a:tblGrid>
              <a:tr h="324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Impacto / Prob.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Baja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Media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Alta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1D2839"/>
                    </a:solidFill>
                  </a:tcPr>
                </a:tc>
              </a:tr>
              <a:tr h="236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733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Medio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F5B3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733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Grave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EA54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733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Grave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EA5454"/>
                    </a:solidFill>
                  </a:tcPr>
                </a:tc>
              </a:tr>
              <a:tr h="236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Medio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733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Bajo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4FBF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733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Medio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F5B3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733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Grave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EA5454"/>
                    </a:solidFill>
                  </a:tcPr>
                </a:tc>
              </a:tr>
              <a:tr h="236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Bajo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733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Bajo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4FBF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733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Bajo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4FBF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733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Medio</a:t>
                      </a:r>
                      <a:endParaRPr/>
                    </a:p>
                  </a:txBody>
                  <a:tcPr marT="18300" marB="18300" marR="32000" marL="32000" anchor="ctr">
                    <a:solidFill>
                      <a:srgbClr val="F5B342"/>
                    </a:solidFill>
                  </a:tcPr>
                </a:tc>
              </a:tr>
            </a:tbl>
          </a:graphicData>
        </a:graphic>
      </p:graphicFrame>
      <p:sp>
        <p:nvSpPr>
          <p:cNvPr id="201" name="Google Shape;201;p4"/>
          <p:cNvSpPr txBox="1"/>
          <p:nvPr/>
        </p:nvSpPr>
        <p:spPr>
          <a:xfrm>
            <a:off x="10031175" y="3522669"/>
            <a:ext cx="1414746" cy="255455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10" u="none" cap="none" strike="noStrik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Revisar probabilidad e impacto en </a:t>
            </a:r>
            <a:endParaRPr b="0" i="0" sz="710" u="none" cap="none" strike="noStrike">
              <a:solidFill>
                <a:srgbClr val="B7C2C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10" u="none" cap="none" strike="noStrik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cada comité semanal.</a:t>
            </a:r>
            <a:endParaRPr/>
          </a:p>
        </p:txBody>
      </p:sp>
      <p:sp>
        <p:nvSpPr>
          <p:cNvPr id="202" name="Google Shape;202;p4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OmniDock · Seguimiento semanal · 11 sep 2026</a:t>
            </a:r>
            <a:endParaRPr/>
          </a:p>
        </p:txBody>
      </p:sp>
      <p:sp>
        <p:nvSpPr>
          <p:cNvPr id="203" name="Google Shape;203;p4"/>
          <p:cNvSpPr txBox="1"/>
          <p:nvPr/>
        </p:nvSpPr>
        <p:spPr>
          <a:xfrm>
            <a:off x="11018520" y="6492240"/>
            <a:ext cx="685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73344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"/>
          <p:cNvSpPr txBox="1"/>
          <p:nvPr/>
        </p:nvSpPr>
        <p:spPr>
          <a:xfrm>
            <a:off x="502920" y="32004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2B5E0"/>
                </a:solidFill>
                <a:latin typeface="Arial"/>
                <a:ea typeface="Arial"/>
                <a:cs typeface="Arial"/>
                <a:sym typeface="Arial"/>
              </a:rPr>
              <a:t>04 · PRÓXIMA REVISIÓN</a:t>
            </a:r>
            <a:endParaRPr/>
          </a:p>
        </p:txBody>
      </p:sp>
      <p:sp>
        <p:nvSpPr>
          <p:cNvPr id="209" name="Google Shape;209;p5"/>
          <p:cNvSpPr txBox="1"/>
          <p:nvPr/>
        </p:nvSpPr>
        <p:spPr>
          <a:xfrm>
            <a:off x="502920" y="658368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Compromisos para la próxima semana</a:t>
            </a:r>
            <a:endParaRPr/>
          </a:p>
        </p:txBody>
      </p:sp>
      <p:sp>
        <p:nvSpPr>
          <p:cNvPr id="210" name="Google Shape;210;p5"/>
          <p:cNvSpPr txBox="1"/>
          <p:nvPr/>
        </p:nvSpPr>
        <p:spPr>
          <a:xfrm>
            <a:off x="502920" y="1170432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La prioridad es transformar el trabajo en curso en entregables verificables y dejar listo el paso al siguiente sprint.</a:t>
            </a:r>
            <a:endParaRPr/>
          </a:p>
        </p:txBody>
      </p:sp>
      <p:sp>
        <p:nvSpPr>
          <p:cNvPr id="211" name="Google Shape;211;p5"/>
          <p:cNvSpPr/>
          <p:nvPr/>
        </p:nvSpPr>
        <p:spPr>
          <a:xfrm>
            <a:off x="502920" y="1645920"/>
            <a:ext cx="594360" cy="41148"/>
          </a:xfrm>
          <a:prstGeom prst="rect">
            <a:avLst/>
          </a:prstGeom>
          <a:solidFill>
            <a:srgbClr val="1E6E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1124712" y="1645920"/>
            <a:ext cx="201168" cy="41148"/>
          </a:xfrm>
          <a:prstGeom prst="rect">
            <a:avLst/>
          </a:prstGeom>
          <a:solidFill>
            <a:srgbClr val="A6E5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OmniDock · Seguimiento semanal · 11 sep 2026</a:t>
            </a:r>
            <a:endParaRPr/>
          </a:p>
        </p:txBody>
      </p:sp>
      <p:sp>
        <p:nvSpPr>
          <p:cNvPr id="214" name="Google Shape;214;p5"/>
          <p:cNvSpPr txBox="1"/>
          <p:nvPr/>
        </p:nvSpPr>
        <p:spPr>
          <a:xfrm>
            <a:off x="11018520" y="6492240"/>
            <a:ext cx="685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215" name="Google Shape;215;p5"/>
          <p:cNvSpPr/>
          <p:nvPr/>
        </p:nvSpPr>
        <p:spPr>
          <a:xfrm>
            <a:off x="658368" y="1965960"/>
            <a:ext cx="10881360" cy="859536"/>
          </a:xfrm>
          <a:prstGeom prst="roundRect">
            <a:avLst>
              <a:gd fmla="val 16667" name="adj"/>
            </a:avLst>
          </a:prstGeom>
          <a:solidFill>
            <a:srgbClr val="313D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896112" y="2139696"/>
            <a:ext cx="475488" cy="475488"/>
          </a:xfrm>
          <a:prstGeom prst="ellipse">
            <a:avLst/>
          </a:prstGeom>
          <a:solidFill>
            <a:srgbClr val="1E6E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 txBox="1"/>
          <p:nvPr/>
        </p:nvSpPr>
        <p:spPr>
          <a:xfrm>
            <a:off x="896112" y="2240279"/>
            <a:ext cx="4754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7334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218" name="Google Shape;218;p5"/>
          <p:cNvSpPr txBox="1"/>
          <p:nvPr/>
        </p:nvSpPr>
        <p:spPr>
          <a:xfrm>
            <a:off x="1554480" y="211226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Cerrar los entregables del Sprint 1</a:t>
            </a:r>
            <a:endParaRPr/>
          </a:p>
        </p:txBody>
      </p:sp>
      <p:sp>
        <p:nvSpPr>
          <p:cNvPr id="219" name="Google Shape;219;p5"/>
          <p:cNvSpPr txBox="1"/>
          <p:nvPr/>
        </p:nvSpPr>
        <p:spPr>
          <a:xfrm>
            <a:off x="1554480" y="2404872"/>
            <a:ext cx="9098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Completar ERS, modelo relacional Oracle y definición de contratos API.</a:t>
            </a:r>
            <a:endParaRPr/>
          </a:p>
        </p:txBody>
      </p:sp>
      <p:sp>
        <p:nvSpPr>
          <p:cNvPr id="220" name="Google Shape;220;p5"/>
          <p:cNvSpPr/>
          <p:nvPr/>
        </p:nvSpPr>
        <p:spPr>
          <a:xfrm>
            <a:off x="658368" y="2926080"/>
            <a:ext cx="10881360" cy="859536"/>
          </a:xfrm>
          <a:prstGeom prst="roundRect">
            <a:avLst>
              <a:gd fmla="val 16667" name="adj"/>
            </a:avLst>
          </a:prstGeom>
          <a:solidFill>
            <a:srgbClr val="313D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896112" y="3099816"/>
            <a:ext cx="475488" cy="475488"/>
          </a:xfrm>
          <a:prstGeom prst="ellipse">
            <a:avLst/>
          </a:prstGeom>
          <a:solidFill>
            <a:srgbClr val="1E6E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 txBox="1"/>
          <p:nvPr/>
        </p:nvSpPr>
        <p:spPr>
          <a:xfrm>
            <a:off x="896112" y="3200400"/>
            <a:ext cx="4754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7334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223" name="Google Shape;223;p5"/>
          <p:cNvSpPr txBox="1"/>
          <p:nvPr/>
        </p:nvSpPr>
        <p:spPr>
          <a:xfrm>
            <a:off x="1554480" y="307238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Validar criterios de aceptación</a:t>
            </a:r>
            <a:endParaRPr/>
          </a:p>
        </p:txBody>
      </p:sp>
      <p:sp>
        <p:nvSpPr>
          <p:cNvPr id="224" name="Google Shape;224;p5"/>
          <p:cNvSpPr txBox="1"/>
          <p:nvPr/>
        </p:nvSpPr>
        <p:spPr>
          <a:xfrm>
            <a:off x="1554480" y="3364992"/>
            <a:ext cx="9098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Dejar trazabilidad en Jira y evidencia de revisión técnica para cada entregable.</a:t>
            </a:r>
            <a:endParaRPr/>
          </a:p>
        </p:txBody>
      </p:sp>
      <p:sp>
        <p:nvSpPr>
          <p:cNvPr id="225" name="Google Shape;225;p5"/>
          <p:cNvSpPr/>
          <p:nvPr/>
        </p:nvSpPr>
        <p:spPr>
          <a:xfrm>
            <a:off x="658368" y="3886200"/>
            <a:ext cx="10881360" cy="859536"/>
          </a:xfrm>
          <a:prstGeom prst="roundRect">
            <a:avLst>
              <a:gd fmla="val 16667" name="adj"/>
            </a:avLst>
          </a:prstGeom>
          <a:solidFill>
            <a:srgbClr val="313D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896112" y="4059936"/>
            <a:ext cx="475488" cy="475488"/>
          </a:xfrm>
          <a:prstGeom prst="ellipse">
            <a:avLst/>
          </a:prstGeom>
          <a:solidFill>
            <a:srgbClr val="A6E5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 txBox="1"/>
          <p:nvPr/>
        </p:nvSpPr>
        <p:spPr>
          <a:xfrm>
            <a:off x="896112" y="4160520"/>
            <a:ext cx="4754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7334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28" name="Google Shape;228;p5"/>
          <p:cNvSpPr txBox="1"/>
          <p:nvPr/>
        </p:nvSpPr>
        <p:spPr>
          <a:xfrm>
            <a:off x="1554480" y="403250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Preparar Sprint 2</a:t>
            </a:r>
            <a:endParaRPr/>
          </a:p>
        </p:txBody>
      </p:sp>
      <p:sp>
        <p:nvSpPr>
          <p:cNvPr id="229" name="Google Shape;229;p5"/>
          <p:cNvSpPr txBox="1"/>
          <p:nvPr/>
        </p:nvSpPr>
        <p:spPr>
          <a:xfrm>
            <a:off x="1554480" y="4325112"/>
            <a:ext cx="9098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Refinar backlog y dejar priorizado el desarrollo del core backend + seguridad.</a:t>
            </a:r>
            <a:endParaRPr/>
          </a:p>
        </p:txBody>
      </p:sp>
      <p:sp>
        <p:nvSpPr>
          <p:cNvPr id="230" name="Google Shape;230;p5"/>
          <p:cNvSpPr/>
          <p:nvPr/>
        </p:nvSpPr>
        <p:spPr>
          <a:xfrm>
            <a:off x="658368" y="4846320"/>
            <a:ext cx="10881360" cy="859536"/>
          </a:xfrm>
          <a:prstGeom prst="roundRect">
            <a:avLst>
              <a:gd fmla="val 16667" name="adj"/>
            </a:avLst>
          </a:prstGeom>
          <a:solidFill>
            <a:srgbClr val="313D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896112" y="5020056"/>
            <a:ext cx="475488" cy="475488"/>
          </a:xfrm>
          <a:prstGeom prst="ellipse">
            <a:avLst/>
          </a:prstGeom>
          <a:solidFill>
            <a:srgbClr val="A6E5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5"/>
          <p:cNvSpPr txBox="1"/>
          <p:nvPr/>
        </p:nvSpPr>
        <p:spPr>
          <a:xfrm>
            <a:off x="896112" y="5120640"/>
            <a:ext cx="4754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7334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33" name="Google Shape;233;p5"/>
          <p:cNvSpPr txBox="1"/>
          <p:nvPr/>
        </p:nvSpPr>
        <p:spPr>
          <a:xfrm>
            <a:off x="1554480" y="499262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Actualizar la gestión de riesgos</a:t>
            </a:r>
            <a:endParaRPr/>
          </a:p>
        </p:txBody>
      </p:sp>
      <p:sp>
        <p:nvSpPr>
          <p:cNvPr id="234" name="Google Shape;234;p5"/>
          <p:cNvSpPr txBox="1"/>
          <p:nvPr/>
        </p:nvSpPr>
        <p:spPr>
          <a:xfrm>
            <a:off x="1554480" y="5285231"/>
            <a:ext cx="9098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Reevaluar probabilidad/impacto y confirmar responsables y señales de alerta.</a:t>
            </a:r>
            <a:endParaRPr/>
          </a:p>
        </p:txBody>
      </p:sp>
      <p:sp>
        <p:nvSpPr>
          <p:cNvPr id="235" name="Google Shape;235;p5"/>
          <p:cNvSpPr/>
          <p:nvPr/>
        </p:nvSpPr>
        <p:spPr>
          <a:xfrm>
            <a:off x="658368" y="5870448"/>
            <a:ext cx="10881360" cy="338328"/>
          </a:xfrm>
          <a:prstGeom prst="roundRect">
            <a:avLst>
              <a:gd fmla="val 16667" name="adj"/>
            </a:avLst>
          </a:prstGeom>
          <a:solidFill>
            <a:srgbClr val="2B374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5"/>
          <p:cNvSpPr txBox="1"/>
          <p:nvPr/>
        </p:nvSpPr>
        <p:spPr>
          <a:xfrm>
            <a:off x="841248" y="5934456"/>
            <a:ext cx="10469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Resultado esperado: </a:t>
            </a:r>
            <a:r>
              <a:rPr b="1" i="0" lang="en-US" sz="950" u="none" cap="none" strike="noStrike">
                <a:solidFill>
                  <a:srgbClr val="12B5E0"/>
                </a:solidFill>
                <a:latin typeface="Arial"/>
                <a:ea typeface="Arial"/>
                <a:cs typeface="Arial"/>
                <a:sym typeface="Arial"/>
              </a:rPr>
              <a:t>Sprint 1 cerrado con entregables validados y Sprint 2 preparado para ejecución.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