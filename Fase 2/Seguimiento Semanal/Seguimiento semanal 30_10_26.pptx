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64" r:id="rId4"/>
    <p:sldId id="258" r:id="rId5"/>
    <p:sldId id="259" r:id="rId6"/>
    <p:sldId id="260" r:id="rId7"/>
    <p:sldId id="261" r:id="rId8"/>
    <p:sldId id="262" r:id="rId9"/>
    <p:sldId id="265" r:id="rId10"/>
    <p:sldId id="263" r:id="rId11"/>
  </p:sldIdLst>
  <p:sldSz cx="12192000" cy="6858000"/>
  <p:notesSz cx="6858000" cy="12192000"/>
  <p:embeddedFontLst>
    <p:embeddedFont>
      <p:font typeface="DM Sans" pitchFamily="2" charset="0"/>
      <p:regular r:id="rId13"/>
      <p:bold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 roundtripDataSignature="AMtx7mhMuwUP1yDxqh1tfyEFgc1dD7TiU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1" d="100"/>
          <a:sy n="151" d="100"/>
        </p:scale>
        <p:origin x="65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DM Sans"/>
                <a:ea typeface="DM Sans"/>
                <a:cs typeface="DM Sans"/>
                <a:sym typeface="DM Sans"/>
              </a:defRPr>
            </a:lvl1pPr>
            <a:lvl2pPr marR="0" lvl="1"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2pPr>
            <a:lvl3pPr marR="0" lvl="2"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3pPr>
            <a:lvl4pPr marR="0" lvl="3"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4pPr>
            <a:lvl5pPr marR="0" lvl="4"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5pPr>
            <a:lvl6pPr marR="0" lvl="5"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6pPr>
            <a:lvl7pPr marR="0" lvl="6"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7pPr>
            <a:lvl8pPr marR="0" lvl="7"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8pPr>
            <a:lvl9pPr marR="0" lvl="8"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DM Sans"/>
                <a:ea typeface="DM Sans"/>
                <a:cs typeface="DM Sans"/>
                <a:sym typeface="DM Sans"/>
              </a:defRPr>
            </a:lvl1pPr>
            <a:lvl2pPr marR="0" lvl="1"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2pPr>
            <a:lvl3pPr marR="0" lvl="2"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3pPr>
            <a:lvl4pPr marR="0" lvl="3"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4pPr>
            <a:lvl5pPr marR="0" lvl="4"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5pPr>
            <a:lvl6pPr marR="0" lvl="5"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6pPr>
            <a:lvl7pPr marR="0" lvl="6"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7pPr>
            <a:lvl8pPr marR="0" lvl="7"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8pPr>
            <a:lvl9pPr marR="0" lvl="8"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DM Sans"/>
                <a:ea typeface="DM Sans"/>
                <a:cs typeface="DM Sans"/>
                <a:sym typeface="DM Sans"/>
              </a:defRPr>
            </a:lvl1pPr>
            <a:lvl2pPr marL="914400" marR="0" lvl="1" indent="-228600" algn="l" rtl="0">
              <a:spcBef>
                <a:spcPts val="0"/>
              </a:spcBef>
              <a:spcAft>
                <a:spcPts val="0"/>
              </a:spcAft>
              <a:buSzPts val="1400"/>
              <a:buNone/>
              <a:defRPr sz="1200" b="0" i="0" u="none" strike="noStrike" cap="none">
                <a:solidFill>
                  <a:schemeClr val="dk1"/>
                </a:solidFill>
                <a:latin typeface="DM Sans"/>
                <a:ea typeface="DM Sans"/>
                <a:cs typeface="DM Sans"/>
                <a:sym typeface="DM Sans"/>
              </a:defRPr>
            </a:lvl2pPr>
            <a:lvl3pPr marL="1371600" marR="0" lvl="2" indent="-228600" algn="l" rtl="0">
              <a:spcBef>
                <a:spcPts val="0"/>
              </a:spcBef>
              <a:spcAft>
                <a:spcPts val="0"/>
              </a:spcAft>
              <a:buSzPts val="1400"/>
              <a:buNone/>
              <a:defRPr sz="1200" b="0" i="0" u="none" strike="noStrike" cap="none">
                <a:solidFill>
                  <a:schemeClr val="dk1"/>
                </a:solidFill>
                <a:latin typeface="DM Sans"/>
                <a:ea typeface="DM Sans"/>
                <a:cs typeface="DM Sans"/>
                <a:sym typeface="DM Sans"/>
              </a:defRPr>
            </a:lvl3pPr>
            <a:lvl4pPr marL="1828800" marR="0" lvl="3" indent="-228600" algn="l" rtl="0">
              <a:spcBef>
                <a:spcPts val="0"/>
              </a:spcBef>
              <a:spcAft>
                <a:spcPts val="0"/>
              </a:spcAft>
              <a:buSzPts val="1400"/>
              <a:buNone/>
              <a:defRPr sz="1200" b="0" i="0" u="none" strike="noStrike" cap="none">
                <a:solidFill>
                  <a:schemeClr val="dk1"/>
                </a:solidFill>
                <a:latin typeface="DM Sans"/>
                <a:ea typeface="DM Sans"/>
                <a:cs typeface="DM Sans"/>
                <a:sym typeface="DM Sans"/>
              </a:defRPr>
            </a:lvl4pPr>
            <a:lvl5pPr marL="2286000" marR="0" lvl="4" indent="-228600" algn="l" rtl="0">
              <a:spcBef>
                <a:spcPts val="0"/>
              </a:spcBef>
              <a:spcAft>
                <a:spcPts val="0"/>
              </a:spcAft>
              <a:buSzPts val="1400"/>
              <a:buNone/>
              <a:defRPr sz="1200" b="0" i="0" u="none" strike="noStrike" cap="none">
                <a:solidFill>
                  <a:schemeClr val="dk1"/>
                </a:solidFill>
                <a:latin typeface="DM Sans"/>
                <a:ea typeface="DM Sans"/>
                <a:cs typeface="DM Sans"/>
                <a:sym typeface="DM Sans"/>
              </a:defRPr>
            </a:lvl5pPr>
            <a:lvl6pPr marL="2743200" marR="0" lvl="5" indent="-228600" algn="l" rtl="0">
              <a:spcBef>
                <a:spcPts val="0"/>
              </a:spcBef>
              <a:spcAft>
                <a:spcPts val="0"/>
              </a:spcAft>
              <a:buSzPts val="1400"/>
              <a:buNone/>
              <a:defRPr sz="1200" b="0" i="0" u="none" strike="noStrike" cap="none">
                <a:solidFill>
                  <a:schemeClr val="dk1"/>
                </a:solidFill>
                <a:latin typeface="DM Sans"/>
                <a:ea typeface="DM Sans"/>
                <a:cs typeface="DM Sans"/>
                <a:sym typeface="DM Sans"/>
              </a:defRPr>
            </a:lvl6pPr>
            <a:lvl7pPr marL="3200400" marR="0" lvl="6" indent="-228600" algn="l" rtl="0">
              <a:spcBef>
                <a:spcPts val="0"/>
              </a:spcBef>
              <a:spcAft>
                <a:spcPts val="0"/>
              </a:spcAft>
              <a:buSzPts val="1400"/>
              <a:buNone/>
              <a:defRPr sz="1200" b="0" i="0" u="none" strike="noStrike" cap="none">
                <a:solidFill>
                  <a:schemeClr val="dk1"/>
                </a:solidFill>
                <a:latin typeface="DM Sans"/>
                <a:ea typeface="DM Sans"/>
                <a:cs typeface="DM Sans"/>
                <a:sym typeface="DM Sans"/>
              </a:defRPr>
            </a:lvl7pPr>
            <a:lvl8pPr marL="3657600" marR="0" lvl="7" indent="-228600" algn="l" rtl="0">
              <a:spcBef>
                <a:spcPts val="0"/>
              </a:spcBef>
              <a:spcAft>
                <a:spcPts val="0"/>
              </a:spcAft>
              <a:buSzPts val="1400"/>
              <a:buNone/>
              <a:defRPr sz="1200" b="0" i="0" u="none" strike="noStrike" cap="none">
                <a:solidFill>
                  <a:schemeClr val="dk1"/>
                </a:solidFill>
                <a:latin typeface="DM Sans"/>
                <a:ea typeface="DM Sans"/>
                <a:cs typeface="DM Sans"/>
                <a:sym typeface="DM Sans"/>
              </a:defRPr>
            </a:lvl8pPr>
            <a:lvl9pPr marL="4114800" marR="0" lvl="8" indent="-228600" algn="l" rtl="0">
              <a:spcBef>
                <a:spcPts val="0"/>
              </a:spcBef>
              <a:spcAft>
                <a:spcPts val="0"/>
              </a:spcAft>
              <a:buSzPts val="1400"/>
              <a:buNone/>
              <a:defRPr sz="1200" b="0" i="0" u="none" strike="noStrike" cap="none">
                <a:solidFill>
                  <a:schemeClr val="dk1"/>
                </a:solidFill>
                <a:latin typeface="DM Sans"/>
                <a:ea typeface="DM Sans"/>
                <a:cs typeface="DM Sans"/>
                <a:sym typeface="DM Sans"/>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DM Sans"/>
                <a:ea typeface="DM Sans"/>
                <a:cs typeface="DM Sans"/>
                <a:sym typeface="DM Sans"/>
              </a:defRPr>
            </a:lvl1pPr>
            <a:lvl2pPr marR="0" lvl="1"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2pPr>
            <a:lvl3pPr marR="0" lvl="2"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3pPr>
            <a:lvl4pPr marR="0" lvl="3"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4pPr>
            <a:lvl5pPr marR="0" lvl="4"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5pPr>
            <a:lvl6pPr marR="0" lvl="5"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6pPr>
            <a:lvl7pPr marR="0" lvl="6"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7pPr>
            <a:lvl8pPr marR="0" lvl="7"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8pPr>
            <a:lvl9pPr marR="0" lvl="8" algn="l" rtl="0">
              <a:spcBef>
                <a:spcPts val="0"/>
              </a:spcBef>
              <a:spcAft>
                <a:spcPts val="0"/>
              </a:spcAft>
              <a:buSzPts val="1400"/>
              <a:buNone/>
              <a:defRPr sz="1800" b="0" i="0" u="none" strike="noStrike" cap="none">
                <a:solidFill>
                  <a:schemeClr val="dk1"/>
                </a:solidFill>
                <a:latin typeface="DM Sans"/>
                <a:ea typeface="DM Sans"/>
                <a:cs typeface="DM Sans"/>
                <a:sym typeface="DM Sans"/>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DM Sans"/>
                <a:ea typeface="DM Sans"/>
                <a:cs typeface="DM Sans"/>
                <a:sym typeface="DM Sans"/>
              </a:rPr>
              <a:t>‹Nº›</a:t>
            </a:fld>
            <a:endParaRPr sz="1200" b="0" i="0" u="none" strike="noStrike" cap="none">
              <a:solidFill>
                <a:schemeClr val="dk1"/>
              </a:solidFill>
              <a:latin typeface="DM Sans"/>
              <a:ea typeface="DM Sans"/>
              <a:cs typeface="DM Sans"/>
              <a:sym typeface="DM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p:cNvGrpSpPr/>
        <p:nvPr/>
      </p:nvGrpSpPr>
      <p:grpSpPr>
        <a:xfrm>
          <a:off x="0" y="0"/>
          <a:ext cx="0" cy="0"/>
          <a:chOff x="0" y="0"/>
          <a:chExt cx="0" cy="0"/>
        </a:xfrm>
      </p:grpSpPr>
      <p:sp>
        <p:nvSpPr>
          <p:cNvPr id="17" name="Google Shape;1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 name="Google Shape;1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Presentamos el avance de dos semanas: la presentación de la Fase 2 del 23/10 y esta semana, la penúltima del Sprint 4. Vemos dónde estamos, los cambios que nos pidieron, el burndown, lo que hizo cada uno, los riesgos y lo que queda hasta el cierre del 01/11.</a:t>
            </a:r>
          </a:p>
        </p:txBody>
      </p:sp>
      <p:sp>
        <p:nvSpPr>
          <p:cNvPr id="19" name="Google Shape;1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
        <p:cNvGrpSpPr/>
        <p:nvPr/>
      </p:nvGrpSpPr>
      <p:grpSpPr>
        <a:xfrm>
          <a:off x="0" y="0"/>
          <a:ext cx="0" cy="0"/>
          <a:chOff x="0" y="0"/>
          <a:chExt cx="0" cy="0"/>
        </a:xfrm>
      </p:grpSpPr>
      <p:sp>
        <p:nvSpPr>
          <p:cNvPr id="29" name="Google Shape;2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 name="Google Shape;3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Con los cambios de la presentación el proyecto pasó de 35 a 51 tareas e historias, y según Jira llevamos 43 terminadas. Hoy es el día 12 del Sprint 4. Los cambios ya están programados y el equipo los probó el 27/10. La regresión automática de la API del 29/10 dio 112 de 115 casos OK, sin fallas; los 3 restantes necesitan esperar que venza una reserva. Como el instituto no deja publicar ni embeber Power BI, la pantalla Analítica del panel ahora tiene gráficos propios.</a:t>
            </a:r>
          </a:p>
        </p:txBody>
      </p:sp>
      <p:sp>
        <p:nvSpPr>
          <p:cNvPr id="31" name="Google Shape;3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En la presentación del 23/10 nos pidieron cuatro cosas. La ventana de reserva quedó en 60 minutos: 15 no alcanzaba y 2 horas dejaba la bahía mucho rato vacía. Reservar con días de anticipación se descartó, porque el uso no tiene hora de término. Con 3 faltas el usuario no puede reservar hasta que el administrador las anule. Si no hay bahías, el usuario entra a una lista de espera y, al liberarse una, se le guarda 15 minutos y se le avisa en la app. Además subimos a 50 bahías para que el prototipo parezca una sede real. Todo quedó en el ERS v1.4 como CC-18 a CC-22.</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Roadmap por semanas. La línea roja marca hoy, viernes 30/10, en la segunda semana del Sprint 4. Los Sprints 0 a 3 están cerrados. El Sprint 4 cierra el domingo 01/11 con Power BI, las pruebas, el empaquetado y los documentos finales.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El gráfico cuenta tareas e historias de Jira, sin subtareas. Al cierre del Sprint 3 quedaban 5. Los cambios de la presentación agregaron 3 historias y 13 tareas, por eso la línea sube el 24/10. De esas 16 ya cerramos 12, y hoy Jira marca 8 pendientes: las pruebas, Power BI, el empaquetado y las historias HU-12 a HU-14, que se cierran al pasar sus pruebas. KAN-40 se cerró porque el embebido de Power BI se reemplazó por los gráficos propios.</a:t>
            </a:r>
          </a:p>
        </p:txBody>
      </p:sp>
      <p:sp>
        <p:nvSpPr>
          <p:cNvPr id="93" name="Google Shape;93;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El sprint partió con 5 tareas. Después del 23/10 el alcance subió a 21 y la línea real fue bajando a medida que terminábamos los cambios: hoy Jira marca 8. A la derecha está la nueva pantalla Analítica del panel, con indicadores y gráficos calculados desde las vistas de la base. En pruebas, la regresión de la API ya incluye los casos del Sprint 4 y no tiene fallas. Mañana corremos los 22 casos de pantallas y la prueba de carga.</a:t>
            </a:r>
          </a:p>
        </p:txBody>
      </p:sp>
      <p:sp>
        <p:nvSpPr>
          <p:cNvPr id="105" name="Google Shape;10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Cada uno hizo la parte de su rol. Carlos construyó las pantallas nuevas de la app y del panel, los QR de las 50 bahías dejó el ERS v1.4 revisado y cargó el Sprint 4 en Jira; sigue con el empaquetado. Felipe programó en el backend la ventana de 60 minutos, el horario, las faltas, la lista de espera y los avisos, y corrigió el caso de las bahías reservadas que pasan a mantención; sigue con las pruebas. Crisler hizo las tablas nuevas, cargó las 50 bahías y el historial, armó los gráficos de Analítica y actualizó UML y DAS; sigue con Power BI Desktop y la prueba de carga.</a:t>
            </a:r>
          </a:p>
        </p:txBody>
      </p:sp>
      <p:sp>
        <p:nvSpPr>
          <p:cNvPr id="118" name="Google Shape;11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Desde esta semana los riesgos llevan un número acumulado de todo el proyecto, y el registro completo está en la lámina siguiente. El riesgo 10, Power BI embebido, se materializó: el instituto no permite publicarlo, así que lo reemplazamos por gráficos propios en el panel. El 13 se cerró al definir la ventana de 60 minutos. Hoy los más altos son el plazo del Sprint 4 y las pruebas que faltan. También es alto que el código del Sprint 4 no esté en GitHub; hoy hacemos el commit. Jira quedó al día hoy, así que el 15 baja a nivel bajo, y el 18 es nuevo: una llamada pasó los 2 segundos, lo vamos a medir con la prueba de carga.</a:t>
            </a:r>
          </a:p>
        </p:txBody>
      </p:sp>
      <p:sp>
        <p:nvSpPr>
          <p:cNvPr id="142" name="Google Shape;142;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Este es el registro acumulado que pidió el profesor, con un número único para cada riesgo desde el primer seguimiento. Los riesgos 1 a 4 son del 11/09, del 5 al 8 del 02/10, del 9 al 13 del 09/10, el 14 y el 15 del 16/10, el 16 de la presentación del 23/10, y el 17 y el 18 son de hoy. Las filas en color siguen abiertas o en revisión. El riesgo 3, concurrencia, lo cerramos con la prueba de carga.</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Hoy corremos los casos de pantallas y subimos el código del sprint. Mañana sábado, Power BI Desktop, la prueba de carga y el empaquetado. El domingo 01/11 cerramos el sprint en Jira con el burndown final, la retrospectiva y el push a GitHub. En noviembre vienen los ajustes y la preparación de la defensa de diciembre, y si nos alcanza el tiempo, la maqueta IoT con el ESP32.</a:t>
            </a:r>
          </a:p>
        </p:txBody>
      </p:sp>
      <p:sp>
        <p:nvSpPr>
          <p:cNvPr id="191" name="Google Shape;19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p:cSld name="Title and body">
    <p:bg>
      <p:bgPr>
        <a:solidFill>
          <a:srgbClr val="F7F6F2"/>
        </a:solidFill>
        <a:effectLst/>
      </p:bgPr>
    </p:bg>
    <p:spTree>
      <p:nvGrpSpPr>
        <p:cNvPr id="1" name="Shape 12"/>
        <p:cNvGrpSpPr/>
        <p:nvPr/>
      </p:nvGrpSpPr>
      <p:grpSpPr>
        <a:xfrm>
          <a:off x="0" y="0"/>
          <a:ext cx="0" cy="0"/>
          <a:chOff x="0" y="0"/>
          <a:chExt cx="0" cy="0"/>
        </a:xfrm>
      </p:grpSpPr>
      <p:sp>
        <p:nvSpPr>
          <p:cNvPr id="13" name="Google Shape;13;p10"/>
          <p:cNvSpPr txBox="1">
            <a:spLocks noGrp="1"/>
          </p:cNvSpPr>
          <p:nvPr>
            <p:ph type="title"/>
          </p:nvPr>
        </p:nvSpPr>
        <p:spPr>
          <a:xfrm>
            <a:off x="812800" y="812800"/>
            <a:ext cx="10566400" cy="44698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rgbClr val="14213D"/>
              </a:buClr>
              <a:buSzPts val="3200"/>
              <a:buFont typeface="DM Sans"/>
              <a:buNone/>
              <a:defRPr sz="3200">
                <a:solidFill>
                  <a:srgbClr val="14213D"/>
                </a:solidFill>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10"/>
          <p:cNvSpPr txBox="1">
            <a:spLocks noGrp="1"/>
          </p:cNvSpPr>
          <p:nvPr>
            <p:ph type="body" idx="1"/>
          </p:nvPr>
        </p:nvSpPr>
        <p:spPr>
          <a:xfrm>
            <a:off x="812800" y="1564580"/>
            <a:ext cx="10566400" cy="4480620"/>
          </a:xfrm>
          <a:prstGeom prst="rect">
            <a:avLst/>
          </a:prstGeom>
          <a:noFill/>
          <a:ln>
            <a:noFill/>
          </a:ln>
        </p:spPr>
        <p:txBody>
          <a:bodyPr spcFirstLastPara="1" wrap="square" lIns="0" tIns="0" rIns="0" bIns="0" anchor="t" anchorCtr="0">
            <a:noAutofit/>
          </a:bodyPr>
          <a:lstStyle>
            <a:lvl1pPr marL="457200" lvl="0" indent="-228600" algn="l">
              <a:lnSpc>
                <a:spcPct val="140000"/>
              </a:lnSpc>
              <a:spcBef>
                <a:spcPts val="320"/>
              </a:spcBef>
              <a:spcAft>
                <a:spcPts val="0"/>
              </a:spcAft>
              <a:buClr>
                <a:srgbClr val="14213D"/>
              </a:buClr>
              <a:buSzPts val="1600"/>
              <a:buNone/>
              <a:defRPr sz="1600">
                <a:solidFill>
                  <a:srgbClr val="14213D"/>
                </a:solidFill>
                <a:latin typeface="DM Sans"/>
                <a:ea typeface="DM Sans"/>
                <a:cs typeface="DM Sans"/>
                <a:sym typeface="DM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CLARO">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3816" y="640080"/>
            <a:ext cx="10561320" cy="64008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0972800" y="6355080"/>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‹Nº›</a:t>
            </a:fld>
            <a:endParaRPr lang="en-US"/>
          </a:p>
        </p:txBody>
      </p:sp>
    </p:spTree>
    <p:extLst>
      <p:ext uri="{BB962C8B-B14F-4D97-AF65-F5344CB8AC3E}">
        <p14:creationId xmlns:p14="http://schemas.microsoft.com/office/powerpoint/2010/main" val="42945217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12800" y="812800"/>
            <a:ext cx="10566400" cy="446980"/>
          </a:xfrm>
          <a:prstGeom prst="rect">
            <a:avLst/>
          </a:prstGeom>
          <a:noFill/>
          <a:ln>
            <a:noFill/>
          </a:ln>
        </p:spPr>
        <p:txBody>
          <a:bodyPr spcFirstLastPara="1" wrap="square" lIns="0" tIns="0" rIns="0" bIns="0" anchor="t" anchorCtr="0">
            <a:noAutofit/>
          </a:bodyPr>
          <a:lstStyle>
            <a:lvl1pPr marR="0" lvl="0" algn="l" rtl="0">
              <a:lnSpc>
                <a:spcPct val="115000"/>
              </a:lnSpc>
              <a:spcBef>
                <a:spcPts val="0"/>
              </a:spcBef>
              <a:spcAft>
                <a:spcPts val="0"/>
              </a:spcAft>
              <a:buClr>
                <a:srgbClr val="14213D"/>
              </a:buClr>
              <a:buSzPts val="3200"/>
              <a:buFont typeface="DM Sans"/>
              <a:buNone/>
              <a:defRPr sz="3200" b="0" i="0" u="none" strike="noStrike" cap="none">
                <a:solidFill>
                  <a:srgbClr val="14213D"/>
                </a:solidFill>
                <a:latin typeface="DM Sans"/>
                <a:ea typeface="DM Sans"/>
                <a:cs typeface="DM Sans"/>
                <a:sym typeface="DM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12800" y="1564580"/>
            <a:ext cx="10566400" cy="4480620"/>
          </a:xfrm>
          <a:prstGeom prst="rect">
            <a:avLst/>
          </a:prstGeom>
          <a:noFill/>
          <a:ln>
            <a:noFill/>
          </a:ln>
        </p:spPr>
        <p:txBody>
          <a:bodyPr spcFirstLastPara="1" wrap="square" lIns="0" tIns="0" rIns="0" bIns="0" anchor="t" anchorCtr="0">
            <a:noAutofit/>
          </a:bodyPr>
          <a:lstStyle>
            <a:lvl1pPr marL="457200" marR="0" lvl="0" indent="-228600" algn="l" rtl="0">
              <a:lnSpc>
                <a:spcPct val="140000"/>
              </a:lnSpc>
              <a:spcBef>
                <a:spcPts val="320"/>
              </a:spcBef>
              <a:spcAft>
                <a:spcPts val="0"/>
              </a:spcAft>
              <a:buClr>
                <a:srgbClr val="14213D"/>
              </a:buClr>
              <a:buSzPts val="1600"/>
              <a:buFont typeface="Arial"/>
              <a:buNone/>
              <a:defRPr sz="1600" b="0" i="0" u="none" strike="noStrike" cap="none">
                <a:solidFill>
                  <a:srgbClr val="14213D"/>
                </a:solidFill>
                <a:latin typeface="DM Sans"/>
                <a:ea typeface="DM Sans"/>
                <a:cs typeface="DM Sans"/>
                <a:sym typeface="DM Sans"/>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DM Sans"/>
                <a:ea typeface="DM Sans"/>
                <a:cs typeface="DM Sans"/>
                <a:sym typeface="DM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DM Sans"/>
                <a:ea typeface="DM Sans"/>
                <a:cs typeface="DM Sans"/>
                <a:sym typeface="DM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DM Sans"/>
                <a:ea typeface="DM Sans"/>
                <a:cs typeface="DM Sans"/>
                <a:sym typeface="DM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DM Sans"/>
                <a:ea typeface="DM Sans"/>
                <a:cs typeface="DM Sans"/>
                <a:sym typeface="DM Sans"/>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DM Sans"/>
                <a:ea typeface="DM Sans"/>
                <a:cs typeface="DM Sans"/>
                <a:sym typeface="DM Sans"/>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DM Sans"/>
                <a:ea typeface="DM Sans"/>
                <a:cs typeface="DM Sans"/>
                <a:sym typeface="DM Sans"/>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DM Sans"/>
                <a:ea typeface="DM Sans"/>
                <a:cs typeface="DM Sans"/>
                <a:sym typeface="DM Sans"/>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Shape 20"/>
        <p:cNvGrpSpPr/>
        <p:nvPr/>
      </p:nvGrpSpPr>
      <p:grpSpPr>
        <a:xfrm>
          <a:off x="0" y="0"/>
          <a:ext cx="0" cy="0"/>
          <a:chOff x="0" y="0"/>
          <a:chExt cx="0" cy="0"/>
        </a:xfrm>
      </p:grpSpPr>
      <p:sp>
        <p:nvSpPr>
          <p:cNvPr id="21" name="Google Shape;21;p1"/>
          <p:cNvSpPr/>
          <p:nvPr/>
        </p:nvSpPr>
        <p:spPr>
          <a:xfrm>
            <a:off x="812800" y="812800"/>
            <a:ext cx="10883392" cy="30986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7FB3F0"/>
              </a:buClr>
              <a:buSzPts val="1600"/>
              <a:buFont typeface="DM Sans"/>
              <a:buNone/>
            </a:pPr>
            <a:r>
              <a:rPr lang="en-US" sz="1600" b="1" i="0" u="none" strike="noStrike" cap="none">
                <a:solidFill>
                  <a:srgbClr val="7FB3F0"/>
                </a:solidFill>
                <a:latin typeface="DM Sans"/>
                <a:ea typeface="DM Sans"/>
                <a:cs typeface="DM Sans"/>
                <a:sym typeface="DM Sans"/>
              </a:rPr>
              <a:t>CAPSTONE · EQUIPO NODALIX</a:t>
            </a:r>
            <a:endParaRPr sz="1600" b="0" i="0" u="none" strike="noStrike" cap="none">
              <a:solidFill>
                <a:schemeClr val="dk1"/>
              </a:solidFill>
              <a:latin typeface="DM Sans"/>
              <a:ea typeface="DM Sans"/>
              <a:cs typeface="DM Sans"/>
              <a:sym typeface="DM Sans"/>
            </a:endParaRPr>
          </a:p>
        </p:txBody>
      </p:sp>
      <p:sp>
        <p:nvSpPr>
          <p:cNvPr id="22" name="Google Shape;22;p1"/>
          <p:cNvSpPr txBox="1">
            <a:spLocks noGrp="1"/>
          </p:cNvSpPr>
          <p:nvPr>
            <p:ph type="title"/>
          </p:nvPr>
        </p:nvSpPr>
        <p:spPr>
          <a:xfrm>
            <a:off x="812800" y="2693690"/>
            <a:ext cx="10883392" cy="825500"/>
          </a:xfrm>
          <a:prstGeom prst="rect">
            <a:avLst/>
          </a:prstGeom>
          <a:noFill/>
          <a:ln>
            <a:noFill/>
          </a:ln>
        </p:spPr>
        <p:txBody>
          <a:bodyPr spcFirstLastPara="1" wrap="square" lIns="0" tIns="0" rIns="0" bIns="0" anchor="t" anchorCtr="0">
            <a:normAutofit fontScale="90000"/>
          </a:bodyPr>
          <a:lstStyle/>
          <a:p>
            <a:pPr marL="0" lvl="0" indent="0" algn="l" rtl="0">
              <a:lnSpc>
                <a:spcPct val="104999"/>
              </a:lnSpc>
              <a:spcBef>
                <a:spcPts val="0"/>
              </a:spcBef>
              <a:spcAft>
                <a:spcPts val="0"/>
              </a:spcAft>
              <a:buClr>
                <a:srgbClr val="F7F6F2"/>
              </a:buClr>
              <a:buSzPts val="6000"/>
              <a:buFont typeface="DM Sans"/>
              <a:buNone/>
            </a:pPr>
            <a:r>
              <a:rPr lang="en-US" sz="6000" b="1" i="0">
                <a:solidFill>
                  <a:srgbClr val="F7F6F2"/>
                </a:solidFill>
                <a:latin typeface="DM Sans"/>
                <a:ea typeface="DM Sans"/>
                <a:cs typeface="DM Sans"/>
                <a:sym typeface="DM Sans"/>
              </a:rPr>
              <a:t>OmniDock</a:t>
            </a:r>
            <a:endParaRPr sz="6000"/>
          </a:p>
        </p:txBody>
      </p:sp>
      <p:sp>
        <p:nvSpPr>
          <p:cNvPr id="23" name="Google Shape;23;p1"/>
          <p:cNvSpPr/>
          <p:nvPr/>
        </p:nvSpPr>
        <p:spPr>
          <a:xfrm>
            <a:off x="812800" y="3696990"/>
            <a:ext cx="10883392" cy="492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5000"/>
              </a:lnSpc>
              <a:spcBef>
                <a:spcPts val="0"/>
              </a:spcBef>
              <a:spcAft>
                <a:spcPts val="0"/>
              </a:spcAft>
              <a:buClr>
                <a:srgbClr val="F7F6F2"/>
              </a:buClr>
              <a:buSzPts val="3200"/>
              <a:buFont typeface="DM Sans"/>
              <a:buNone/>
            </a:pPr>
            <a:r>
              <a:rPr lang="en-US" sz="3200" b="0" i="0" u="none" strike="noStrike" cap="none">
                <a:solidFill>
                  <a:srgbClr val="F7F6F2"/>
                </a:solidFill>
                <a:latin typeface="DM Sans"/>
                <a:ea typeface="DM Sans"/>
                <a:cs typeface="DM Sans"/>
                <a:sym typeface="DM Sans"/>
              </a:rPr>
              <a:t>Avance semanal · Sprint 4</a:t>
            </a:r>
            <a:endParaRPr sz="3200" b="0" i="0" u="none" strike="noStrike" cap="none">
              <a:solidFill>
                <a:schemeClr val="dk1"/>
              </a:solidFill>
              <a:latin typeface="DM Sans"/>
              <a:ea typeface="DM Sans"/>
              <a:cs typeface="DM Sans"/>
              <a:sym typeface="DM Sans"/>
            </a:endParaRPr>
          </a:p>
        </p:txBody>
      </p:sp>
      <p:sp>
        <p:nvSpPr>
          <p:cNvPr id="24" name="Google Shape;24;p1"/>
          <p:cNvSpPr/>
          <p:nvPr/>
        </p:nvSpPr>
        <p:spPr>
          <a:xfrm>
            <a:off x="812800" y="5760740"/>
            <a:ext cx="4868347" cy="30986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BFC8D9"/>
              </a:buClr>
              <a:buSzPts val="1600"/>
              <a:buFont typeface="DM Sans"/>
              <a:buNone/>
            </a:pPr>
            <a:r>
              <a:rPr lang="en-US" sz="1600" b="0" i="0" u="none" strike="noStrike" cap="none">
                <a:solidFill>
                  <a:srgbClr val="BFC8D9"/>
                </a:solidFill>
                <a:latin typeface="DM Sans"/>
                <a:ea typeface="DM Sans"/>
                <a:cs typeface="DM Sans"/>
                <a:sym typeface="DM Sans"/>
              </a:rPr>
              <a:t>Carlos Román · Crisler Romero · Felipe Vidal</a:t>
            </a:r>
            <a:endParaRPr sz="1600" b="0" i="0" u="none" strike="noStrike" cap="none">
              <a:solidFill>
                <a:schemeClr val="dk1"/>
              </a:solidFill>
              <a:latin typeface="DM Sans"/>
              <a:ea typeface="DM Sans"/>
              <a:cs typeface="DM Sans"/>
              <a:sym typeface="DM Sans"/>
            </a:endParaRPr>
          </a:p>
        </p:txBody>
      </p:sp>
      <p:sp>
        <p:nvSpPr>
          <p:cNvPr id="25" name="Google Shape;25;p1"/>
          <p:cNvSpPr/>
          <p:nvPr/>
        </p:nvSpPr>
        <p:spPr>
          <a:xfrm>
            <a:off x="9135110" y="5760740"/>
            <a:ext cx="2244090" cy="309860"/>
          </a:xfrm>
          <a:prstGeom prst="rect">
            <a:avLst/>
          </a:prstGeom>
          <a:noFill/>
          <a:ln>
            <a:noFill/>
          </a:ln>
        </p:spPr>
        <p:txBody>
          <a:bodyPr spcFirstLastPara="1" wrap="square" lIns="0" tIns="0" rIns="0" bIns="0" anchor="t" anchorCtr="0">
            <a:normAutofit fontScale="92500" lnSpcReduction="10000"/>
          </a:bodyPr>
          <a:lstStyle/>
          <a:p>
            <a:pPr marL="0" marR="0" lvl="0" indent="0" algn="r" rtl="0">
              <a:lnSpc>
                <a:spcPct val="140000"/>
              </a:lnSpc>
              <a:spcBef>
                <a:spcPts val="0"/>
              </a:spcBef>
              <a:spcAft>
                <a:spcPts val="0"/>
              </a:spcAft>
              <a:buClr>
                <a:srgbClr val="BFC8D9"/>
              </a:buClr>
              <a:buSzPts val="1600"/>
              <a:buFont typeface="DM Sans"/>
              <a:buNone/>
            </a:pPr>
            <a:r>
              <a:rPr lang="en-US" sz="1600" b="0" i="0" u="none" strike="noStrike" cap="none">
                <a:solidFill>
                  <a:srgbClr val="BFC8D9"/>
                </a:solidFill>
                <a:latin typeface="DM Sans"/>
                <a:ea typeface="DM Sans"/>
                <a:cs typeface="DM Sans"/>
                <a:sym typeface="DM Sans"/>
              </a:rPr>
              <a:t>Viernes 30/10/2026</a:t>
            </a:r>
            <a:endParaRPr sz="1600" b="0" i="0" u="none" strike="noStrike" cap="none">
              <a:solidFill>
                <a:schemeClr val="dk1"/>
              </a:solidFill>
              <a:latin typeface="DM Sans"/>
              <a:ea typeface="DM Sans"/>
              <a:cs typeface="DM Sans"/>
              <a:sym typeface="DM Sans"/>
            </a:endParaRPr>
          </a:p>
        </p:txBody>
      </p:sp>
      <p:pic>
        <p:nvPicPr>
          <p:cNvPr id="26" name="Google Shape;26;p1" descr="image1.png"/>
          <p:cNvPicPr preferRelativeResize="0"/>
          <p:nvPr/>
        </p:nvPicPr>
        <p:blipFill rotWithShape="1">
          <a:blip r:embed="rId3">
            <a:alphaModFix/>
          </a:blip>
          <a:srcRect/>
          <a:stretch/>
        </p:blipFill>
        <p:spPr>
          <a:xfrm>
            <a:off x="10986075" y="320050"/>
            <a:ext cx="626801" cy="626801"/>
          </a:xfrm>
          <a:prstGeom prst="rect">
            <a:avLst/>
          </a:prstGeom>
          <a:noFill/>
          <a:ln>
            <a:noFill/>
          </a:ln>
        </p:spPr>
      </p:pic>
      <p:pic>
        <p:nvPicPr>
          <p:cNvPr id="27" name="Google Shape;27;p1" descr="image2.png"/>
          <p:cNvPicPr preferRelativeResize="0"/>
          <p:nvPr/>
        </p:nvPicPr>
        <p:blipFill rotWithShape="1">
          <a:blip r:embed="rId4">
            <a:alphaModFix/>
          </a:blip>
          <a:srcRect/>
          <a:stretch/>
        </p:blipFill>
        <p:spPr>
          <a:xfrm>
            <a:off x="7073672" y="2262452"/>
            <a:ext cx="2191450" cy="2191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Shape 32"/>
        <p:cNvGrpSpPr/>
        <p:nvPr/>
      </p:nvGrpSpPr>
      <p:grpSpPr>
        <a:xfrm>
          <a:off x="0" y="0"/>
          <a:ext cx="0" cy="0"/>
          <a:chOff x="0" y="0"/>
          <a:chExt cx="0" cy="0"/>
        </a:xfrm>
      </p:grpSpPr>
      <p:sp>
        <p:nvSpPr>
          <p:cNvPr id="33" name="Google Shape;33;p2"/>
          <p:cNvSpPr txBox="1">
            <a:spLocks noGrp="1"/>
          </p:cNvSpPr>
          <p:nvPr>
            <p:ph type="title"/>
          </p:nvPr>
        </p:nvSpPr>
        <p:spPr>
          <a:xfrm>
            <a:off x="812800" y="812800"/>
            <a:ext cx="10883392" cy="472380"/>
          </a:xfrm>
          <a:prstGeom prst="rect">
            <a:avLst/>
          </a:prstGeom>
          <a:noFill/>
          <a:ln>
            <a:noFill/>
          </a:ln>
        </p:spPr>
        <p:txBody>
          <a:bodyPr spcFirstLastPara="1" wrap="square" lIns="0" tIns="0" rIns="0" bIns="0" anchor="t" anchorCtr="0">
            <a:normAutofit fontScale="90000"/>
          </a:bodyPr>
          <a:lstStyle/>
          <a:p>
            <a:pPr marL="0" lvl="0" indent="0" algn="l" rtl="0">
              <a:lnSpc>
                <a:spcPct val="110000"/>
              </a:lnSpc>
              <a:spcBef>
                <a:spcPts val="0"/>
              </a:spcBef>
              <a:spcAft>
                <a:spcPts val="0"/>
              </a:spcAft>
              <a:buClr>
                <a:srgbClr val="14213D"/>
              </a:buClr>
              <a:buSzPts val="3200"/>
              <a:buFont typeface="DM Sans"/>
              <a:buNone/>
            </a:pPr>
            <a:r>
              <a:rPr lang="en-US" sz="3200" b="1" i="0">
                <a:solidFill>
                  <a:srgbClr val="14213D"/>
                </a:solidFill>
                <a:latin typeface="DM Sans"/>
                <a:ea typeface="DM Sans"/>
                <a:cs typeface="DM Sans"/>
                <a:sym typeface="DM Sans"/>
              </a:rPr>
              <a:t>Dónde estamos</a:t>
            </a:r>
            <a:endParaRPr sz="3200"/>
          </a:p>
        </p:txBody>
      </p:sp>
      <p:sp>
        <p:nvSpPr>
          <p:cNvPr id="34" name="Google Shape;34;p2"/>
          <p:cNvSpPr/>
          <p:nvPr/>
        </p:nvSpPr>
        <p:spPr>
          <a:xfrm>
            <a:off x="812800" y="1564580"/>
            <a:ext cx="3369667" cy="1503462"/>
          </a:xfrm>
          <a:prstGeom prst="roundRect">
            <a:avLst>
              <a:gd name="adj" fmla="val 6758"/>
            </a:avLst>
          </a:prstGeom>
          <a:solidFill>
            <a:srgbClr val="1421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1066800" y="1818580"/>
            <a:ext cx="2947517" cy="47238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F7F6F2"/>
              </a:buClr>
              <a:buSzPts val="3200"/>
              <a:buFont typeface="DM Sans"/>
              <a:buNone/>
            </a:pPr>
            <a:r>
              <a:rPr lang="en-US" sz="3200" b="1" i="0" u="none" strike="noStrike" cap="none">
                <a:solidFill>
                  <a:srgbClr val="F7F6F2"/>
                </a:solidFill>
                <a:latin typeface="DM Sans"/>
                <a:ea typeface="DM Sans"/>
                <a:cs typeface="DM Sans"/>
                <a:sym typeface="DM Sans"/>
              </a:rPr>
              <a:t>43 de 51</a:t>
            </a:r>
            <a:endParaRPr sz="3200" b="0" i="0" u="none" strike="noStrike" cap="none">
              <a:solidFill>
                <a:schemeClr val="dk1"/>
              </a:solidFill>
              <a:latin typeface="DM Sans"/>
              <a:ea typeface="DM Sans"/>
              <a:cs typeface="DM Sans"/>
              <a:sym typeface="DM Sans"/>
            </a:endParaRPr>
          </a:p>
        </p:txBody>
      </p:sp>
      <p:sp>
        <p:nvSpPr>
          <p:cNvPr id="36" name="Google Shape;36;p2"/>
          <p:cNvSpPr/>
          <p:nvPr/>
        </p:nvSpPr>
        <p:spPr>
          <a:xfrm>
            <a:off x="1066800" y="2316361"/>
            <a:ext cx="2947517" cy="523081"/>
          </a:xfrm>
          <a:prstGeom prst="rect">
            <a:avLst/>
          </a:prstGeom>
          <a:noFill/>
          <a:ln>
            <a:noFill/>
          </a:ln>
        </p:spPr>
        <p:txBody>
          <a:bodyPr spcFirstLastPara="1" wrap="square" lIns="0" tIns="0" rIns="0" bIns="0" anchor="t" anchorCtr="0">
            <a:normAutofit fontScale="92500"/>
          </a:bodyPr>
          <a:lstStyle/>
          <a:p>
            <a:pPr marL="0" marR="0" lvl="0" indent="0" algn="l" rtl="0">
              <a:lnSpc>
                <a:spcPct val="140000"/>
              </a:lnSpc>
              <a:spcBef>
                <a:spcPts val="0"/>
              </a:spcBef>
              <a:spcAft>
                <a:spcPts val="0"/>
              </a:spcAft>
              <a:buClr>
                <a:srgbClr val="BFC8D9"/>
              </a:buClr>
              <a:buSzPts val="1400"/>
              <a:buFont typeface="DM Sans"/>
              <a:buNone/>
            </a:pPr>
            <a:r>
              <a:rPr lang="en-US" sz="1400" b="0" i="0" u="none" strike="noStrike" cap="none">
                <a:solidFill>
                  <a:srgbClr val="BFC8D9"/>
                </a:solidFill>
                <a:latin typeface="DM Sans"/>
                <a:ea typeface="DM Sans"/>
                <a:cs typeface="DM Sans"/>
                <a:sym typeface="DM Sans"/>
              </a:rPr>
              <a:t>tareas e historias listas (84 %)</a:t>
            </a:r>
            <a:endParaRPr sz="1400" b="0" i="0" u="none" strike="noStrike" cap="none">
              <a:solidFill>
                <a:schemeClr val="dk1"/>
              </a:solidFill>
              <a:latin typeface="DM Sans"/>
              <a:ea typeface="DM Sans"/>
              <a:cs typeface="DM Sans"/>
              <a:sym typeface="DM Sans"/>
            </a:endParaRPr>
          </a:p>
        </p:txBody>
      </p:sp>
      <p:sp>
        <p:nvSpPr>
          <p:cNvPr id="37" name="Google Shape;37;p2"/>
          <p:cNvSpPr/>
          <p:nvPr/>
        </p:nvSpPr>
        <p:spPr>
          <a:xfrm>
            <a:off x="4392017" y="1570930"/>
            <a:ext cx="3382466" cy="1490762"/>
          </a:xfrm>
          <a:prstGeom prst="roundRect">
            <a:avLst>
              <a:gd name="adj" fmla="val 6389"/>
            </a:avLst>
          </a:prstGeom>
          <a:solidFill>
            <a:srgbClr val="FCFCFB"/>
          </a:solidFill>
          <a:ln w="12700" cap="flat" cmpd="sng">
            <a:solidFill>
              <a:srgbClr val="DCDDD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4652367" y="1831280"/>
            <a:ext cx="2947619" cy="47238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4213D"/>
              </a:buClr>
              <a:buSzPts val="3200"/>
              <a:buFont typeface="DM Sans"/>
              <a:buNone/>
            </a:pPr>
            <a:r>
              <a:rPr lang="en-US" sz="3200" b="1" i="0" u="none" strike="noStrike" cap="none">
                <a:solidFill>
                  <a:srgbClr val="14213D"/>
                </a:solidFill>
                <a:latin typeface="DM Sans"/>
                <a:ea typeface="DM Sans"/>
                <a:cs typeface="DM Sans"/>
                <a:sym typeface="DM Sans"/>
              </a:rPr>
              <a:t>4 de 5</a:t>
            </a:r>
            <a:endParaRPr sz="3200" b="0" i="0" u="none" strike="noStrike" cap="none">
              <a:solidFill>
                <a:schemeClr val="dk1"/>
              </a:solidFill>
              <a:latin typeface="DM Sans"/>
              <a:ea typeface="DM Sans"/>
              <a:cs typeface="DM Sans"/>
              <a:sym typeface="DM Sans"/>
            </a:endParaRPr>
          </a:p>
        </p:txBody>
      </p:sp>
      <p:sp>
        <p:nvSpPr>
          <p:cNvPr id="39" name="Google Shape;39;p2"/>
          <p:cNvSpPr/>
          <p:nvPr/>
        </p:nvSpPr>
        <p:spPr>
          <a:xfrm>
            <a:off x="4652367" y="2329061"/>
            <a:ext cx="2947619" cy="274241"/>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4A5568"/>
              </a:buClr>
              <a:buSzPts val="1400"/>
              <a:buFont typeface="DM Sans"/>
              <a:buNone/>
            </a:pPr>
            <a:r>
              <a:rPr lang="en-US" sz="1400" b="0" i="0" u="none" strike="noStrike" cap="none">
                <a:solidFill>
                  <a:srgbClr val="4A5568"/>
                </a:solidFill>
                <a:latin typeface="DM Sans"/>
                <a:ea typeface="DM Sans"/>
                <a:cs typeface="DM Sans"/>
                <a:sym typeface="DM Sans"/>
              </a:rPr>
              <a:t>sprints cerrados (0 al 3)</a:t>
            </a:r>
            <a:endParaRPr sz="1400" b="0" i="0" u="none" strike="noStrike" cap="none">
              <a:solidFill>
                <a:schemeClr val="dk1"/>
              </a:solidFill>
              <a:latin typeface="DM Sans"/>
              <a:ea typeface="DM Sans"/>
              <a:cs typeface="DM Sans"/>
              <a:sym typeface="DM Sans"/>
            </a:endParaRPr>
          </a:p>
        </p:txBody>
      </p:sp>
      <p:sp>
        <p:nvSpPr>
          <p:cNvPr id="40" name="Google Shape;40;p2"/>
          <p:cNvSpPr/>
          <p:nvPr/>
        </p:nvSpPr>
        <p:spPr>
          <a:xfrm>
            <a:off x="7990384" y="1570930"/>
            <a:ext cx="3382466" cy="1490762"/>
          </a:xfrm>
          <a:prstGeom prst="roundRect">
            <a:avLst>
              <a:gd name="adj" fmla="val 6389"/>
            </a:avLst>
          </a:prstGeom>
          <a:solidFill>
            <a:srgbClr val="FCFCFB"/>
          </a:solidFill>
          <a:ln w="12700" cap="flat" cmpd="sng">
            <a:solidFill>
              <a:srgbClr val="DCDDD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8250734" y="1831280"/>
            <a:ext cx="2947619" cy="47238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4213D"/>
              </a:buClr>
              <a:buSzPts val="3200"/>
              <a:buFont typeface="DM Sans"/>
              <a:buNone/>
            </a:pPr>
            <a:r>
              <a:rPr lang="en-US" sz="3200" b="1" i="0" u="none" strike="noStrike" cap="none">
                <a:solidFill>
                  <a:srgbClr val="14213D"/>
                </a:solidFill>
                <a:latin typeface="DM Sans"/>
                <a:ea typeface="DM Sans"/>
                <a:cs typeface="DM Sans"/>
                <a:sym typeface="DM Sans"/>
              </a:rPr>
              <a:t>Día 12 de 14</a:t>
            </a:r>
            <a:endParaRPr sz="3200" b="0" i="0" u="none" strike="noStrike" cap="none">
              <a:solidFill>
                <a:schemeClr val="dk1"/>
              </a:solidFill>
              <a:latin typeface="DM Sans"/>
              <a:ea typeface="DM Sans"/>
              <a:cs typeface="DM Sans"/>
              <a:sym typeface="DM Sans"/>
            </a:endParaRPr>
          </a:p>
        </p:txBody>
      </p:sp>
      <p:sp>
        <p:nvSpPr>
          <p:cNvPr id="42" name="Google Shape;42;p2"/>
          <p:cNvSpPr/>
          <p:nvPr/>
        </p:nvSpPr>
        <p:spPr>
          <a:xfrm>
            <a:off x="8250734" y="2329061"/>
            <a:ext cx="2947619" cy="274241"/>
          </a:xfrm>
          <a:prstGeom prst="rect">
            <a:avLst/>
          </a:prstGeom>
          <a:noFill/>
          <a:ln>
            <a:noFill/>
          </a:ln>
        </p:spPr>
        <p:txBody>
          <a:bodyPr spcFirstLastPara="1" wrap="square" lIns="0" tIns="0" rIns="0" bIns="0" anchor="t" anchorCtr="0">
            <a:normAutofit fontScale="85000" lnSpcReduction="10000"/>
          </a:bodyPr>
          <a:lstStyle/>
          <a:p>
            <a:pPr marL="0" marR="0" lvl="0" indent="0" algn="l" rtl="0">
              <a:lnSpc>
                <a:spcPct val="140000"/>
              </a:lnSpc>
              <a:spcBef>
                <a:spcPts val="0"/>
              </a:spcBef>
              <a:spcAft>
                <a:spcPts val="0"/>
              </a:spcAft>
              <a:buClr>
                <a:srgbClr val="4A5568"/>
              </a:buClr>
              <a:buSzPts val="1400"/>
              <a:buFont typeface="DM Sans"/>
              <a:buNone/>
            </a:pPr>
            <a:r>
              <a:rPr lang="en-US" sz="1400" b="0" i="0" u="none" strike="noStrike" cap="none">
                <a:solidFill>
                  <a:srgbClr val="4A5568"/>
                </a:solidFill>
                <a:latin typeface="DM Sans"/>
                <a:ea typeface="DM Sans"/>
                <a:cs typeface="DM Sans"/>
                <a:sym typeface="DM Sans"/>
              </a:rPr>
              <a:t>del Sprint 4, que cierra el 01/11</a:t>
            </a:r>
            <a:endParaRPr sz="1400" b="0" i="0" u="none" strike="noStrike" cap="none">
              <a:solidFill>
                <a:schemeClr val="dk1"/>
              </a:solidFill>
              <a:latin typeface="DM Sans"/>
              <a:ea typeface="DM Sans"/>
              <a:cs typeface="DM Sans"/>
              <a:sym typeface="DM Sans"/>
            </a:endParaRPr>
          </a:p>
        </p:txBody>
      </p:sp>
      <p:cxnSp>
        <p:nvCxnSpPr>
          <p:cNvPr id="43" name="Google Shape;43;p2"/>
          <p:cNvCxnSpPr/>
          <p:nvPr/>
        </p:nvCxnSpPr>
        <p:spPr>
          <a:xfrm>
            <a:off x="812800" y="3391892"/>
            <a:ext cx="3386634" cy="0"/>
          </a:xfrm>
          <a:prstGeom prst="straightConnector1">
            <a:avLst/>
          </a:prstGeom>
          <a:noFill/>
          <a:ln w="38100" cap="flat" cmpd="sng">
            <a:solidFill>
              <a:srgbClr val="2A78D6"/>
            </a:solidFill>
            <a:prstDash val="solid"/>
            <a:round/>
            <a:headEnd type="none" w="sm" len="sm"/>
            <a:tailEnd type="none" w="sm" len="sm"/>
          </a:ln>
        </p:spPr>
      </p:cxnSp>
      <p:sp>
        <p:nvSpPr>
          <p:cNvPr id="44" name="Google Shape;44;p2"/>
          <p:cNvSpPr/>
          <p:nvPr/>
        </p:nvSpPr>
        <p:spPr>
          <a:xfrm>
            <a:off x="812800" y="3588742"/>
            <a:ext cx="3488233" cy="299641"/>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4213D"/>
              </a:buClr>
              <a:buSzPts val="1800"/>
              <a:buFont typeface="DM Sans"/>
              <a:buNone/>
            </a:pPr>
            <a:r>
              <a:rPr lang="en-US" sz="1800" b="1" i="0" u="none" strike="noStrike" cap="none">
                <a:solidFill>
                  <a:srgbClr val="14213D"/>
                </a:solidFill>
                <a:latin typeface="DM Sans"/>
                <a:ea typeface="DM Sans"/>
                <a:cs typeface="DM Sans"/>
                <a:sym typeface="DM Sans"/>
              </a:rPr>
              <a:t>Cambios de la presentación</a:t>
            </a:r>
            <a:endParaRPr sz="1800" b="0" i="0" u="none" strike="noStrike" cap="none">
              <a:solidFill>
                <a:schemeClr val="dk1"/>
              </a:solidFill>
              <a:latin typeface="DM Sans"/>
              <a:ea typeface="DM Sans"/>
              <a:cs typeface="DM Sans"/>
              <a:sym typeface="DM Sans"/>
            </a:endParaRPr>
          </a:p>
        </p:txBody>
      </p:sp>
      <p:sp>
        <p:nvSpPr>
          <p:cNvPr id="45" name="Google Shape;45;p2"/>
          <p:cNvSpPr/>
          <p:nvPr/>
        </p:nvSpPr>
        <p:spPr>
          <a:xfrm>
            <a:off x="812800" y="3939183"/>
            <a:ext cx="3488233" cy="771922"/>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140000"/>
              </a:lnSpc>
              <a:spcBef>
                <a:spcPts val="0"/>
              </a:spcBef>
              <a:spcAft>
                <a:spcPts val="0"/>
              </a:spcAft>
              <a:buClr>
                <a:srgbClr val="4A5568"/>
              </a:buClr>
              <a:buSzPts val="1400"/>
              <a:buFont typeface="DM Sans"/>
              <a:buNone/>
            </a:pPr>
            <a:r>
              <a:rPr lang="en-US" sz="1400" b="0" i="0" u="none" strike="noStrike" cap="none">
                <a:solidFill>
                  <a:srgbClr val="4A5568"/>
                </a:solidFill>
                <a:latin typeface="DM Sans"/>
                <a:ea typeface="DM Sans"/>
                <a:cs typeface="DM Sans"/>
                <a:sym typeface="DM Sans"/>
              </a:rPr>
              <a:t>Reserva de 60 min con horario, faltas, lista de espera, avisos y 50 bahías: programados y probados (27/10).</a:t>
            </a:r>
            <a:endParaRPr sz="1400" b="0" i="0" u="none" strike="noStrike" cap="none">
              <a:solidFill>
                <a:schemeClr val="dk1"/>
              </a:solidFill>
              <a:latin typeface="DM Sans"/>
              <a:ea typeface="DM Sans"/>
              <a:cs typeface="DM Sans"/>
              <a:sym typeface="DM Sans"/>
            </a:endParaRPr>
          </a:p>
        </p:txBody>
      </p:sp>
      <p:cxnSp>
        <p:nvCxnSpPr>
          <p:cNvPr id="46" name="Google Shape;46;p2"/>
          <p:cNvCxnSpPr/>
          <p:nvPr/>
        </p:nvCxnSpPr>
        <p:spPr>
          <a:xfrm>
            <a:off x="4402634" y="3391892"/>
            <a:ext cx="3386733" cy="0"/>
          </a:xfrm>
          <a:prstGeom prst="straightConnector1">
            <a:avLst/>
          </a:prstGeom>
          <a:noFill/>
          <a:ln w="38100" cap="flat" cmpd="sng">
            <a:solidFill>
              <a:srgbClr val="2A78D6"/>
            </a:solidFill>
            <a:prstDash val="solid"/>
            <a:round/>
            <a:headEnd type="none" w="sm" len="sm"/>
            <a:tailEnd type="none" w="sm" len="sm"/>
          </a:ln>
        </p:spPr>
      </p:cxnSp>
      <p:sp>
        <p:nvSpPr>
          <p:cNvPr id="47" name="Google Shape;47;p2"/>
          <p:cNvSpPr/>
          <p:nvPr/>
        </p:nvSpPr>
        <p:spPr>
          <a:xfrm>
            <a:off x="4402634" y="3588742"/>
            <a:ext cx="3488335" cy="299641"/>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4213D"/>
              </a:buClr>
              <a:buSzPts val="1800"/>
              <a:buFont typeface="DM Sans"/>
              <a:buNone/>
            </a:pPr>
            <a:r>
              <a:rPr lang="en-US" sz="1800" b="1" i="0" u="none" strike="noStrike" cap="none">
                <a:solidFill>
                  <a:srgbClr val="14213D"/>
                </a:solidFill>
                <a:latin typeface="DM Sans"/>
                <a:ea typeface="DM Sans"/>
                <a:cs typeface="DM Sans"/>
                <a:sym typeface="DM Sans"/>
              </a:rPr>
              <a:t>Pruebas</a:t>
            </a:r>
            <a:endParaRPr sz="1800" b="0" i="0" u="none" strike="noStrike" cap="none">
              <a:solidFill>
                <a:schemeClr val="dk1"/>
              </a:solidFill>
              <a:latin typeface="DM Sans"/>
              <a:ea typeface="DM Sans"/>
              <a:cs typeface="DM Sans"/>
              <a:sym typeface="DM Sans"/>
            </a:endParaRPr>
          </a:p>
        </p:txBody>
      </p:sp>
      <p:sp>
        <p:nvSpPr>
          <p:cNvPr id="48" name="Google Shape;48;p2"/>
          <p:cNvSpPr/>
          <p:nvPr/>
        </p:nvSpPr>
        <p:spPr>
          <a:xfrm>
            <a:off x="4402634" y="3939183"/>
            <a:ext cx="3488335" cy="771922"/>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140000"/>
              </a:lnSpc>
              <a:spcBef>
                <a:spcPts val="0"/>
              </a:spcBef>
              <a:spcAft>
                <a:spcPts val="0"/>
              </a:spcAft>
              <a:buClr>
                <a:srgbClr val="4A5568"/>
              </a:buClr>
              <a:buSzPts val="1400"/>
              <a:buFont typeface="DM Sans"/>
              <a:buNone/>
            </a:pPr>
            <a:r>
              <a:rPr lang="en-US" sz="1400" b="0" i="0" u="none" strike="noStrike" cap="none">
                <a:solidFill>
                  <a:srgbClr val="4A5568"/>
                </a:solidFill>
                <a:latin typeface="DM Sans"/>
                <a:ea typeface="DM Sans"/>
                <a:cs typeface="DM Sans"/>
                <a:sym typeface="DM Sans"/>
              </a:rPr>
              <a:t>Regresión de la API (29/10): 112 de 115 OK y ninguna falla. Faltan los 22 casos de pantallas del Sprint 4.</a:t>
            </a:r>
            <a:endParaRPr sz="1400" b="0" i="0" u="none" strike="noStrike" cap="none">
              <a:solidFill>
                <a:schemeClr val="dk1"/>
              </a:solidFill>
              <a:latin typeface="DM Sans"/>
              <a:ea typeface="DM Sans"/>
              <a:cs typeface="DM Sans"/>
              <a:sym typeface="DM Sans"/>
            </a:endParaRPr>
          </a:p>
        </p:txBody>
      </p:sp>
      <p:cxnSp>
        <p:nvCxnSpPr>
          <p:cNvPr id="49" name="Google Shape;49;p2"/>
          <p:cNvCxnSpPr/>
          <p:nvPr/>
        </p:nvCxnSpPr>
        <p:spPr>
          <a:xfrm>
            <a:off x="7992566" y="3391892"/>
            <a:ext cx="3386634" cy="0"/>
          </a:xfrm>
          <a:prstGeom prst="straightConnector1">
            <a:avLst/>
          </a:prstGeom>
          <a:noFill/>
          <a:ln w="38100" cap="flat" cmpd="sng">
            <a:solidFill>
              <a:srgbClr val="2A78D6"/>
            </a:solidFill>
            <a:prstDash val="solid"/>
            <a:round/>
            <a:headEnd type="none" w="sm" len="sm"/>
            <a:tailEnd type="none" w="sm" len="sm"/>
          </a:ln>
        </p:spPr>
      </p:cxnSp>
      <p:sp>
        <p:nvSpPr>
          <p:cNvPr id="50" name="Google Shape;50;p2"/>
          <p:cNvSpPr/>
          <p:nvPr/>
        </p:nvSpPr>
        <p:spPr>
          <a:xfrm>
            <a:off x="7992566" y="3588742"/>
            <a:ext cx="3488233" cy="299641"/>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4213D"/>
              </a:buClr>
              <a:buSzPts val="1800"/>
              <a:buFont typeface="DM Sans"/>
              <a:buNone/>
            </a:pPr>
            <a:r>
              <a:rPr lang="en-US" sz="1800" b="1" i="0" u="none" strike="noStrike" cap="none">
                <a:solidFill>
                  <a:srgbClr val="14213D"/>
                </a:solidFill>
                <a:latin typeface="DM Sans"/>
                <a:ea typeface="DM Sans"/>
                <a:cs typeface="DM Sans"/>
                <a:sym typeface="DM Sans"/>
              </a:rPr>
              <a:t>Datos y analítica</a:t>
            </a:r>
            <a:endParaRPr sz="1800" b="0" i="0" u="none" strike="noStrike" cap="none">
              <a:solidFill>
                <a:schemeClr val="dk1"/>
              </a:solidFill>
              <a:latin typeface="DM Sans"/>
              <a:ea typeface="DM Sans"/>
              <a:cs typeface="DM Sans"/>
              <a:sym typeface="DM Sans"/>
            </a:endParaRPr>
          </a:p>
        </p:txBody>
      </p:sp>
      <p:sp>
        <p:nvSpPr>
          <p:cNvPr id="51" name="Google Shape;51;p2"/>
          <p:cNvSpPr/>
          <p:nvPr/>
        </p:nvSpPr>
        <p:spPr>
          <a:xfrm>
            <a:off x="7992566" y="3939183"/>
            <a:ext cx="3488233" cy="771922"/>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140000"/>
              </a:lnSpc>
              <a:spcBef>
                <a:spcPts val="0"/>
              </a:spcBef>
              <a:spcAft>
                <a:spcPts val="0"/>
              </a:spcAft>
              <a:buClr>
                <a:srgbClr val="4A5568"/>
              </a:buClr>
              <a:buSzPts val="1400"/>
              <a:buFont typeface="DM Sans"/>
              <a:buNone/>
            </a:pPr>
            <a:r>
              <a:rPr lang="en-US" sz="1400" b="0" i="0" u="none" strike="noStrike" cap="none">
                <a:solidFill>
                  <a:srgbClr val="4A5568"/>
                </a:solidFill>
                <a:latin typeface="DM Sans"/>
                <a:ea typeface="DM Sans"/>
                <a:cs typeface="DM Sans"/>
                <a:sym typeface="DM Sans"/>
              </a:rPr>
              <a:t>Historial nuevo con 50 bahías. El panel muestra gráficos propios, porque el instituto bloquea Power BI embebido.</a:t>
            </a:r>
            <a:endParaRPr sz="1400" b="0" i="0" u="none" strike="noStrike" cap="none">
              <a:solidFill>
                <a:schemeClr val="dk1"/>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Shape 119"/>
        <p:cNvGrpSpPr/>
        <p:nvPr/>
      </p:nvGrpSpPr>
      <p:grpSpPr>
        <a:xfrm>
          <a:off x="0" y="0"/>
          <a:ext cx="0" cy="0"/>
          <a:chOff x="0" y="0"/>
          <a:chExt cx="0" cy="0"/>
        </a:xfrm>
      </p:grpSpPr>
      <p:sp>
        <p:nvSpPr>
          <p:cNvPr id="120" name="Google Shape;120;p6"/>
          <p:cNvSpPr txBox="1">
            <a:spLocks noGrp="1"/>
          </p:cNvSpPr>
          <p:nvPr>
            <p:ph type="title"/>
          </p:nvPr>
        </p:nvSpPr>
        <p:spPr>
          <a:xfrm>
            <a:off x="812800" y="812800"/>
            <a:ext cx="10883392" cy="472380"/>
          </a:xfrm>
          <a:prstGeom prst="rect">
            <a:avLst/>
          </a:prstGeom>
          <a:noFill/>
          <a:ln>
            <a:noFill/>
          </a:ln>
        </p:spPr>
        <p:txBody>
          <a:bodyPr spcFirstLastPara="1" wrap="square" lIns="0" tIns="0" rIns="0" bIns="0" anchor="t" anchorCtr="0">
            <a:normAutofit fontScale="90000"/>
          </a:bodyPr>
          <a:lstStyle/>
          <a:p>
            <a:pPr marL="0" lvl="0" indent="0" algn="l" rtl="0">
              <a:lnSpc>
                <a:spcPct val="110000"/>
              </a:lnSpc>
              <a:spcBef>
                <a:spcPts val="0"/>
              </a:spcBef>
              <a:spcAft>
                <a:spcPts val="0"/>
              </a:spcAft>
              <a:buClr>
                <a:srgbClr val="14213D"/>
              </a:buClr>
              <a:buSzPts val="3200"/>
              <a:buFont typeface="DM Sans"/>
              <a:buNone/>
            </a:pPr>
            <a:r>
              <a:rPr lang="en-US" sz="3200" b="1" i="0">
                <a:solidFill>
                  <a:srgbClr val="14213D"/>
                </a:solidFill>
                <a:latin typeface="DM Sans"/>
                <a:ea typeface="DM Sans"/>
                <a:cs typeface="DM Sans"/>
                <a:sym typeface="DM Sans"/>
              </a:rPr>
              <a:t>Cambios pedidos en la presentación del 23/10</a:t>
            </a:r>
            <a:endParaRPr sz="3200"/>
          </a:p>
        </p:txBody>
      </p:sp>
      <p:sp>
        <p:nvSpPr>
          <p:cNvPr id="121" name="Google Shape;121;p6"/>
          <p:cNvSpPr/>
          <p:nvPr/>
        </p:nvSpPr>
        <p:spPr>
          <a:xfrm>
            <a:off x="819150" y="1520130"/>
            <a:ext cx="3373934" cy="3394770"/>
          </a:xfrm>
          <a:prstGeom prst="roundRect">
            <a:avLst>
              <a:gd name="adj" fmla="val 3027"/>
            </a:avLst>
          </a:prstGeom>
          <a:solidFill>
            <a:srgbClr val="FCFCFB"/>
          </a:solidFill>
          <a:ln w="12700" cap="flat" cmpd="sng">
            <a:solidFill>
              <a:srgbClr val="DCDDD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6"/>
          <p:cNvSpPr/>
          <p:nvPr/>
        </p:nvSpPr>
        <p:spPr>
          <a:xfrm>
            <a:off x="1054100" y="1755080"/>
            <a:ext cx="2991155" cy="299641"/>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4213D"/>
              </a:buClr>
              <a:buSzPts val="1800"/>
              <a:buFont typeface="DM Sans"/>
              <a:buNone/>
            </a:pPr>
            <a:r>
              <a:rPr lang="en-US" sz="1800" b="1" i="0" u="none" strike="noStrike" cap="none">
                <a:solidFill>
                  <a:srgbClr val="14213D"/>
                </a:solidFill>
                <a:latin typeface="DM Sans"/>
                <a:ea typeface="DM Sans"/>
                <a:cs typeface="DM Sans"/>
                <a:sym typeface="DM Sans"/>
              </a:rPr>
              <a:t>Reserva y horario</a:t>
            </a:r>
            <a:endParaRPr sz="1800" b="0" i="0" u="none" strike="noStrike" cap="none">
              <a:solidFill>
                <a:schemeClr val="dk1"/>
              </a:solidFill>
              <a:latin typeface="DM Sans"/>
              <a:ea typeface="DM Sans"/>
              <a:cs typeface="DM Sans"/>
              <a:sym typeface="DM Sans"/>
            </a:endParaRPr>
          </a:p>
        </p:txBody>
      </p:sp>
      <p:sp>
        <p:nvSpPr>
          <p:cNvPr id="123" name="Google Shape;123;p6"/>
          <p:cNvSpPr/>
          <p:nvPr/>
        </p:nvSpPr>
        <p:spPr>
          <a:xfrm>
            <a:off x="1054100" y="2054721"/>
            <a:ext cx="2991155"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A78D6"/>
              </a:buClr>
              <a:buSzPts val="1200"/>
              <a:buFont typeface="DM Sans"/>
              <a:buNone/>
            </a:pPr>
            <a:r>
              <a:rPr lang="en-US" sz="1200" b="1" i="0" u="none" strike="noStrike" cap="none">
                <a:solidFill>
                  <a:srgbClr val="2A78D6"/>
                </a:solidFill>
                <a:latin typeface="DM Sans"/>
                <a:ea typeface="DM Sans"/>
                <a:cs typeface="DM Sans"/>
                <a:sym typeface="DM Sans"/>
              </a:rPr>
              <a:t>HU-06 · CC-18, CC-19 y CC-22</a:t>
            </a:r>
            <a:endParaRPr sz="1200" b="0" i="0" u="none" strike="noStrike" cap="none">
              <a:solidFill>
                <a:schemeClr val="dk1"/>
              </a:solidFill>
              <a:latin typeface="DM Sans"/>
              <a:ea typeface="DM Sans"/>
              <a:cs typeface="DM Sans"/>
              <a:sym typeface="DM Sans"/>
            </a:endParaRPr>
          </a:p>
        </p:txBody>
      </p:sp>
      <p:sp>
        <p:nvSpPr>
          <p:cNvPr id="124" name="Google Shape;124;p6"/>
          <p:cNvSpPr/>
          <p:nvPr/>
        </p:nvSpPr>
        <p:spPr>
          <a:xfrm>
            <a:off x="1054100" y="2395041"/>
            <a:ext cx="2991155" cy="2377440"/>
          </a:xfrm>
          <a:prstGeom prst="rect">
            <a:avLst/>
          </a:prstGeom>
          <a:noFill/>
          <a:ln>
            <a:noFill/>
          </a:ln>
        </p:spPr>
        <p:txBody>
          <a:bodyPr spcFirstLastPara="1" wrap="square" lIns="0" tIns="0" rIns="0" bIns="0" anchor="t" anchorCtr="0"/>
          <a:lstStyle/>
          <a:p>
            <a:pPr marL="0" marR="0" lvl="0" indent="0" algn="l" rtl="0">
              <a:lnSpc>
                <a:spcPct val="135000"/>
              </a:lnSpc>
              <a:spcBef>
                <a:spcPts val="0"/>
              </a:spcBef>
              <a:spcAft>
                <a:spcPts val="0"/>
              </a:spcAft>
              <a:buClr>
                <a:srgbClr val="4A5568"/>
              </a:buClr>
              <a:buSzPts val="1300"/>
              <a:buFont typeface="DM Sans"/>
              <a:buNone/>
            </a:pPr>
            <a:r>
              <a:rPr lang="en-US" sz="1300" b="1" i="0" u="none" strike="noStrike" cap="none">
                <a:solidFill>
                  <a:srgbClr val="4A5568"/>
                </a:solidFill>
                <a:latin typeface="DM Sans"/>
                <a:ea typeface="DM Sans"/>
                <a:cs typeface="DM Sans"/>
                <a:sym typeface="DM Sans"/>
              </a:rPr>
              <a:t>Antes:</a:t>
            </a:r>
            <a:r>
              <a:rPr lang="en-US" sz="1300" b="0" i="0" u="none" strike="noStrike" cap="none">
                <a:solidFill>
                  <a:srgbClr val="4A5568"/>
                </a:solidFill>
                <a:latin typeface="DM Sans"/>
                <a:ea typeface="DM Sans"/>
                <a:cs typeface="DM Sans"/>
                <a:sym typeface="DM Sans"/>
              </a:rPr>
              <a:t> 15 min para llegar y solo 4 bahías.</a:t>
            </a:r>
            <a:endParaRPr sz="1300" b="0" i="0" u="none" strike="noStrike" cap="none">
              <a:solidFill>
                <a:schemeClr val="dk1"/>
              </a:solidFill>
              <a:latin typeface="DM Sans"/>
              <a:ea typeface="DM Sans"/>
              <a:cs typeface="DM Sans"/>
              <a:sym typeface="DM Sans"/>
            </a:endParaRPr>
          </a:p>
          <a:p>
            <a:pPr marL="0" marR="0" lvl="0" indent="0" algn="l" rtl="0">
              <a:lnSpc>
                <a:spcPct val="135000"/>
              </a:lnSpc>
              <a:spcBef>
                <a:spcPts val="800"/>
              </a:spcBef>
              <a:spcAft>
                <a:spcPts val="0"/>
              </a:spcAft>
              <a:buClr>
                <a:srgbClr val="4A5568"/>
              </a:buClr>
              <a:buSzPts val="1300"/>
              <a:buFont typeface="DM Sans"/>
              <a:buNone/>
            </a:pPr>
            <a:r>
              <a:rPr lang="en-US" sz="1300" b="1" i="0" u="none" strike="noStrike" cap="none">
                <a:solidFill>
                  <a:srgbClr val="4A5568"/>
                </a:solidFill>
                <a:latin typeface="DM Sans"/>
                <a:ea typeface="DM Sans"/>
                <a:cs typeface="DM Sans"/>
                <a:sym typeface="DM Sans"/>
              </a:rPr>
              <a:t>Ahora:</a:t>
            </a:r>
            <a:r>
              <a:rPr lang="en-US" sz="1300" b="0" i="0" u="none" strike="noStrike" cap="none">
                <a:solidFill>
                  <a:srgbClr val="4A5568"/>
                </a:solidFill>
                <a:latin typeface="DM Sans"/>
                <a:ea typeface="DM Sans"/>
                <a:cs typeface="DM Sans"/>
                <a:sym typeface="DM Sans"/>
              </a:rPr>
              <a:t> 60 min para llegar; se reserva L-V de 07:00 a 21:30 y sáb. de 07:00 a 15:00; 50 bahías.</a:t>
            </a:r>
            <a:endParaRPr sz="1300" b="0" i="0" u="none" strike="noStrike" cap="none">
              <a:solidFill>
                <a:schemeClr val="dk1"/>
              </a:solidFill>
              <a:latin typeface="DM Sans"/>
              <a:ea typeface="DM Sans"/>
              <a:cs typeface="DM Sans"/>
              <a:sym typeface="DM Sans"/>
            </a:endParaRPr>
          </a:p>
          <a:p>
            <a:pPr marL="0" marR="0" lvl="0" indent="0" algn="l" rtl="0">
              <a:lnSpc>
                <a:spcPct val="135000"/>
              </a:lnSpc>
              <a:spcBef>
                <a:spcPts val="800"/>
              </a:spcBef>
              <a:spcAft>
                <a:spcPts val="0"/>
              </a:spcAft>
              <a:buClr>
                <a:srgbClr val="4A5568"/>
              </a:buClr>
              <a:buSzPts val="1300"/>
              <a:buFont typeface="DM Sans"/>
              <a:buNone/>
            </a:pPr>
            <a:r>
              <a:rPr lang="en-US" sz="1300" b="1" i="0" u="none" strike="noStrike" cap="none">
                <a:solidFill>
                  <a:srgbClr val="4A5568"/>
                </a:solidFill>
                <a:latin typeface="DM Sans"/>
                <a:ea typeface="DM Sans"/>
                <a:cs typeface="DM Sans"/>
                <a:sym typeface="DM Sans"/>
              </a:rPr>
              <a:t>Descartado:</a:t>
            </a:r>
            <a:r>
              <a:rPr lang="en-US" sz="1300" b="0" i="0" u="none" strike="noStrike" cap="none">
                <a:solidFill>
                  <a:srgbClr val="4A5568"/>
                </a:solidFill>
                <a:latin typeface="DM Sans"/>
                <a:ea typeface="DM Sans"/>
                <a:cs typeface="DM Sans"/>
                <a:sym typeface="DM Sans"/>
              </a:rPr>
              <a:t> reservar con días de anticipación.</a:t>
            </a:r>
            <a:endParaRPr sz="1300" b="0" i="0" u="none" strike="noStrike" cap="none">
              <a:solidFill>
                <a:schemeClr val="dk1"/>
              </a:solidFill>
              <a:latin typeface="DM Sans"/>
              <a:ea typeface="DM Sans"/>
              <a:cs typeface="DM Sans"/>
              <a:sym typeface="DM Sans"/>
            </a:endParaRPr>
          </a:p>
        </p:txBody>
      </p:sp>
      <p:sp>
        <p:nvSpPr>
          <p:cNvPr id="127" name="Google Shape;127;p6"/>
          <p:cNvSpPr/>
          <p:nvPr/>
        </p:nvSpPr>
        <p:spPr>
          <a:xfrm>
            <a:off x="4408984" y="1520130"/>
            <a:ext cx="3374033" cy="3394770"/>
          </a:xfrm>
          <a:prstGeom prst="roundRect">
            <a:avLst>
              <a:gd name="adj" fmla="val 3027"/>
            </a:avLst>
          </a:prstGeom>
          <a:solidFill>
            <a:srgbClr val="FCFCFB"/>
          </a:solidFill>
          <a:ln w="12700" cap="flat" cmpd="sng">
            <a:solidFill>
              <a:srgbClr val="DCDDD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6"/>
          <p:cNvSpPr/>
          <p:nvPr/>
        </p:nvSpPr>
        <p:spPr>
          <a:xfrm>
            <a:off x="4643934" y="1755080"/>
            <a:ext cx="2991257" cy="299641"/>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4213D"/>
              </a:buClr>
              <a:buSzPts val="1800"/>
              <a:buFont typeface="DM Sans"/>
              <a:buNone/>
            </a:pPr>
            <a:r>
              <a:rPr lang="en-US" sz="1800" b="1" i="0" u="none" strike="noStrike" cap="none">
                <a:solidFill>
                  <a:srgbClr val="14213D"/>
                </a:solidFill>
                <a:latin typeface="DM Sans"/>
                <a:ea typeface="DM Sans"/>
                <a:cs typeface="DM Sans"/>
                <a:sym typeface="DM Sans"/>
              </a:rPr>
              <a:t>Faltas</a:t>
            </a:r>
            <a:endParaRPr sz="1800" b="0" i="0" u="none" strike="noStrike" cap="none">
              <a:solidFill>
                <a:schemeClr val="dk1"/>
              </a:solidFill>
              <a:latin typeface="DM Sans"/>
              <a:ea typeface="DM Sans"/>
              <a:cs typeface="DM Sans"/>
              <a:sym typeface="DM Sans"/>
            </a:endParaRPr>
          </a:p>
        </p:txBody>
      </p:sp>
      <p:sp>
        <p:nvSpPr>
          <p:cNvPr id="129" name="Google Shape;129;p6"/>
          <p:cNvSpPr/>
          <p:nvPr/>
        </p:nvSpPr>
        <p:spPr>
          <a:xfrm>
            <a:off x="4643934" y="2054721"/>
            <a:ext cx="2991257"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A78D6"/>
              </a:buClr>
              <a:buSzPts val="1200"/>
              <a:buFont typeface="DM Sans"/>
              <a:buNone/>
            </a:pPr>
            <a:r>
              <a:rPr lang="en-US" sz="1200" b="1" i="0" u="none" strike="noStrike" cap="none">
                <a:solidFill>
                  <a:srgbClr val="2A78D6"/>
                </a:solidFill>
                <a:latin typeface="DM Sans"/>
                <a:ea typeface="DM Sans"/>
                <a:cs typeface="DM Sans"/>
                <a:sym typeface="DM Sans"/>
              </a:rPr>
              <a:t>HU-13 · CC-20</a:t>
            </a:r>
            <a:endParaRPr sz="1200" b="0" i="0" u="none" strike="noStrike" cap="none">
              <a:solidFill>
                <a:schemeClr val="dk1"/>
              </a:solidFill>
              <a:latin typeface="DM Sans"/>
              <a:ea typeface="DM Sans"/>
              <a:cs typeface="DM Sans"/>
              <a:sym typeface="DM Sans"/>
            </a:endParaRPr>
          </a:p>
        </p:txBody>
      </p:sp>
      <p:sp>
        <p:nvSpPr>
          <p:cNvPr id="130" name="Google Shape;130;p6"/>
          <p:cNvSpPr/>
          <p:nvPr/>
        </p:nvSpPr>
        <p:spPr>
          <a:xfrm>
            <a:off x="4643934" y="2395041"/>
            <a:ext cx="2991257" cy="2377440"/>
          </a:xfrm>
          <a:prstGeom prst="rect">
            <a:avLst/>
          </a:prstGeom>
          <a:noFill/>
          <a:ln>
            <a:noFill/>
          </a:ln>
        </p:spPr>
        <p:txBody>
          <a:bodyPr spcFirstLastPara="1" wrap="square" lIns="0" tIns="0" rIns="0" bIns="0" anchor="t" anchorCtr="0"/>
          <a:lstStyle/>
          <a:p>
            <a:pPr marL="0" marR="0" lvl="0" indent="0" algn="l" rtl="0">
              <a:lnSpc>
                <a:spcPct val="135000"/>
              </a:lnSpc>
              <a:spcBef>
                <a:spcPts val="0"/>
              </a:spcBef>
              <a:spcAft>
                <a:spcPts val="0"/>
              </a:spcAft>
              <a:buClr>
                <a:srgbClr val="4A5568"/>
              </a:buClr>
              <a:buSzPts val="1300"/>
              <a:buFont typeface="DM Sans"/>
              <a:buNone/>
            </a:pPr>
            <a:r>
              <a:rPr lang="en-US" sz="1300" b="1" i="0" u="none" strike="noStrike" cap="none">
                <a:solidFill>
                  <a:srgbClr val="4A5568"/>
                </a:solidFill>
                <a:latin typeface="DM Sans"/>
                <a:ea typeface="DM Sans"/>
                <a:cs typeface="DM Sans"/>
                <a:sym typeface="DM Sans"/>
              </a:rPr>
              <a:t>Pedido:</a:t>
            </a:r>
            <a:r>
              <a:rPr lang="en-US" sz="1300" b="0" i="0" u="none" strike="noStrike" cap="none">
                <a:solidFill>
                  <a:srgbClr val="4A5568"/>
                </a:solidFill>
                <a:latin typeface="DM Sans"/>
                <a:ea typeface="DM Sans"/>
                <a:cs typeface="DM Sans"/>
                <a:sym typeface="DM Sans"/>
              </a:rPr>
              <a:t> castigar a quien reserva y no llega.</a:t>
            </a:r>
            <a:endParaRPr sz="1300" b="0" i="0" u="none" strike="noStrike" cap="none">
              <a:solidFill>
                <a:schemeClr val="dk1"/>
              </a:solidFill>
              <a:latin typeface="DM Sans"/>
              <a:ea typeface="DM Sans"/>
              <a:cs typeface="DM Sans"/>
              <a:sym typeface="DM Sans"/>
            </a:endParaRPr>
          </a:p>
          <a:p>
            <a:pPr marL="0" marR="0" lvl="0" indent="0" algn="l" rtl="0">
              <a:lnSpc>
                <a:spcPct val="135000"/>
              </a:lnSpc>
              <a:spcBef>
                <a:spcPts val="800"/>
              </a:spcBef>
              <a:spcAft>
                <a:spcPts val="0"/>
              </a:spcAft>
              <a:buClr>
                <a:srgbClr val="4A5568"/>
              </a:buClr>
              <a:buSzPts val="1300"/>
              <a:buFont typeface="DM Sans"/>
              <a:buNone/>
            </a:pPr>
            <a:r>
              <a:rPr lang="en-US" sz="1300" b="1" i="0" u="none" strike="noStrike" cap="none">
                <a:solidFill>
                  <a:srgbClr val="4A5568"/>
                </a:solidFill>
                <a:latin typeface="DM Sans"/>
                <a:ea typeface="DM Sans"/>
                <a:cs typeface="DM Sans"/>
                <a:sym typeface="DM Sans"/>
              </a:rPr>
              <a:t>Ahora:</a:t>
            </a:r>
            <a:r>
              <a:rPr lang="en-US" sz="1300" b="0" i="0" u="none" strike="noStrike" cap="none">
                <a:solidFill>
                  <a:srgbClr val="4A5568"/>
                </a:solidFill>
                <a:latin typeface="DM Sans"/>
                <a:ea typeface="DM Sans"/>
                <a:cs typeface="DM Sans"/>
                <a:sym typeface="DM Sans"/>
              </a:rPr>
              <a:t> cada reserva vencida es una falta; con 3 no se puede reservar.</a:t>
            </a:r>
            <a:endParaRPr sz="1300" b="0" i="0" u="none" strike="noStrike" cap="none">
              <a:solidFill>
                <a:schemeClr val="dk1"/>
              </a:solidFill>
              <a:latin typeface="DM Sans"/>
              <a:ea typeface="DM Sans"/>
              <a:cs typeface="DM Sans"/>
              <a:sym typeface="DM Sans"/>
            </a:endParaRPr>
          </a:p>
          <a:p>
            <a:pPr marL="0" marR="0" lvl="0" indent="0" algn="l" rtl="0">
              <a:lnSpc>
                <a:spcPct val="135000"/>
              </a:lnSpc>
              <a:spcBef>
                <a:spcPts val="800"/>
              </a:spcBef>
              <a:spcAft>
                <a:spcPts val="0"/>
              </a:spcAft>
              <a:buClr>
                <a:srgbClr val="4A5568"/>
              </a:buClr>
              <a:buSzPts val="1300"/>
              <a:buFont typeface="DM Sans"/>
              <a:buNone/>
            </a:pPr>
            <a:r>
              <a:rPr lang="en-US" sz="1300" b="1" i="0" u="none" strike="noStrike" cap="none">
                <a:solidFill>
                  <a:srgbClr val="4A5568"/>
                </a:solidFill>
                <a:latin typeface="DM Sans"/>
                <a:ea typeface="DM Sans"/>
                <a:cs typeface="DM Sans"/>
                <a:sym typeface="DM Sans"/>
              </a:rPr>
              <a:t>Admin:</a:t>
            </a:r>
            <a:r>
              <a:rPr lang="en-US" sz="1300" b="0" i="0" u="none" strike="noStrike" cap="none">
                <a:solidFill>
                  <a:srgbClr val="4A5568"/>
                </a:solidFill>
                <a:latin typeface="DM Sans"/>
                <a:ea typeface="DM Sans"/>
                <a:cs typeface="DM Sans"/>
                <a:sym typeface="DM Sans"/>
              </a:rPr>
              <a:t> anula las faltas desde el panel. La app se sigue usando.</a:t>
            </a:r>
            <a:endParaRPr sz="1300" b="0" i="0" u="none" strike="noStrike" cap="none">
              <a:solidFill>
                <a:schemeClr val="dk1"/>
              </a:solidFill>
              <a:latin typeface="DM Sans"/>
              <a:ea typeface="DM Sans"/>
              <a:cs typeface="DM Sans"/>
              <a:sym typeface="DM Sans"/>
            </a:endParaRPr>
          </a:p>
        </p:txBody>
      </p:sp>
      <p:sp>
        <p:nvSpPr>
          <p:cNvPr id="133" name="Google Shape;133;p6"/>
          <p:cNvSpPr/>
          <p:nvPr/>
        </p:nvSpPr>
        <p:spPr>
          <a:xfrm>
            <a:off x="7998916" y="1520130"/>
            <a:ext cx="3373934" cy="3394770"/>
          </a:xfrm>
          <a:prstGeom prst="roundRect">
            <a:avLst>
              <a:gd name="adj" fmla="val 3027"/>
            </a:avLst>
          </a:prstGeom>
          <a:solidFill>
            <a:srgbClr val="FCFCFB"/>
          </a:solidFill>
          <a:ln w="12700" cap="flat" cmpd="sng">
            <a:solidFill>
              <a:srgbClr val="DCDDD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6"/>
          <p:cNvSpPr/>
          <p:nvPr/>
        </p:nvSpPr>
        <p:spPr>
          <a:xfrm>
            <a:off x="8233866" y="1755080"/>
            <a:ext cx="2991155" cy="299641"/>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4213D"/>
              </a:buClr>
              <a:buSzPts val="1800"/>
              <a:buFont typeface="DM Sans"/>
              <a:buNone/>
            </a:pPr>
            <a:r>
              <a:rPr lang="en-US" sz="1800" b="1" i="0" u="none" strike="noStrike" cap="none">
                <a:solidFill>
                  <a:srgbClr val="14213D"/>
                </a:solidFill>
                <a:latin typeface="DM Sans"/>
                <a:ea typeface="DM Sans"/>
                <a:cs typeface="DM Sans"/>
                <a:sym typeface="DM Sans"/>
              </a:rPr>
              <a:t>Lista de espera y avisos</a:t>
            </a:r>
            <a:endParaRPr sz="1800" b="0" i="0" u="none" strike="noStrike" cap="none">
              <a:solidFill>
                <a:schemeClr val="dk1"/>
              </a:solidFill>
              <a:latin typeface="DM Sans"/>
              <a:ea typeface="DM Sans"/>
              <a:cs typeface="DM Sans"/>
              <a:sym typeface="DM Sans"/>
            </a:endParaRPr>
          </a:p>
        </p:txBody>
      </p:sp>
      <p:sp>
        <p:nvSpPr>
          <p:cNvPr id="135" name="Google Shape;135;p6"/>
          <p:cNvSpPr/>
          <p:nvPr/>
        </p:nvSpPr>
        <p:spPr>
          <a:xfrm>
            <a:off x="8233866" y="2054721"/>
            <a:ext cx="2991155"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A78D6"/>
              </a:buClr>
              <a:buSzPts val="1200"/>
              <a:buFont typeface="DM Sans"/>
              <a:buNone/>
            </a:pPr>
            <a:r>
              <a:rPr lang="en-US" sz="1200" b="1" i="0" u="none" strike="noStrike" cap="none">
                <a:solidFill>
                  <a:srgbClr val="2A78D6"/>
                </a:solidFill>
                <a:latin typeface="DM Sans"/>
                <a:ea typeface="DM Sans"/>
                <a:cs typeface="DM Sans"/>
                <a:sym typeface="DM Sans"/>
              </a:rPr>
              <a:t>HU-12 y HU-14 · CC-21</a:t>
            </a:r>
            <a:endParaRPr sz="1200" b="0" i="0" u="none" strike="noStrike" cap="none">
              <a:solidFill>
                <a:schemeClr val="dk1"/>
              </a:solidFill>
              <a:latin typeface="DM Sans"/>
              <a:ea typeface="DM Sans"/>
              <a:cs typeface="DM Sans"/>
              <a:sym typeface="DM Sans"/>
            </a:endParaRPr>
          </a:p>
        </p:txBody>
      </p:sp>
      <p:sp>
        <p:nvSpPr>
          <p:cNvPr id="136" name="Google Shape;136;p6"/>
          <p:cNvSpPr/>
          <p:nvPr/>
        </p:nvSpPr>
        <p:spPr>
          <a:xfrm>
            <a:off x="8233866" y="2395041"/>
            <a:ext cx="2991155" cy="2377440"/>
          </a:xfrm>
          <a:prstGeom prst="rect">
            <a:avLst/>
          </a:prstGeom>
          <a:noFill/>
          <a:ln>
            <a:noFill/>
          </a:ln>
        </p:spPr>
        <p:txBody>
          <a:bodyPr spcFirstLastPara="1" wrap="square" lIns="0" tIns="0" rIns="0" bIns="0" anchor="t" anchorCtr="0"/>
          <a:lstStyle/>
          <a:p>
            <a:pPr marL="0" marR="0" lvl="0" indent="0" algn="l" rtl="0">
              <a:lnSpc>
                <a:spcPct val="135000"/>
              </a:lnSpc>
              <a:spcBef>
                <a:spcPts val="0"/>
              </a:spcBef>
              <a:spcAft>
                <a:spcPts val="0"/>
              </a:spcAft>
              <a:buClr>
                <a:srgbClr val="4A5568"/>
              </a:buClr>
              <a:buSzPts val="1300"/>
              <a:buFont typeface="DM Sans"/>
              <a:buNone/>
            </a:pPr>
            <a:r>
              <a:rPr lang="en-US" sz="1300" b="1" i="0" u="none" strike="noStrike" cap="none">
                <a:solidFill>
                  <a:srgbClr val="4A5568"/>
                </a:solidFill>
                <a:latin typeface="DM Sans"/>
                <a:ea typeface="DM Sans"/>
                <a:cs typeface="DM Sans"/>
                <a:sym typeface="DM Sans"/>
              </a:rPr>
              <a:t>Pedido:</a:t>
            </a:r>
            <a:r>
              <a:rPr lang="en-US" sz="1300" b="0" i="0" u="none" strike="noStrike" cap="none">
                <a:solidFill>
                  <a:srgbClr val="4A5568"/>
                </a:solidFill>
                <a:latin typeface="DM Sans"/>
                <a:ea typeface="DM Sans"/>
                <a:cs typeface="DM Sans"/>
                <a:sym typeface="DM Sans"/>
              </a:rPr>
              <a:t> avisar cuando se libere una bahía si están todas ocupadas.</a:t>
            </a:r>
            <a:endParaRPr sz="1300" b="0" i="0" u="none" strike="noStrike" cap="none">
              <a:solidFill>
                <a:schemeClr val="dk1"/>
              </a:solidFill>
              <a:latin typeface="DM Sans"/>
              <a:ea typeface="DM Sans"/>
              <a:cs typeface="DM Sans"/>
              <a:sym typeface="DM Sans"/>
            </a:endParaRPr>
          </a:p>
          <a:p>
            <a:pPr marL="0" marR="0" lvl="0" indent="0" algn="l" rtl="0">
              <a:lnSpc>
                <a:spcPct val="135000"/>
              </a:lnSpc>
              <a:spcBef>
                <a:spcPts val="800"/>
              </a:spcBef>
              <a:spcAft>
                <a:spcPts val="0"/>
              </a:spcAft>
              <a:buClr>
                <a:srgbClr val="4A5568"/>
              </a:buClr>
              <a:buSzPts val="1300"/>
              <a:buFont typeface="DM Sans"/>
              <a:buNone/>
            </a:pPr>
            <a:r>
              <a:rPr lang="en-US" sz="1300" b="1" i="0" u="none" strike="noStrike" cap="none">
                <a:solidFill>
                  <a:srgbClr val="4A5568"/>
                </a:solidFill>
                <a:latin typeface="DM Sans"/>
                <a:ea typeface="DM Sans"/>
                <a:cs typeface="DM Sans"/>
                <a:sym typeface="DM Sans"/>
              </a:rPr>
              <a:t>Ahora:</a:t>
            </a:r>
            <a:r>
              <a:rPr lang="en-US" sz="1300" b="0" i="0" u="none" strike="noStrike" cap="none">
                <a:solidFill>
                  <a:srgbClr val="4A5568"/>
                </a:solidFill>
                <a:latin typeface="DM Sans"/>
                <a:ea typeface="DM Sans"/>
                <a:cs typeface="DM Sans"/>
                <a:sym typeface="DM Sans"/>
              </a:rPr>
              <a:t> la bahía se guarda 15 min al primero de la lista.</a:t>
            </a:r>
            <a:endParaRPr sz="1300" b="0" i="0" u="none" strike="noStrike" cap="none">
              <a:solidFill>
                <a:schemeClr val="dk1"/>
              </a:solidFill>
              <a:latin typeface="DM Sans"/>
              <a:ea typeface="DM Sans"/>
              <a:cs typeface="DM Sans"/>
              <a:sym typeface="DM Sans"/>
            </a:endParaRPr>
          </a:p>
          <a:p>
            <a:pPr marL="0" marR="0" lvl="0" indent="0" algn="l" rtl="0">
              <a:lnSpc>
                <a:spcPct val="135000"/>
              </a:lnSpc>
              <a:spcBef>
                <a:spcPts val="800"/>
              </a:spcBef>
              <a:spcAft>
                <a:spcPts val="0"/>
              </a:spcAft>
              <a:buClr>
                <a:srgbClr val="4A5568"/>
              </a:buClr>
              <a:buSzPts val="1300"/>
              <a:buFont typeface="DM Sans"/>
              <a:buNone/>
            </a:pPr>
            <a:r>
              <a:rPr lang="en-US" sz="1300" b="1" i="0" u="none" strike="noStrike" cap="none" dirty="0">
                <a:solidFill>
                  <a:srgbClr val="4A5568"/>
                </a:solidFill>
                <a:latin typeface="DM Sans"/>
                <a:ea typeface="DM Sans"/>
                <a:cs typeface="DM Sans"/>
                <a:sym typeface="DM Sans"/>
              </a:rPr>
              <a:t>Aviso:</a:t>
            </a:r>
            <a:r>
              <a:rPr lang="en-US" sz="1300" b="0" i="0" u="none" strike="noStrike" cap="none" dirty="0">
                <a:solidFill>
                  <a:srgbClr val="4A5568"/>
                </a:solidFill>
                <a:latin typeface="DM Sans"/>
                <a:ea typeface="DM Sans"/>
                <a:cs typeface="DM Sans"/>
                <a:sym typeface="DM Sans"/>
              </a:rPr>
              <a:t> campana dentro de la app (sin correo ni push por ahora).</a:t>
            </a:r>
            <a:endParaRPr sz="1300" b="0" i="0" u="none" strike="noStrike" cap="none" dirty="0">
              <a:solidFill>
                <a:schemeClr val="dk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3816" y="640080"/>
            <a:ext cx="10561320" cy="640080"/>
          </a:xfrm>
          <a:prstGeom prst="rect">
            <a:avLst/>
          </a:prstGeom>
          <a:noFill/>
          <a:ln/>
        </p:spPr>
        <p:txBody>
          <a:bodyPr wrap="square" lIns="0" tIns="0" rIns="0" bIns="0" rtlCol="0" anchor="ctr"/>
          <a:lstStyle/>
          <a:p>
            <a:pPr marL="0" indent="0" algn="l">
              <a:buNone/>
            </a:pPr>
            <a:r>
              <a:rPr lang="en-US" sz="3200" b="1" dirty="0">
                <a:solidFill>
                  <a:schemeClr val="tx1"/>
                </a:solidFill>
              </a:rPr>
              <a:t>Roadmap del proyecto</a:t>
            </a:r>
            <a:endParaRPr lang="en-US" sz="3200" dirty="0"/>
          </a:p>
        </p:txBody>
      </p:sp>
      <p:sp>
        <p:nvSpPr>
          <p:cNvPr id="3" name="Text 1"/>
          <p:cNvSpPr txBox="1"/>
          <p:nvPr/>
        </p:nvSpPr>
        <p:spPr>
          <a:xfrm>
            <a:off x="2514600" y="1463040"/>
            <a:ext cx="886968" cy="228600"/>
          </a:xfrm>
          <a:prstGeom prst="rect">
            <a:avLst/>
          </a:prstGeom>
          <a:noFill/>
          <a:ln/>
        </p:spPr>
        <p:txBody>
          <a:bodyPr wrap="square" lIns="0" tIns="0" rIns="0" bIns="0" rtlCol="0" anchor="t"/>
          <a:lstStyle/>
          <a:p>
            <a:pPr marL="0" indent="0" algn="ctr">
              <a:buNone/>
            </a:pPr>
            <a:r>
              <a:rPr lang="en-US" sz="1100" b="1" dirty="0">
                <a:solidFill>
                  <a:schemeClr val="tx1"/>
                </a:solidFill>
              </a:rPr>
              <a:t>S1</a:t>
            </a:r>
            <a:endParaRPr lang="en-US" sz="1100" dirty="0"/>
          </a:p>
        </p:txBody>
      </p:sp>
      <p:sp>
        <p:nvSpPr>
          <p:cNvPr id="4" name="Text 2"/>
          <p:cNvSpPr txBox="1"/>
          <p:nvPr/>
        </p:nvSpPr>
        <p:spPr>
          <a:xfrm>
            <a:off x="2514600" y="1691640"/>
            <a:ext cx="886968" cy="228600"/>
          </a:xfrm>
          <a:prstGeom prst="rect">
            <a:avLst/>
          </a:prstGeom>
          <a:noFill/>
          <a:ln/>
        </p:spPr>
        <p:txBody>
          <a:bodyPr wrap="square" lIns="0" tIns="0" rIns="0" bIns="0" rtlCol="0" anchor="t"/>
          <a:lstStyle/>
          <a:p>
            <a:pPr marL="0" indent="0" algn="ctr">
              <a:buNone/>
            </a:pPr>
            <a:r>
              <a:rPr lang="en-US" sz="1000" dirty="0">
                <a:solidFill>
                  <a:schemeClr val="tx2"/>
                </a:solidFill>
              </a:rPr>
              <a:t>24/08</a:t>
            </a:r>
            <a:endParaRPr lang="en-US" sz="1000" dirty="0"/>
          </a:p>
        </p:txBody>
      </p:sp>
      <p:sp>
        <p:nvSpPr>
          <p:cNvPr id="5" name="Text 3"/>
          <p:cNvSpPr txBox="1"/>
          <p:nvPr/>
        </p:nvSpPr>
        <p:spPr>
          <a:xfrm>
            <a:off x="3401568" y="1463040"/>
            <a:ext cx="886968" cy="228600"/>
          </a:xfrm>
          <a:prstGeom prst="rect">
            <a:avLst/>
          </a:prstGeom>
          <a:noFill/>
          <a:ln/>
        </p:spPr>
        <p:txBody>
          <a:bodyPr wrap="square" lIns="0" tIns="0" rIns="0" bIns="0" rtlCol="0" anchor="t"/>
          <a:lstStyle/>
          <a:p>
            <a:pPr marL="0" indent="0" algn="ctr">
              <a:buNone/>
            </a:pPr>
            <a:r>
              <a:rPr lang="en-US" sz="1100" b="1" dirty="0">
                <a:solidFill>
                  <a:schemeClr val="tx1"/>
                </a:solidFill>
              </a:rPr>
              <a:t>S2</a:t>
            </a:r>
            <a:endParaRPr lang="en-US" sz="1100" dirty="0"/>
          </a:p>
        </p:txBody>
      </p:sp>
      <p:sp>
        <p:nvSpPr>
          <p:cNvPr id="6" name="Text 4"/>
          <p:cNvSpPr txBox="1"/>
          <p:nvPr/>
        </p:nvSpPr>
        <p:spPr>
          <a:xfrm>
            <a:off x="3401568" y="1691640"/>
            <a:ext cx="886968" cy="228600"/>
          </a:xfrm>
          <a:prstGeom prst="rect">
            <a:avLst/>
          </a:prstGeom>
          <a:noFill/>
          <a:ln/>
        </p:spPr>
        <p:txBody>
          <a:bodyPr wrap="square" lIns="0" tIns="0" rIns="0" bIns="0" rtlCol="0" anchor="t"/>
          <a:lstStyle/>
          <a:p>
            <a:pPr marL="0" indent="0" algn="ctr">
              <a:buNone/>
            </a:pPr>
            <a:r>
              <a:rPr lang="en-US" sz="1000" dirty="0">
                <a:solidFill>
                  <a:schemeClr val="tx2"/>
                </a:solidFill>
              </a:rPr>
              <a:t>31/08</a:t>
            </a:r>
            <a:endParaRPr lang="en-US" sz="1000" dirty="0"/>
          </a:p>
        </p:txBody>
      </p:sp>
      <p:sp>
        <p:nvSpPr>
          <p:cNvPr id="7" name="Text 5"/>
          <p:cNvSpPr txBox="1"/>
          <p:nvPr/>
        </p:nvSpPr>
        <p:spPr>
          <a:xfrm>
            <a:off x="4288536" y="1463040"/>
            <a:ext cx="886968" cy="228600"/>
          </a:xfrm>
          <a:prstGeom prst="rect">
            <a:avLst/>
          </a:prstGeom>
          <a:noFill/>
          <a:ln/>
        </p:spPr>
        <p:txBody>
          <a:bodyPr wrap="square" lIns="0" tIns="0" rIns="0" bIns="0" rtlCol="0" anchor="t"/>
          <a:lstStyle/>
          <a:p>
            <a:pPr marL="0" indent="0" algn="ctr">
              <a:buNone/>
            </a:pPr>
            <a:r>
              <a:rPr lang="en-US" sz="1100" b="1" dirty="0">
                <a:solidFill>
                  <a:schemeClr val="tx1"/>
                </a:solidFill>
              </a:rPr>
              <a:t>S3</a:t>
            </a:r>
            <a:endParaRPr lang="en-US" sz="1100" dirty="0"/>
          </a:p>
        </p:txBody>
      </p:sp>
      <p:sp>
        <p:nvSpPr>
          <p:cNvPr id="8" name="Text 6"/>
          <p:cNvSpPr txBox="1"/>
          <p:nvPr/>
        </p:nvSpPr>
        <p:spPr>
          <a:xfrm>
            <a:off x="4288536" y="1691640"/>
            <a:ext cx="886968" cy="228600"/>
          </a:xfrm>
          <a:prstGeom prst="rect">
            <a:avLst/>
          </a:prstGeom>
          <a:noFill/>
          <a:ln/>
        </p:spPr>
        <p:txBody>
          <a:bodyPr wrap="square" lIns="0" tIns="0" rIns="0" bIns="0" rtlCol="0" anchor="t"/>
          <a:lstStyle/>
          <a:p>
            <a:pPr marL="0" indent="0" algn="ctr">
              <a:buNone/>
            </a:pPr>
            <a:r>
              <a:rPr lang="en-US" sz="1000" dirty="0">
                <a:solidFill>
                  <a:schemeClr val="tx2"/>
                </a:solidFill>
              </a:rPr>
              <a:t>07/09</a:t>
            </a:r>
            <a:endParaRPr lang="en-US" sz="1000" dirty="0"/>
          </a:p>
        </p:txBody>
      </p:sp>
      <p:sp>
        <p:nvSpPr>
          <p:cNvPr id="9" name="Text 7"/>
          <p:cNvSpPr txBox="1"/>
          <p:nvPr/>
        </p:nvSpPr>
        <p:spPr>
          <a:xfrm>
            <a:off x="5175504" y="1463040"/>
            <a:ext cx="886968" cy="228600"/>
          </a:xfrm>
          <a:prstGeom prst="rect">
            <a:avLst/>
          </a:prstGeom>
          <a:noFill/>
          <a:ln/>
        </p:spPr>
        <p:txBody>
          <a:bodyPr wrap="square" lIns="0" tIns="0" rIns="0" bIns="0" rtlCol="0" anchor="t"/>
          <a:lstStyle/>
          <a:p>
            <a:pPr marL="0" indent="0" algn="ctr">
              <a:buNone/>
            </a:pPr>
            <a:r>
              <a:rPr lang="en-US" sz="1100" b="1" dirty="0">
                <a:solidFill>
                  <a:schemeClr val="tx1"/>
                </a:solidFill>
              </a:rPr>
              <a:t>S4</a:t>
            </a:r>
            <a:endParaRPr lang="en-US" sz="1100" dirty="0"/>
          </a:p>
        </p:txBody>
      </p:sp>
      <p:sp>
        <p:nvSpPr>
          <p:cNvPr id="10" name="Text 8"/>
          <p:cNvSpPr txBox="1"/>
          <p:nvPr/>
        </p:nvSpPr>
        <p:spPr>
          <a:xfrm>
            <a:off x="5175504" y="1691640"/>
            <a:ext cx="886968" cy="228600"/>
          </a:xfrm>
          <a:prstGeom prst="rect">
            <a:avLst/>
          </a:prstGeom>
          <a:noFill/>
          <a:ln/>
        </p:spPr>
        <p:txBody>
          <a:bodyPr wrap="square" lIns="0" tIns="0" rIns="0" bIns="0" rtlCol="0" anchor="t"/>
          <a:lstStyle/>
          <a:p>
            <a:pPr marL="0" indent="0" algn="ctr">
              <a:buNone/>
            </a:pPr>
            <a:r>
              <a:rPr lang="en-US" sz="1000" dirty="0">
                <a:solidFill>
                  <a:schemeClr val="tx2"/>
                </a:solidFill>
              </a:rPr>
              <a:t>14/09</a:t>
            </a:r>
            <a:endParaRPr lang="en-US" sz="1000" dirty="0"/>
          </a:p>
        </p:txBody>
      </p:sp>
      <p:sp>
        <p:nvSpPr>
          <p:cNvPr id="11" name="Text 9"/>
          <p:cNvSpPr txBox="1"/>
          <p:nvPr/>
        </p:nvSpPr>
        <p:spPr>
          <a:xfrm>
            <a:off x="6062472" y="1463040"/>
            <a:ext cx="886968" cy="228600"/>
          </a:xfrm>
          <a:prstGeom prst="rect">
            <a:avLst/>
          </a:prstGeom>
          <a:noFill/>
          <a:ln/>
        </p:spPr>
        <p:txBody>
          <a:bodyPr wrap="square" lIns="0" tIns="0" rIns="0" bIns="0" rtlCol="0" anchor="t"/>
          <a:lstStyle/>
          <a:p>
            <a:pPr marL="0" indent="0" algn="ctr">
              <a:buNone/>
            </a:pPr>
            <a:r>
              <a:rPr lang="en-US" sz="1100" b="1" dirty="0">
                <a:solidFill>
                  <a:schemeClr val="tx1"/>
                </a:solidFill>
              </a:rPr>
              <a:t>S5</a:t>
            </a:r>
            <a:endParaRPr lang="en-US" sz="1100" dirty="0"/>
          </a:p>
        </p:txBody>
      </p:sp>
      <p:sp>
        <p:nvSpPr>
          <p:cNvPr id="12" name="Text 10"/>
          <p:cNvSpPr txBox="1"/>
          <p:nvPr/>
        </p:nvSpPr>
        <p:spPr>
          <a:xfrm>
            <a:off x="6062472" y="1691640"/>
            <a:ext cx="886968" cy="228600"/>
          </a:xfrm>
          <a:prstGeom prst="rect">
            <a:avLst/>
          </a:prstGeom>
          <a:noFill/>
          <a:ln/>
        </p:spPr>
        <p:txBody>
          <a:bodyPr wrap="square" lIns="0" tIns="0" rIns="0" bIns="0" rtlCol="0" anchor="t"/>
          <a:lstStyle/>
          <a:p>
            <a:pPr marL="0" indent="0" algn="ctr">
              <a:buNone/>
            </a:pPr>
            <a:r>
              <a:rPr lang="en-US" sz="1000" dirty="0">
                <a:solidFill>
                  <a:schemeClr val="tx2"/>
                </a:solidFill>
              </a:rPr>
              <a:t>21/09</a:t>
            </a:r>
            <a:endParaRPr lang="en-US" sz="1000" dirty="0"/>
          </a:p>
        </p:txBody>
      </p:sp>
      <p:sp>
        <p:nvSpPr>
          <p:cNvPr id="13" name="Text 11"/>
          <p:cNvSpPr txBox="1"/>
          <p:nvPr/>
        </p:nvSpPr>
        <p:spPr>
          <a:xfrm>
            <a:off x="6949440" y="1463040"/>
            <a:ext cx="886968" cy="228600"/>
          </a:xfrm>
          <a:prstGeom prst="rect">
            <a:avLst/>
          </a:prstGeom>
          <a:noFill/>
          <a:ln/>
        </p:spPr>
        <p:txBody>
          <a:bodyPr wrap="square" lIns="0" tIns="0" rIns="0" bIns="0" rtlCol="0" anchor="t"/>
          <a:lstStyle/>
          <a:p>
            <a:pPr marL="0" indent="0" algn="ctr">
              <a:buNone/>
            </a:pPr>
            <a:r>
              <a:rPr lang="en-US" sz="1100" b="1" dirty="0">
                <a:solidFill>
                  <a:schemeClr val="tx1"/>
                </a:solidFill>
              </a:rPr>
              <a:t>S6</a:t>
            </a:r>
            <a:endParaRPr lang="en-US" sz="1100" dirty="0"/>
          </a:p>
        </p:txBody>
      </p:sp>
      <p:sp>
        <p:nvSpPr>
          <p:cNvPr id="14" name="Text 12"/>
          <p:cNvSpPr txBox="1"/>
          <p:nvPr/>
        </p:nvSpPr>
        <p:spPr>
          <a:xfrm>
            <a:off x="6949440" y="1691640"/>
            <a:ext cx="886968" cy="228600"/>
          </a:xfrm>
          <a:prstGeom prst="rect">
            <a:avLst/>
          </a:prstGeom>
          <a:noFill/>
          <a:ln/>
        </p:spPr>
        <p:txBody>
          <a:bodyPr wrap="square" lIns="0" tIns="0" rIns="0" bIns="0" rtlCol="0" anchor="t"/>
          <a:lstStyle/>
          <a:p>
            <a:pPr marL="0" indent="0" algn="ctr">
              <a:buNone/>
            </a:pPr>
            <a:r>
              <a:rPr lang="en-US" sz="1000" dirty="0">
                <a:solidFill>
                  <a:schemeClr val="tx2"/>
                </a:solidFill>
              </a:rPr>
              <a:t>28/09</a:t>
            </a:r>
            <a:endParaRPr lang="en-US" sz="1000" dirty="0"/>
          </a:p>
        </p:txBody>
      </p:sp>
      <p:sp>
        <p:nvSpPr>
          <p:cNvPr id="15" name="Text 13"/>
          <p:cNvSpPr txBox="1"/>
          <p:nvPr/>
        </p:nvSpPr>
        <p:spPr>
          <a:xfrm>
            <a:off x="7836408" y="1463040"/>
            <a:ext cx="886968" cy="228600"/>
          </a:xfrm>
          <a:prstGeom prst="rect">
            <a:avLst/>
          </a:prstGeom>
          <a:noFill/>
          <a:ln/>
        </p:spPr>
        <p:txBody>
          <a:bodyPr wrap="square" lIns="0" tIns="0" rIns="0" bIns="0" rtlCol="0" anchor="t"/>
          <a:lstStyle/>
          <a:p>
            <a:pPr marL="0" indent="0" algn="ctr">
              <a:buNone/>
            </a:pPr>
            <a:r>
              <a:rPr lang="en-US" sz="1100" b="1" dirty="0">
                <a:solidFill>
                  <a:schemeClr val="tx1"/>
                </a:solidFill>
              </a:rPr>
              <a:t>S7</a:t>
            </a:r>
            <a:endParaRPr lang="en-US" sz="1100" dirty="0"/>
          </a:p>
        </p:txBody>
      </p:sp>
      <p:sp>
        <p:nvSpPr>
          <p:cNvPr id="16" name="Text 14"/>
          <p:cNvSpPr txBox="1"/>
          <p:nvPr/>
        </p:nvSpPr>
        <p:spPr>
          <a:xfrm>
            <a:off x="7836408" y="1691640"/>
            <a:ext cx="886968" cy="228600"/>
          </a:xfrm>
          <a:prstGeom prst="rect">
            <a:avLst/>
          </a:prstGeom>
          <a:noFill/>
          <a:ln/>
        </p:spPr>
        <p:txBody>
          <a:bodyPr wrap="square" lIns="0" tIns="0" rIns="0" bIns="0" rtlCol="0" anchor="t"/>
          <a:lstStyle/>
          <a:p>
            <a:pPr marL="0" indent="0" algn="ctr">
              <a:buNone/>
            </a:pPr>
            <a:r>
              <a:rPr lang="en-US" sz="1000" dirty="0">
                <a:solidFill>
                  <a:schemeClr val="tx2"/>
                </a:solidFill>
              </a:rPr>
              <a:t>05/10</a:t>
            </a:r>
            <a:endParaRPr lang="en-US" sz="1000" dirty="0"/>
          </a:p>
        </p:txBody>
      </p:sp>
      <p:sp>
        <p:nvSpPr>
          <p:cNvPr id="17" name="Text 15"/>
          <p:cNvSpPr txBox="1"/>
          <p:nvPr/>
        </p:nvSpPr>
        <p:spPr>
          <a:xfrm>
            <a:off x="8723376" y="1463040"/>
            <a:ext cx="886968" cy="228600"/>
          </a:xfrm>
          <a:prstGeom prst="rect">
            <a:avLst/>
          </a:prstGeom>
          <a:noFill/>
          <a:ln/>
        </p:spPr>
        <p:txBody>
          <a:bodyPr wrap="square" lIns="0" tIns="0" rIns="0" bIns="0" rtlCol="0" anchor="t"/>
          <a:lstStyle/>
          <a:p>
            <a:pPr marL="0" indent="0" algn="ctr">
              <a:buNone/>
            </a:pPr>
            <a:r>
              <a:rPr lang="en-US" sz="1100" b="1" dirty="0">
                <a:solidFill>
                  <a:schemeClr val="tx1"/>
                </a:solidFill>
              </a:rPr>
              <a:t>S8</a:t>
            </a:r>
            <a:endParaRPr lang="en-US" sz="1100" dirty="0"/>
          </a:p>
        </p:txBody>
      </p:sp>
      <p:sp>
        <p:nvSpPr>
          <p:cNvPr id="18" name="Text 16"/>
          <p:cNvSpPr txBox="1"/>
          <p:nvPr/>
        </p:nvSpPr>
        <p:spPr>
          <a:xfrm>
            <a:off x="8723376" y="1691640"/>
            <a:ext cx="886968" cy="228600"/>
          </a:xfrm>
          <a:prstGeom prst="rect">
            <a:avLst/>
          </a:prstGeom>
          <a:noFill/>
          <a:ln/>
        </p:spPr>
        <p:txBody>
          <a:bodyPr wrap="square" lIns="0" tIns="0" rIns="0" bIns="0" rtlCol="0" anchor="t"/>
          <a:lstStyle/>
          <a:p>
            <a:pPr marL="0" indent="0" algn="ctr">
              <a:buNone/>
            </a:pPr>
            <a:r>
              <a:rPr lang="en-US" sz="1000" dirty="0">
                <a:solidFill>
                  <a:schemeClr val="tx2"/>
                </a:solidFill>
              </a:rPr>
              <a:t>12/10</a:t>
            </a:r>
            <a:endParaRPr lang="en-US" sz="1000" dirty="0"/>
          </a:p>
        </p:txBody>
      </p:sp>
      <p:sp>
        <p:nvSpPr>
          <p:cNvPr id="19" name="Text 17"/>
          <p:cNvSpPr txBox="1"/>
          <p:nvPr/>
        </p:nvSpPr>
        <p:spPr>
          <a:xfrm>
            <a:off x="9610344" y="1463040"/>
            <a:ext cx="886968" cy="228600"/>
          </a:xfrm>
          <a:prstGeom prst="rect">
            <a:avLst/>
          </a:prstGeom>
          <a:noFill/>
          <a:ln/>
        </p:spPr>
        <p:txBody>
          <a:bodyPr wrap="square" lIns="0" tIns="0" rIns="0" bIns="0" rtlCol="0" anchor="t"/>
          <a:lstStyle/>
          <a:p>
            <a:pPr marL="0" indent="0" algn="ctr">
              <a:buNone/>
            </a:pPr>
            <a:r>
              <a:rPr lang="en-US" sz="1100" b="1" dirty="0">
                <a:solidFill>
                  <a:schemeClr val="tx1"/>
                </a:solidFill>
              </a:rPr>
              <a:t>S9</a:t>
            </a:r>
            <a:endParaRPr lang="en-US" sz="1100" dirty="0"/>
          </a:p>
        </p:txBody>
      </p:sp>
      <p:sp>
        <p:nvSpPr>
          <p:cNvPr id="20" name="Text 18"/>
          <p:cNvSpPr txBox="1"/>
          <p:nvPr/>
        </p:nvSpPr>
        <p:spPr>
          <a:xfrm>
            <a:off x="9610344" y="1691640"/>
            <a:ext cx="886968" cy="228600"/>
          </a:xfrm>
          <a:prstGeom prst="rect">
            <a:avLst/>
          </a:prstGeom>
          <a:noFill/>
          <a:ln/>
        </p:spPr>
        <p:txBody>
          <a:bodyPr wrap="square" lIns="0" tIns="0" rIns="0" bIns="0" rtlCol="0" anchor="t"/>
          <a:lstStyle/>
          <a:p>
            <a:pPr marL="0" indent="0" algn="ctr">
              <a:buNone/>
            </a:pPr>
            <a:r>
              <a:rPr lang="en-US" sz="1000" dirty="0">
                <a:solidFill>
                  <a:schemeClr val="tx2"/>
                </a:solidFill>
              </a:rPr>
              <a:t>19/10</a:t>
            </a:r>
            <a:endParaRPr lang="en-US" sz="1000" dirty="0"/>
          </a:p>
        </p:txBody>
      </p:sp>
      <p:sp>
        <p:nvSpPr>
          <p:cNvPr id="21" name="Text 19"/>
          <p:cNvSpPr txBox="1"/>
          <p:nvPr/>
        </p:nvSpPr>
        <p:spPr>
          <a:xfrm>
            <a:off x="10497312" y="1463040"/>
            <a:ext cx="886968" cy="228600"/>
          </a:xfrm>
          <a:prstGeom prst="rect">
            <a:avLst/>
          </a:prstGeom>
          <a:noFill/>
          <a:ln/>
        </p:spPr>
        <p:txBody>
          <a:bodyPr wrap="square" lIns="0" tIns="0" rIns="0" bIns="0" rtlCol="0" anchor="t"/>
          <a:lstStyle/>
          <a:p>
            <a:pPr marL="0" indent="0" algn="ctr">
              <a:buNone/>
            </a:pPr>
            <a:r>
              <a:rPr lang="en-US" sz="1100" b="1" dirty="0">
                <a:solidFill>
                  <a:schemeClr val="tx1"/>
                </a:solidFill>
              </a:rPr>
              <a:t>S10</a:t>
            </a:r>
            <a:endParaRPr lang="en-US" sz="1100" dirty="0"/>
          </a:p>
        </p:txBody>
      </p:sp>
      <p:sp>
        <p:nvSpPr>
          <p:cNvPr id="22" name="Text 20"/>
          <p:cNvSpPr txBox="1"/>
          <p:nvPr/>
        </p:nvSpPr>
        <p:spPr>
          <a:xfrm>
            <a:off x="10497312" y="1691640"/>
            <a:ext cx="886968" cy="228600"/>
          </a:xfrm>
          <a:prstGeom prst="rect">
            <a:avLst/>
          </a:prstGeom>
          <a:noFill/>
          <a:ln/>
        </p:spPr>
        <p:txBody>
          <a:bodyPr wrap="square" lIns="0" tIns="0" rIns="0" bIns="0" rtlCol="0" anchor="t"/>
          <a:lstStyle/>
          <a:p>
            <a:pPr marL="0" indent="0" algn="ctr">
              <a:buNone/>
            </a:pPr>
            <a:r>
              <a:rPr lang="en-US" sz="1000" dirty="0">
                <a:solidFill>
                  <a:schemeClr val="tx2"/>
                </a:solidFill>
              </a:rPr>
              <a:t>26/10</a:t>
            </a:r>
            <a:endParaRPr lang="en-US" sz="1000" dirty="0"/>
          </a:p>
        </p:txBody>
      </p:sp>
      <p:sp>
        <p:nvSpPr>
          <p:cNvPr id="23" name="Shape 21"/>
          <p:cNvSpPr/>
          <p:nvPr/>
        </p:nvSpPr>
        <p:spPr>
          <a:xfrm>
            <a:off x="2514600" y="2057400"/>
            <a:ext cx="0" cy="3200400"/>
          </a:xfrm>
          <a:prstGeom prst="line">
            <a:avLst/>
          </a:prstGeom>
          <a:noFill/>
          <a:ln w="9525">
            <a:solidFill>
              <a:srgbClr val="DCDDD6"/>
            </a:solidFill>
            <a:prstDash val="solid"/>
          </a:ln>
        </p:spPr>
        <p:txBody>
          <a:bodyPr/>
          <a:lstStyle/>
          <a:p>
            <a:endParaRPr lang="es-CL"/>
          </a:p>
        </p:txBody>
      </p:sp>
      <p:sp>
        <p:nvSpPr>
          <p:cNvPr id="24" name="Shape 22"/>
          <p:cNvSpPr/>
          <p:nvPr/>
        </p:nvSpPr>
        <p:spPr>
          <a:xfrm>
            <a:off x="3401568" y="2057400"/>
            <a:ext cx="0" cy="3200400"/>
          </a:xfrm>
          <a:prstGeom prst="line">
            <a:avLst/>
          </a:prstGeom>
          <a:noFill/>
          <a:ln w="9525">
            <a:solidFill>
              <a:srgbClr val="DCDDD6"/>
            </a:solidFill>
            <a:prstDash val="solid"/>
          </a:ln>
        </p:spPr>
        <p:txBody>
          <a:bodyPr/>
          <a:lstStyle/>
          <a:p>
            <a:endParaRPr lang="es-CL"/>
          </a:p>
        </p:txBody>
      </p:sp>
      <p:sp>
        <p:nvSpPr>
          <p:cNvPr id="25" name="Shape 23"/>
          <p:cNvSpPr/>
          <p:nvPr/>
        </p:nvSpPr>
        <p:spPr>
          <a:xfrm>
            <a:off x="4288536" y="2057400"/>
            <a:ext cx="0" cy="3200400"/>
          </a:xfrm>
          <a:prstGeom prst="line">
            <a:avLst/>
          </a:prstGeom>
          <a:noFill/>
          <a:ln w="9525">
            <a:solidFill>
              <a:srgbClr val="DCDDD6"/>
            </a:solidFill>
            <a:prstDash val="solid"/>
          </a:ln>
        </p:spPr>
        <p:txBody>
          <a:bodyPr/>
          <a:lstStyle/>
          <a:p>
            <a:endParaRPr lang="es-CL"/>
          </a:p>
        </p:txBody>
      </p:sp>
      <p:sp>
        <p:nvSpPr>
          <p:cNvPr id="26" name="Shape 24"/>
          <p:cNvSpPr/>
          <p:nvPr/>
        </p:nvSpPr>
        <p:spPr>
          <a:xfrm>
            <a:off x="5175504" y="2057400"/>
            <a:ext cx="0" cy="3200400"/>
          </a:xfrm>
          <a:prstGeom prst="line">
            <a:avLst/>
          </a:prstGeom>
          <a:noFill/>
          <a:ln w="9525">
            <a:solidFill>
              <a:srgbClr val="DCDDD6"/>
            </a:solidFill>
            <a:prstDash val="solid"/>
          </a:ln>
        </p:spPr>
        <p:txBody>
          <a:bodyPr/>
          <a:lstStyle/>
          <a:p>
            <a:endParaRPr lang="es-CL"/>
          </a:p>
        </p:txBody>
      </p:sp>
      <p:sp>
        <p:nvSpPr>
          <p:cNvPr id="27" name="Shape 25"/>
          <p:cNvSpPr/>
          <p:nvPr/>
        </p:nvSpPr>
        <p:spPr>
          <a:xfrm>
            <a:off x="6062472" y="2057400"/>
            <a:ext cx="0" cy="3200400"/>
          </a:xfrm>
          <a:prstGeom prst="line">
            <a:avLst/>
          </a:prstGeom>
          <a:noFill/>
          <a:ln w="9525">
            <a:solidFill>
              <a:srgbClr val="DCDDD6"/>
            </a:solidFill>
            <a:prstDash val="solid"/>
          </a:ln>
        </p:spPr>
        <p:txBody>
          <a:bodyPr/>
          <a:lstStyle/>
          <a:p>
            <a:endParaRPr lang="es-CL"/>
          </a:p>
        </p:txBody>
      </p:sp>
      <p:sp>
        <p:nvSpPr>
          <p:cNvPr id="28" name="Shape 26"/>
          <p:cNvSpPr/>
          <p:nvPr/>
        </p:nvSpPr>
        <p:spPr>
          <a:xfrm>
            <a:off x="6949440" y="2057400"/>
            <a:ext cx="0" cy="3200400"/>
          </a:xfrm>
          <a:prstGeom prst="line">
            <a:avLst/>
          </a:prstGeom>
          <a:noFill/>
          <a:ln w="9525">
            <a:solidFill>
              <a:srgbClr val="DCDDD6"/>
            </a:solidFill>
            <a:prstDash val="solid"/>
          </a:ln>
        </p:spPr>
        <p:txBody>
          <a:bodyPr/>
          <a:lstStyle/>
          <a:p>
            <a:endParaRPr lang="es-CL"/>
          </a:p>
        </p:txBody>
      </p:sp>
      <p:sp>
        <p:nvSpPr>
          <p:cNvPr id="29" name="Shape 27"/>
          <p:cNvSpPr/>
          <p:nvPr/>
        </p:nvSpPr>
        <p:spPr>
          <a:xfrm>
            <a:off x="7836408" y="2057400"/>
            <a:ext cx="0" cy="3200400"/>
          </a:xfrm>
          <a:prstGeom prst="line">
            <a:avLst/>
          </a:prstGeom>
          <a:noFill/>
          <a:ln w="9525">
            <a:solidFill>
              <a:srgbClr val="DCDDD6"/>
            </a:solidFill>
            <a:prstDash val="solid"/>
          </a:ln>
        </p:spPr>
        <p:txBody>
          <a:bodyPr/>
          <a:lstStyle/>
          <a:p>
            <a:endParaRPr lang="es-CL"/>
          </a:p>
        </p:txBody>
      </p:sp>
      <p:sp>
        <p:nvSpPr>
          <p:cNvPr id="30" name="Shape 28"/>
          <p:cNvSpPr/>
          <p:nvPr/>
        </p:nvSpPr>
        <p:spPr>
          <a:xfrm>
            <a:off x="8723376" y="2057400"/>
            <a:ext cx="0" cy="3200400"/>
          </a:xfrm>
          <a:prstGeom prst="line">
            <a:avLst/>
          </a:prstGeom>
          <a:noFill/>
          <a:ln w="9525">
            <a:solidFill>
              <a:srgbClr val="DCDDD6"/>
            </a:solidFill>
            <a:prstDash val="solid"/>
          </a:ln>
        </p:spPr>
        <p:txBody>
          <a:bodyPr/>
          <a:lstStyle/>
          <a:p>
            <a:endParaRPr lang="es-CL"/>
          </a:p>
        </p:txBody>
      </p:sp>
      <p:sp>
        <p:nvSpPr>
          <p:cNvPr id="31" name="Shape 29"/>
          <p:cNvSpPr/>
          <p:nvPr/>
        </p:nvSpPr>
        <p:spPr>
          <a:xfrm>
            <a:off x="9610344" y="2057400"/>
            <a:ext cx="0" cy="3200400"/>
          </a:xfrm>
          <a:prstGeom prst="line">
            <a:avLst/>
          </a:prstGeom>
          <a:noFill/>
          <a:ln w="9525">
            <a:solidFill>
              <a:srgbClr val="DCDDD6"/>
            </a:solidFill>
            <a:prstDash val="solid"/>
          </a:ln>
        </p:spPr>
        <p:txBody>
          <a:bodyPr/>
          <a:lstStyle/>
          <a:p>
            <a:endParaRPr lang="es-CL"/>
          </a:p>
        </p:txBody>
      </p:sp>
      <p:sp>
        <p:nvSpPr>
          <p:cNvPr id="32" name="Shape 30"/>
          <p:cNvSpPr/>
          <p:nvPr/>
        </p:nvSpPr>
        <p:spPr>
          <a:xfrm>
            <a:off x="10497312" y="2057400"/>
            <a:ext cx="0" cy="3200400"/>
          </a:xfrm>
          <a:prstGeom prst="line">
            <a:avLst/>
          </a:prstGeom>
          <a:noFill/>
          <a:ln w="9525">
            <a:solidFill>
              <a:srgbClr val="DCDDD6"/>
            </a:solidFill>
            <a:prstDash val="solid"/>
          </a:ln>
        </p:spPr>
        <p:txBody>
          <a:bodyPr/>
          <a:lstStyle/>
          <a:p>
            <a:endParaRPr lang="es-CL"/>
          </a:p>
        </p:txBody>
      </p:sp>
      <p:sp>
        <p:nvSpPr>
          <p:cNvPr id="33" name="Shape 31"/>
          <p:cNvSpPr/>
          <p:nvPr/>
        </p:nvSpPr>
        <p:spPr>
          <a:xfrm>
            <a:off x="11384280" y="2057400"/>
            <a:ext cx="0" cy="3200400"/>
          </a:xfrm>
          <a:prstGeom prst="line">
            <a:avLst/>
          </a:prstGeom>
          <a:noFill/>
          <a:ln w="9525">
            <a:solidFill>
              <a:srgbClr val="DCDDD6"/>
            </a:solidFill>
            <a:prstDash val="solid"/>
          </a:ln>
        </p:spPr>
        <p:txBody>
          <a:bodyPr/>
          <a:lstStyle/>
          <a:p>
            <a:endParaRPr lang="es-CL"/>
          </a:p>
        </p:txBody>
      </p:sp>
      <p:sp>
        <p:nvSpPr>
          <p:cNvPr id="34" name="Shape 32"/>
          <p:cNvSpPr/>
          <p:nvPr/>
        </p:nvSpPr>
        <p:spPr>
          <a:xfrm>
            <a:off x="813816" y="2057400"/>
            <a:ext cx="10570464" cy="0"/>
          </a:xfrm>
          <a:prstGeom prst="line">
            <a:avLst/>
          </a:prstGeom>
          <a:noFill/>
          <a:ln w="9525">
            <a:solidFill>
              <a:srgbClr val="DCDDD6"/>
            </a:solidFill>
            <a:prstDash val="solid"/>
          </a:ln>
        </p:spPr>
        <p:txBody>
          <a:bodyPr/>
          <a:lstStyle/>
          <a:p>
            <a:endParaRPr lang="es-CL"/>
          </a:p>
        </p:txBody>
      </p:sp>
      <p:sp>
        <p:nvSpPr>
          <p:cNvPr id="35" name="Text 33"/>
          <p:cNvSpPr txBox="1"/>
          <p:nvPr/>
        </p:nvSpPr>
        <p:spPr>
          <a:xfrm>
            <a:off x="813816" y="2176272"/>
            <a:ext cx="1645920" cy="274320"/>
          </a:xfrm>
          <a:prstGeom prst="rect">
            <a:avLst/>
          </a:prstGeom>
          <a:noFill/>
          <a:ln/>
        </p:spPr>
        <p:txBody>
          <a:bodyPr wrap="square" lIns="0" tIns="0" rIns="0" bIns="0" rtlCol="0" anchor="t"/>
          <a:lstStyle/>
          <a:p>
            <a:pPr marL="0" indent="0">
              <a:buNone/>
            </a:pPr>
            <a:r>
              <a:rPr lang="en-US" sz="1400" b="1" dirty="0">
                <a:solidFill>
                  <a:schemeClr val="tx1"/>
                </a:solidFill>
              </a:rPr>
              <a:t>Sprint 0</a:t>
            </a:r>
            <a:endParaRPr lang="en-US" sz="1400" dirty="0"/>
          </a:p>
        </p:txBody>
      </p:sp>
      <p:sp>
        <p:nvSpPr>
          <p:cNvPr id="36" name="Text 34"/>
          <p:cNvSpPr txBox="1"/>
          <p:nvPr/>
        </p:nvSpPr>
        <p:spPr>
          <a:xfrm>
            <a:off x="813816" y="2450592"/>
            <a:ext cx="1645920" cy="246888"/>
          </a:xfrm>
          <a:prstGeom prst="rect">
            <a:avLst/>
          </a:prstGeom>
          <a:noFill/>
          <a:ln/>
        </p:spPr>
        <p:txBody>
          <a:bodyPr wrap="square" lIns="0" tIns="0" rIns="0" bIns="0" rtlCol="0" anchor="t"/>
          <a:lstStyle/>
          <a:p>
            <a:pPr marL="0" indent="0">
              <a:buNone/>
            </a:pPr>
            <a:r>
              <a:rPr lang="en-US" sz="1100" dirty="0">
                <a:solidFill>
                  <a:schemeClr val="tx1"/>
                </a:solidFill>
              </a:rPr>
              <a:t>24/08 – 06/09</a:t>
            </a:r>
          </a:p>
        </p:txBody>
      </p:sp>
      <p:sp>
        <p:nvSpPr>
          <p:cNvPr id="37" name="Shape 35"/>
          <p:cNvSpPr/>
          <p:nvPr/>
        </p:nvSpPr>
        <p:spPr>
          <a:xfrm>
            <a:off x="2560320" y="2167128"/>
            <a:ext cx="1682496" cy="420624"/>
          </a:xfrm>
          <a:prstGeom prst="roundRect">
            <a:avLst>
              <a:gd name="adj" fmla="val 13043"/>
            </a:avLst>
          </a:prstGeom>
          <a:solidFill>
            <a:srgbClr val="DCE9F8"/>
          </a:solidFill>
          <a:ln w="15875">
            <a:solidFill>
              <a:schemeClr val="accent1"/>
            </a:solidFill>
            <a:prstDash val="solid"/>
          </a:ln>
        </p:spPr>
        <p:txBody>
          <a:bodyPr/>
          <a:lstStyle/>
          <a:p>
            <a:endParaRPr lang="es-CL"/>
          </a:p>
        </p:txBody>
      </p:sp>
      <p:sp>
        <p:nvSpPr>
          <p:cNvPr id="38" name="Text 36"/>
          <p:cNvSpPr txBox="1"/>
          <p:nvPr/>
        </p:nvSpPr>
        <p:spPr>
          <a:xfrm>
            <a:off x="2633472" y="2167128"/>
            <a:ext cx="1536192" cy="420624"/>
          </a:xfrm>
          <a:prstGeom prst="rect">
            <a:avLst/>
          </a:prstGeom>
          <a:noFill/>
          <a:ln/>
        </p:spPr>
        <p:txBody>
          <a:bodyPr wrap="square" lIns="0" tIns="0" rIns="0" bIns="0" rtlCol="0" anchor="ctr"/>
          <a:lstStyle/>
          <a:p>
            <a:pPr marL="0" indent="0">
              <a:buNone/>
            </a:pPr>
            <a:r>
              <a:rPr lang="en-US" sz="1100" b="1" dirty="0">
                <a:solidFill>
                  <a:schemeClr val="tx1"/>
                </a:solidFill>
              </a:rPr>
              <a:t>Kick-off y alcance</a:t>
            </a:r>
            <a:endParaRPr lang="en-US" sz="1100" dirty="0"/>
          </a:p>
        </p:txBody>
      </p:sp>
      <p:sp>
        <p:nvSpPr>
          <p:cNvPr id="39" name="Shape 37"/>
          <p:cNvSpPr/>
          <p:nvPr/>
        </p:nvSpPr>
        <p:spPr>
          <a:xfrm>
            <a:off x="813816" y="2697480"/>
            <a:ext cx="10570464" cy="0"/>
          </a:xfrm>
          <a:prstGeom prst="line">
            <a:avLst/>
          </a:prstGeom>
          <a:noFill/>
          <a:ln w="9525">
            <a:solidFill>
              <a:srgbClr val="DCDDD6"/>
            </a:solidFill>
            <a:prstDash val="solid"/>
          </a:ln>
        </p:spPr>
        <p:txBody>
          <a:bodyPr/>
          <a:lstStyle/>
          <a:p>
            <a:endParaRPr lang="es-CL"/>
          </a:p>
        </p:txBody>
      </p:sp>
      <p:sp>
        <p:nvSpPr>
          <p:cNvPr id="40" name="Text 38"/>
          <p:cNvSpPr txBox="1"/>
          <p:nvPr/>
        </p:nvSpPr>
        <p:spPr>
          <a:xfrm>
            <a:off x="813816" y="2816352"/>
            <a:ext cx="1645920" cy="274320"/>
          </a:xfrm>
          <a:prstGeom prst="rect">
            <a:avLst/>
          </a:prstGeom>
          <a:noFill/>
          <a:ln/>
        </p:spPr>
        <p:txBody>
          <a:bodyPr wrap="square" lIns="0" tIns="0" rIns="0" bIns="0" rtlCol="0" anchor="t"/>
          <a:lstStyle/>
          <a:p>
            <a:pPr marL="0" indent="0">
              <a:buNone/>
            </a:pPr>
            <a:r>
              <a:rPr lang="en-US" sz="1400" b="1" dirty="0">
                <a:solidFill>
                  <a:schemeClr val="tx1"/>
                </a:solidFill>
              </a:rPr>
              <a:t>Sprint 1</a:t>
            </a:r>
            <a:endParaRPr lang="en-US" sz="1400" dirty="0"/>
          </a:p>
        </p:txBody>
      </p:sp>
      <p:sp>
        <p:nvSpPr>
          <p:cNvPr id="41" name="Text 39"/>
          <p:cNvSpPr txBox="1"/>
          <p:nvPr/>
        </p:nvSpPr>
        <p:spPr>
          <a:xfrm>
            <a:off x="813816" y="3090672"/>
            <a:ext cx="1645920" cy="246888"/>
          </a:xfrm>
          <a:prstGeom prst="rect">
            <a:avLst/>
          </a:prstGeom>
          <a:noFill/>
          <a:ln/>
        </p:spPr>
        <p:txBody>
          <a:bodyPr wrap="square" lIns="0" tIns="0" rIns="0" bIns="0" rtlCol="0" anchor="t"/>
          <a:lstStyle/>
          <a:p>
            <a:pPr marL="0" indent="0">
              <a:buNone/>
            </a:pPr>
            <a:r>
              <a:rPr lang="en-US" sz="1100" dirty="0">
                <a:solidFill>
                  <a:schemeClr val="tx1"/>
                </a:solidFill>
              </a:rPr>
              <a:t>07/09 – 20/09</a:t>
            </a:r>
          </a:p>
        </p:txBody>
      </p:sp>
      <p:sp>
        <p:nvSpPr>
          <p:cNvPr id="42" name="Shape 40"/>
          <p:cNvSpPr/>
          <p:nvPr/>
        </p:nvSpPr>
        <p:spPr>
          <a:xfrm>
            <a:off x="4334256" y="2807208"/>
            <a:ext cx="1682496" cy="420624"/>
          </a:xfrm>
          <a:prstGeom prst="roundRect">
            <a:avLst>
              <a:gd name="adj" fmla="val 13043"/>
            </a:avLst>
          </a:prstGeom>
          <a:solidFill>
            <a:srgbClr val="DCE9F8"/>
          </a:solidFill>
          <a:ln w="15875">
            <a:solidFill>
              <a:schemeClr val="accent1"/>
            </a:solidFill>
            <a:prstDash val="solid"/>
          </a:ln>
        </p:spPr>
        <p:txBody>
          <a:bodyPr/>
          <a:lstStyle/>
          <a:p>
            <a:endParaRPr lang="es-CL"/>
          </a:p>
        </p:txBody>
      </p:sp>
      <p:sp>
        <p:nvSpPr>
          <p:cNvPr id="43" name="Text 41"/>
          <p:cNvSpPr txBox="1"/>
          <p:nvPr/>
        </p:nvSpPr>
        <p:spPr>
          <a:xfrm>
            <a:off x="4407408" y="2807208"/>
            <a:ext cx="1536192" cy="420624"/>
          </a:xfrm>
          <a:prstGeom prst="rect">
            <a:avLst/>
          </a:prstGeom>
          <a:noFill/>
          <a:ln/>
        </p:spPr>
        <p:txBody>
          <a:bodyPr wrap="square" lIns="0" tIns="0" rIns="0" bIns="0" rtlCol="0" anchor="ctr"/>
          <a:lstStyle/>
          <a:p>
            <a:pPr marL="0" indent="0">
              <a:buNone/>
            </a:pPr>
            <a:r>
              <a:rPr lang="en-US" sz="1100" b="1" dirty="0">
                <a:solidFill>
                  <a:schemeClr val="tx1"/>
                </a:solidFill>
              </a:rPr>
              <a:t>Requisitos y diseño</a:t>
            </a:r>
            <a:endParaRPr lang="en-US" sz="1100" dirty="0"/>
          </a:p>
        </p:txBody>
      </p:sp>
      <p:sp>
        <p:nvSpPr>
          <p:cNvPr id="44" name="Shape 42"/>
          <p:cNvSpPr/>
          <p:nvPr/>
        </p:nvSpPr>
        <p:spPr>
          <a:xfrm>
            <a:off x="813816" y="3337560"/>
            <a:ext cx="10570464" cy="0"/>
          </a:xfrm>
          <a:prstGeom prst="line">
            <a:avLst/>
          </a:prstGeom>
          <a:noFill/>
          <a:ln w="9525">
            <a:solidFill>
              <a:srgbClr val="DCDDD6"/>
            </a:solidFill>
            <a:prstDash val="solid"/>
          </a:ln>
        </p:spPr>
        <p:txBody>
          <a:bodyPr/>
          <a:lstStyle/>
          <a:p>
            <a:endParaRPr lang="es-CL"/>
          </a:p>
        </p:txBody>
      </p:sp>
      <p:sp>
        <p:nvSpPr>
          <p:cNvPr id="45" name="Text 43"/>
          <p:cNvSpPr txBox="1"/>
          <p:nvPr/>
        </p:nvSpPr>
        <p:spPr>
          <a:xfrm>
            <a:off x="813816" y="3456432"/>
            <a:ext cx="1645920" cy="274320"/>
          </a:xfrm>
          <a:prstGeom prst="rect">
            <a:avLst/>
          </a:prstGeom>
          <a:noFill/>
          <a:ln/>
        </p:spPr>
        <p:txBody>
          <a:bodyPr wrap="square" lIns="0" tIns="0" rIns="0" bIns="0" rtlCol="0" anchor="t"/>
          <a:lstStyle/>
          <a:p>
            <a:pPr marL="0" indent="0">
              <a:buNone/>
            </a:pPr>
            <a:r>
              <a:rPr lang="en-US" sz="1400" b="1" dirty="0">
                <a:solidFill>
                  <a:schemeClr val="tx1"/>
                </a:solidFill>
              </a:rPr>
              <a:t>Sprint 2</a:t>
            </a:r>
            <a:endParaRPr lang="en-US" sz="1400" dirty="0"/>
          </a:p>
        </p:txBody>
      </p:sp>
      <p:sp>
        <p:nvSpPr>
          <p:cNvPr id="46" name="Text 44"/>
          <p:cNvSpPr txBox="1"/>
          <p:nvPr/>
        </p:nvSpPr>
        <p:spPr>
          <a:xfrm>
            <a:off x="813816" y="3730752"/>
            <a:ext cx="1645920" cy="246888"/>
          </a:xfrm>
          <a:prstGeom prst="rect">
            <a:avLst/>
          </a:prstGeom>
          <a:noFill/>
          <a:ln/>
        </p:spPr>
        <p:txBody>
          <a:bodyPr wrap="square" lIns="0" tIns="0" rIns="0" bIns="0" rtlCol="0" anchor="t"/>
          <a:lstStyle/>
          <a:p>
            <a:pPr marL="0" indent="0">
              <a:buNone/>
            </a:pPr>
            <a:r>
              <a:rPr lang="en-US" sz="1100" dirty="0">
                <a:solidFill>
                  <a:schemeClr val="tx1"/>
                </a:solidFill>
              </a:rPr>
              <a:t>21/09 – 04/10</a:t>
            </a:r>
          </a:p>
        </p:txBody>
      </p:sp>
      <p:sp>
        <p:nvSpPr>
          <p:cNvPr id="47" name="Shape 45"/>
          <p:cNvSpPr/>
          <p:nvPr/>
        </p:nvSpPr>
        <p:spPr>
          <a:xfrm>
            <a:off x="6108192" y="3447288"/>
            <a:ext cx="1682496" cy="420624"/>
          </a:xfrm>
          <a:prstGeom prst="roundRect">
            <a:avLst>
              <a:gd name="adj" fmla="val 13043"/>
            </a:avLst>
          </a:prstGeom>
          <a:solidFill>
            <a:srgbClr val="DCE9F8"/>
          </a:solidFill>
          <a:ln w="15875">
            <a:solidFill>
              <a:schemeClr val="accent1"/>
            </a:solidFill>
            <a:prstDash val="solid"/>
          </a:ln>
        </p:spPr>
        <p:txBody>
          <a:bodyPr/>
          <a:lstStyle/>
          <a:p>
            <a:endParaRPr lang="es-CL"/>
          </a:p>
        </p:txBody>
      </p:sp>
      <p:sp>
        <p:nvSpPr>
          <p:cNvPr id="48" name="Text 46"/>
          <p:cNvSpPr txBox="1"/>
          <p:nvPr/>
        </p:nvSpPr>
        <p:spPr>
          <a:xfrm>
            <a:off x="6181344" y="3447288"/>
            <a:ext cx="1536192" cy="420624"/>
          </a:xfrm>
          <a:prstGeom prst="rect">
            <a:avLst/>
          </a:prstGeom>
          <a:noFill/>
          <a:ln/>
        </p:spPr>
        <p:txBody>
          <a:bodyPr wrap="square" lIns="0" tIns="0" rIns="0" bIns="0" rtlCol="0" anchor="ctr"/>
          <a:lstStyle/>
          <a:p>
            <a:pPr marL="0" indent="0">
              <a:buNone/>
            </a:pPr>
            <a:r>
              <a:rPr lang="en-US" sz="1100" b="1" dirty="0">
                <a:solidFill>
                  <a:schemeClr val="tx1"/>
                </a:solidFill>
              </a:rPr>
              <a:t>Backend y base de datos</a:t>
            </a:r>
            <a:endParaRPr lang="en-US" sz="1100" dirty="0"/>
          </a:p>
        </p:txBody>
      </p:sp>
      <p:sp>
        <p:nvSpPr>
          <p:cNvPr id="49" name="Shape 47"/>
          <p:cNvSpPr/>
          <p:nvPr/>
        </p:nvSpPr>
        <p:spPr>
          <a:xfrm>
            <a:off x="813816" y="3977640"/>
            <a:ext cx="10570464" cy="0"/>
          </a:xfrm>
          <a:prstGeom prst="line">
            <a:avLst/>
          </a:prstGeom>
          <a:noFill/>
          <a:ln w="9525">
            <a:solidFill>
              <a:srgbClr val="DCDDD6"/>
            </a:solidFill>
            <a:prstDash val="solid"/>
          </a:ln>
        </p:spPr>
        <p:txBody>
          <a:bodyPr/>
          <a:lstStyle/>
          <a:p>
            <a:endParaRPr lang="es-CL"/>
          </a:p>
        </p:txBody>
      </p:sp>
      <p:sp>
        <p:nvSpPr>
          <p:cNvPr id="50" name="Text 48"/>
          <p:cNvSpPr txBox="1"/>
          <p:nvPr/>
        </p:nvSpPr>
        <p:spPr>
          <a:xfrm>
            <a:off x="813816" y="4096512"/>
            <a:ext cx="1645920" cy="274320"/>
          </a:xfrm>
          <a:prstGeom prst="rect">
            <a:avLst/>
          </a:prstGeom>
          <a:noFill/>
          <a:ln/>
        </p:spPr>
        <p:txBody>
          <a:bodyPr wrap="square" lIns="0" tIns="0" rIns="0" bIns="0" rtlCol="0" anchor="t"/>
          <a:lstStyle/>
          <a:p>
            <a:pPr marL="0" indent="0">
              <a:buNone/>
            </a:pPr>
            <a:r>
              <a:rPr lang="en-US" sz="1400" b="1" dirty="0">
                <a:solidFill>
                  <a:schemeClr val="tx1"/>
                </a:solidFill>
              </a:rPr>
              <a:t>Sprint 3</a:t>
            </a:r>
            <a:endParaRPr lang="en-US" sz="1400" dirty="0"/>
          </a:p>
        </p:txBody>
      </p:sp>
      <p:sp>
        <p:nvSpPr>
          <p:cNvPr id="51" name="Text 49"/>
          <p:cNvSpPr txBox="1"/>
          <p:nvPr/>
        </p:nvSpPr>
        <p:spPr>
          <a:xfrm>
            <a:off x="813816" y="4370832"/>
            <a:ext cx="1645920" cy="246888"/>
          </a:xfrm>
          <a:prstGeom prst="rect">
            <a:avLst/>
          </a:prstGeom>
          <a:noFill/>
          <a:ln/>
        </p:spPr>
        <p:txBody>
          <a:bodyPr wrap="square" lIns="0" tIns="0" rIns="0" bIns="0" rtlCol="0" anchor="t"/>
          <a:lstStyle/>
          <a:p>
            <a:pPr marL="0" indent="0">
              <a:buNone/>
            </a:pPr>
            <a:r>
              <a:rPr lang="en-US" sz="1100" dirty="0">
                <a:solidFill>
                  <a:schemeClr val="tx1"/>
                </a:solidFill>
              </a:rPr>
              <a:t>05/10 – 18/10</a:t>
            </a:r>
          </a:p>
        </p:txBody>
      </p:sp>
      <p:sp>
        <p:nvSpPr>
          <p:cNvPr id="52" name="Shape 50"/>
          <p:cNvSpPr/>
          <p:nvPr/>
        </p:nvSpPr>
        <p:spPr>
          <a:xfrm>
            <a:off x="7882128" y="4087368"/>
            <a:ext cx="1682496" cy="420624"/>
          </a:xfrm>
          <a:prstGeom prst="roundRect">
            <a:avLst>
              <a:gd name="adj" fmla="val 13043"/>
            </a:avLst>
          </a:prstGeom>
          <a:solidFill>
            <a:srgbClr val="DCE9F8"/>
          </a:solidFill>
          <a:ln w="15875">
            <a:solidFill>
              <a:schemeClr val="accent1"/>
            </a:solidFill>
            <a:prstDash val="solid"/>
          </a:ln>
        </p:spPr>
        <p:txBody>
          <a:bodyPr/>
          <a:lstStyle/>
          <a:p>
            <a:endParaRPr lang="es-CL"/>
          </a:p>
        </p:txBody>
      </p:sp>
      <p:sp>
        <p:nvSpPr>
          <p:cNvPr id="53" name="Text 51"/>
          <p:cNvSpPr txBox="1"/>
          <p:nvPr/>
        </p:nvSpPr>
        <p:spPr>
          <a:xfrm>
            <a:off x="7955280" y="4087368"/>
            <a:ext cx="1274282" cy="420624"/>
          </a:xfrm>
          <a:prstGeom prst="rect">
            <a:avLst/>
          </a:prstGeom>
          <a:noFill/>
          <a:ln/>
        </p:spPr>
        <p:txBody>
          <a:bodyPr wrap="square" lIns="0" tIns="0" rIns="0" bIns="0" rtlCol="0" anchor="ctr"/>
          <a:lstStyle/>
          <a:p>
            <a:pPr marL="0" indent="0">
              <a:buNone/>
            </a:pPr>
            <a:r>
              <a:rPr lang="en-US" sz="1100" b="1" dirty="0">
                <a:solidFill>
                  <a:schemeClr val="tx1"/>
                </a:solidFill>
              </a:rPr>
              <a:t>Desarrollo front web y móvil</a:t>
            </a:r>
            <a:endParaRPr lang="en-US" sz="1100" dirty="0"/>
          </a:p>
        </p:txBody>
      </p:sp>
      <p:sp>
        <p:nvSpPr>
          <p:cNvPr id="54" name="Shape 52"/>
          <p:cNvSpPr/>
          <p:nvPr/>
        </p:nvSpPr>
        <p:spPr>
          <a:xfrm>
            <a:off x="813816" y="4617720"/>
            <a:ext cx="10570464" cy="0"/>
          </a:xfrm>
          <a:prstGeom prst="line">
            <a:avLst/>
          </a:prstGeom>
          <a:noFill/>
          <a:ln w="9525">
            <a:solidFill>
              <a:srgbClr val="DCDDD6"/>
            </a:solidFill>
            <a:prstDash val="solid"/>
          </a:ln>
        </p:spPr>
        <p:txBody>
          <a:bodyPr/>
          <a:lstStyle/>
          <a:p>
            <a:endParaRPr lang="es-CL"/>
          </a:p>
        </p:txBody>
      </p:sp>
      <p:sp>
        <p:nvSpPr>
          <p:cNvPr id="55" name="Text 53"/>
          <p:cNvSpPr txBox="1"/>
          <p:nvPr/>
        </p:nvSpPr>
        <p:spPr>
          <a:xfrm>
            <a:off x="813816" y="4736592"/>
            <a:ext cx="1645920" cy="274320"/>
          </a:xfrm>
          <a:prstGeom prst="rect">
            <a:avLst/>
          </a:prstGeom>
          <a:noFill/>
          <a:ln/>
        </p:spPr>
        <p:txBody>
          <a:bodyPr wrap="square" lIns="0" tIns="0" rIns="0" bIns="0" rtlCol="0" anchor="t"/>
          <a:lstStyle/>
          <a:p>
            <a:pPr marL="0" indent="0">
              <a:buNone/>
            </a:pPr>
            <a:r>
              <a:rPr lang="en-US" sz="1400" b="1" dirty="0">
                <a:solidFill>
                  <a:schemeClr val="tx1"/>
                </a:solidFill>
              </a:rPr>
              <a:t>Sprint 4</a:t>
            </a:r>
            <a:endParaRPr lang="en-US" sz="1400" dirty="0"/>
          </a:p>
        </p:txBody>
      </p:sp>
      <p:sp>
        <p:nvSpPr>
          <p:cNvPr id="56" name="Text 54"/>
          <p:cNvSpPr txBox="1"/>
          <p:nvPr/>
        </p:nvSpPr>
        <p:spPr>
          <a:xfrm>
            <a:off x="813816" y="5010912"/>
            <a:ext cx="1645920" cy="246888"/>
          </a:xfrm>
          <a:prstGeom prst="rect">
            <a:avLst/>
          </a:prstGeom>
          <a:noFill/>
          <a:ln/>
        </p:spPr>
        <p:txBody>
          <a:bodyPr wrap="square" lIns="0" tIns="0" rIns="0" bIns="0" rtlCol="0" anchor="t"/>
          <a:lstStyle/>
          <a:p>
            <a:pPr marL="0" indent="0">
              <a:buNone/>
            </a:pPr>
            <a:r>
              <a:rPr lang="en-US" sz="1100" dirty="0">
                <a:solidFill>
                  <a:schemeClr val="tx1"/>
                </a:solidFill>
              </a:rPr>
              <a:t>19/10 – 01/11</a:t>
            </a:r>
          </a:p>
        </p:txBody>
      </p:sp>
      <p:sp>
        <p:nvSpPr>
          <p:cNvPr id="57" name="Shape 55"/>
          <p:cNvSpPr/>
          <p:nvPr/>
        </p:nvSpPr>
        <p:spPr>
          <a:xfrm>
            <a:off x="9656064" y="4727448"/>
            <a:ext cx="1682496" cy="420624"/>
          </a:xfrm>
          <a:prstGeom prst="roundRect">
            <a:avLst>
              <a:gd name="adj" fmla="val 13043"/>
            </a:avLst>
          </a:prstGeom>
          <a:solidFill>
            <a:srgbClr val="FDE9DA"/>
          </a:solidFill>
          <a:ln w="15875">
            <a:solidFill>
              <a:schemeClr val="accent6"/>
            </a:solidFill>
            <a:prstDash val="solid"/>
          </a:ln>
        </p:spPr>
        <p:txBody>
          <a:bodyPr/>
          <a:lstStyle/>
          <a:p>
            <a:endParaRPr lang="es-CL"/>
          </a:p>
        </p:txBody>
      </p:sp>
      <p:sp>
        <p:nvSpPr>
          <p:cNvPr id="58" name="Text 56"/>
          <p:cNvSpPr txBox="1"/>
          <p:nvPr/>
        </p:nvSpPr>
        <p:spPr>
          <a:xfrm>
            <a:off x="9729216" y="4727448"/>
            <a:ext cx="1536192" cy="420624"/>
          </a:xfrm>
          <a:prstGeom prst="rect">
            <a:avLst/>
          </a:prstGeom>
          <a:noFill/>
          <a:ln/>
        </p:spPr>
        <p:txBody>
          <a:bodyPr wrap="square" lIns="0" tIns="0" rIns="0" bIns="0" rtlCol="0" anchor="ctr"/>
          <a:lstStyle/>
          <a:p>
            <a:pPr marL="0" indent="0">
              <a:buNone/>
            </a:pPr>
            <a:r>
              <a:rPr lang="en-US" sz="1100" b="1" dirty="0">
                <a:solidFill>
                  <a:schemeClr val="tx1"/>
                </a:solidFill>
              </a:rPr>
              <a:t>Power BI, pruebas y cierre</a:t>
            </a:r>
            <a:endParaRPr lang="en-US" sz="1100" dirty="0"/>
          </a:p>
        </p:txBody>
      </p:sp>
      <p:sp>
        <p:nvSpPr>
          <p:cNvPr id="59" name="Shape 57"/>
          <p:cNvSpPr/>
          <p:nvPr/>
        </p:nvSpPr>
        <p:spPr>
          <a:xfrm>
            <a:off x="813816" y="5257800"/>
            <a:ext cx="10570464" cy="0"/>
          </a:xfrm>
          <a:prstGeom prst="line">
            <a:avLst/>
          </a:prstGeom>
          <a:noFill/>
          <a:ln w="9525">
            <a:solidFill>
              <a:srgbClr val="DCDDD6"/>
            </a:solidFill>
            <a:prstDash val="solid"/>
          </a:ln>
        </p:spPr>
        <p:txBody>
          <a:bodyPr/>
          <a:lstStyle/>
          <a:p>
            <a:endParaRPr lang="es-CL"/>
          </a:p>
        </p:txBody>
      </p:sp>
      <p:sp>
        <p:nvSpPr>
          <p:cNvPr id="60" name="Shape 58"/>
          <p:cNvSpPr/>
          <p:nvPr/>
        </p:nvSpPr>
        <p:spPr>
          <a:xfrm>
            <a:off x="11004150" y="1965960"/>
            <a:ext cx="0" cy="3383280"/>
          </a:xfrm>
          <a:prstGeom prst="line">
            <a:avLst/>
          </a:prstGeom>
          <a:noFill/>
          <a:ln w="28575">
            <a:solidFill>
              <a:schemeClr val="accent5"/>
            </a:solidFill>
            <a:prstDash val="dash"/>
          </a:ln>
        </p:spPr>
        <p:txBody>
          <a:bodyPr/>
          <a:lstStyle/>
          <a:p>
            <a:endParaRPr lang="es-CL"/>
          </a:p>
        </p:txBody>
      </p:sp>
      <p:sp>
        <p:nvSpPr>
          <p:cNvPr id="61" name="Text 59"/>
          <p:cNvSpPr txBox="1"/>
          <p:nvPr/>
        </p:nvSpPr>
        <p:spPr>
          <a:xfrm>
            <a:off x="10364070" y="5394960"/>
            <a:ext cx="1280160" cy="274320"/>
          </a:xfrm>
          <a:prstGeom prst="rect">
            <a:avLst/>
          </a:prstGeom>
          <a:noFill/>
          <a:ln/>
        </p:spPr>
        <p:txBody>
          <a:bodyPr wrap="square" lIns="0" tIns="0" rIns="0" bIns="0" rtlCol="0" anchor="t"/>
          <a:lstStyle/>
          <a:p>
            <a:pPr marL="0" indent="0" algn="ctr">
              <a:buNone/>
            </a:pPr>
            <a:r>
              <a:rPr lang="en-US" sz="1200" b="1" dirty="0">
                <a:solidFill>
                  <a:schemeClr val="accent5"/>
                </a:solidFill>
              </a:rPr>
              <a:t>Hoy · 30/10</a:t>
            </a:r>
            <a:endParaRPr lang="en-US" sz="1200" dirty="0"/>
          </a:p>
        </p:txBody>
      </p:sp>
      <p:sp>
        <p:nvSpPr>
          <p:cNvPr id="62" name="Shape 60"/>
          <p:cNvSpPr/>
          <p:nvPr/>
        </p:nvSpPr>
        <p:spPr>
          <a:xfrm>
            <a:off x="813816" y="5852160"/>
            <a:ext cx="274320" cy="182880"/>
          </a:xfrm>
          <a:prstGeom prst="roundRect">
            <a:avLst>
              <a:gd name="adj" fmla="val 20000"/>
            </a:avLst>
          </a:prstGeom>
          <a:solidFill>
            <a:srgbClr val="DCE9F8"/>
          </a:solidFill>
          <a:ln w="12700">
            <a:solidFill>
              <a:schemeClr val="accent1"/>
            </a:solidFill>
            <a:prstDash val="solid"/>
          </a:ln>
        </p:spPr>
        <p:txBody>
          <a:bodyPr/>
          <a:lstStyle/>
          <a:p>
            <a:endParaRPr lang="es-CL"/>
          </a:p>
        </p:txBody>
      </p:sp>
      <p:sp>
        <p:nvSpPr>
          <p:cNvPr id="63" name="Text 61"/>
          <p:cNvSpPr txBox="1"/>
          <p:nvPr/>
        </p:nvSpPr>
        <p:spPr>
          <a:xfrm>
            <a:off x="1161288" y="5806440"/>
            <a:ext cx="1097280" cy="274320"/>
          </a:xfrm>
          <a:prstGeom prst="rect">
            <a:avLst/>
          </a:prstGeom>
          <a:noFill/>
          <a:ln/>
        </p:spPr>
        <p:txBody>
          <a:bodyPr wrap="square" lIns="0" tIns="0" rIns="0" bIns="0" rtlCol="0" anchor="t"/>
          <a:lstStyle/>
          <a:p>
            <a:pPr marL="0" indent="0">
              <a:buNone/>
            </a:pPr>
            <a:r>
              <a:rPr lang="en-US" sz="1200" dirty="0">
                <a:solidFill>
                  <a:schemeClr val="tx2"/>
                </a:solidFill>
              </a:rPr>
              <a:t>Cerrado</a:t>
            </a:r>
            <a:endParaRPr lang="en-US" sz="1200" dirty="0"/>
          </a:p>
        </p:txBody>
      </p:sp>
      <p:sp>
        <p:nvSpPr>
          <p:cNvPr id="64" name="Shape 62"/>
          <p:cNvSpPr/>
          <p:nvPr/>
        </p:nvSpPr>
        <p:spPr>
          <a:xfrm>
            <a:off x="2276856" y="5852160"/>
            <a:ext cx="274320" cy="182880"/>
          </a:xfrm>
          <a:prstGeom prst="roundRect">
            <a:avLst>
              <a:gd name="adj" fmla="val 20000"/>
            </a:avLst>
          </a:prstGeom>
          <a:solidFill>
            <a:srgbClr val="FDE9DA"/>
          </a:solidFill>
          <a:ln w="12700">
            <a:solidFill>
              <a:schemeClr val="accent6"/>
            </a:solidFill>
            <a:prstDash val="solid"/>
          </a:ln>
        </p:spPr>
        <p:txBody>
          <a:bodyPr/>
          <a:lstStyle/>
          <a:p>
            <a:endParaRPr lang="es-CL"/>
          </a:p>
        </p:txBody>
      </p:sp>
      <p:sp>
        <p:nvSpPr>
          <p:cNvPr id="65" name="Text 63"/>
          <p:cNvSpPr txBox="1"/>
          <p:nvPr/>
        </p:nvSpPr>
        <p:spPr>
          <a:xfrm>
            <a:off x="2624328" y="5806440"/>
            <a:ext cx="1097280" cy="274320"/>
          </a:xfrm>
          <a:prstGeom prst="rect">
            <a:avLst/>
          </a:prstGeom>
          <a:noFill/>
          <a:ln/>
        </p:spPr>
        <p:txBody>
          <a:bodyPr wrap="square" lIns="0" tIns="0" rIns="0" bIns="0" rtlCol="0" anchor="t"/>
          <a:lstStyle/>
          <a:p>
            <a:pPr marL="0" indent="0">
              <a:buNone/>
            </a:pPr>
            <a:r>
              <a:rPr lang="en-US" sz="1200" dirty="0">
                <a:solidFill>
                  <a:schemeClr val="tx2"/>
                </a:solidFill>
              </a:rPr>
              <a:t>En curso</a:t>
            </a:r>
            <a:endParaRPr lang="en-US" sz="1200" dirty="0"/>
          </a:p>
        </p:txBody>
      </p:sp>
      <p:sp>
        <p:nvSpPr>
          <p:cNvPr id="66" name="Shape 64"/>
          <p:cNvSpPr/>
          <p:nvPr/>
        </p:nvSpPr>
        <p:spPr>
          <a:xfrm>
            <a:off x="3739896" y="5852160"/>
            <a:ext cx="274320" cy="182880"/>
          </a:xfrm>
          <a:prstGeom prst="roundRect">
            <a:avLst>
              <a:gd name="adj" fmla="val 20000"/>
            </a:avLst>
          </a:prstGeom>
          <a:solidFill>
            <a:srgbClr val="ECEBE6"/>
          </a:solidFill>
          <a:ln w="12700">
            <a:solidFill>
              <a:srgbClr val="B8B8B2"/>
            </a:solidFill>
            <a:prstDash val="solid"/>
          </a:ln>
        </p:spPr>
        <p:txBody>
          <a:bodyPr/>
          <a:lstStyle/>
          <a:p>
            <a:endParaRPr lang="es-CL"/>
          </a:p>
        </p:txBody>
      </p:sp>
      <p:sp>
        <p:nvSpPr>
          <p:cNvPr id="67" name="Text 65"/>
          <p:cNvSpPr txBox="1"/>
          <p:nvPr/>
        </p:nvSpPr>
        <p:spPr>
          <a:xfrm>
            <a:off x="4087368" y="5806440"/>
            <a:ext cx="1097280" cy="274320"/>
          </a:xfrm>
          <a:prstGeom prst="rect">
            <a:avLst/>
          </a:prstGeom>
          <a:noFill/>
          <a:ln/>
        </p:spPr>
        <p:txBody>
          <a:bodyPr wrap="square" lIns="0" tIns="0" rIns="0" bIns="0" rtlCol="0" anchor="t"/>
          <a:lstStyle/>
          <a:p>
            <a:pPr marL="0" indent="0">
              <a:buNone/>
            </a:pPr>
            <a:r>
              <a:rPr lang="en-US" sz="1200" dirty="0">
                <a:solidFill>
                  <a:schemeClr val="tx2"/>
                </a:solidFill>
              </a:rPr>
              <a:t>Planificado</a:t>
            </a:r>
            <a:endParaRPr lang="en-US" sz="1200" dirty="0"/>
          </a:p>
        </p:txBody>
      </p:sp>
      <p:sp>
        <p:nvSpPr>
          <p:cNvPr id="68" name="Text 66"/>
          <p:cNvSpPr txBox="1"/>
          <p:nvPr/>
        </p:nvSpPr>
        <p:spPr>
          <a:xfrm>
            <a:off x="5303520" y="5806440"/>
            <a:ext cx="6080760" cy="274320"/>
          </a:xfrm>
          <a:prstGeom prst="rect">
            <a:avLst/>
          </a:prstGeom>
          <a:noFill/>
          <a:ln/>
        </p:spPr>
        <p:txBody>
          <a:bodyPr wrap="square" lIns="0" tIns="0" rIns="0" bIns="0" rtlCol="0" anchor="t"/>
          <a:lstStyle/>
          <a:p>
            <a:pPr marL="0" indent="0" algn="r">
              <a:buNone/>
            </a:pPr>
            <a:r>
              <a:rPr lang="en-US" sz="1200" dirty="0">
                <a:solidFill>
                  <a:schemeClr val="tx2"/>
                </a:solidFill>
              </a:rPr>
              <a:t>Sprints de dos semanas · entrega del prototipo el 01/11/2026</a:t>
            </a:r>
            <a:endParaRPr lang="en-US" sz="1200" dirty="0"/>
          </a:p>
        </p:txBody>
      </p:sp>
      <p:sp>
        <p:nvSpPr>
          <p:cNvPr id="69" name="Slide Number Placeholder 0"/>
          <p:cNvSpPr>
            <a:spLocks noGrp="1"/>
          </p:cNvSpPr>
          <p:nvPr>
            <p:ph type="sldNum" sz="quarter" idx="4294967295"/>
          </p:nvPr>
        </p:nvSpPr>
        <p:spPr>
          <a:xfrm>
            <a:off x="10972800" y="6355080"/>
            <a:ext cx="411480" cy="27432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4</a:t>
            </a:fld>
            <a:endParaRPr lang="en-US"/>
          </a:p>
        </p:txBody>
      </p:sp>
      <p:sp>
        <p:nvSpPr>
          <p:cNvPr id="70" name="Text 2">
            <a:extLst>
              <a:ext uri="{FF2B5EF4-FFF2-40B4-BE49-F238E27FC236}">
                <a16:creationId xmlns:a16="http://schemas.microsoft.com/office/drawing/2014/main" id="{9A5952BB-9CEE-E4B0-0F76-B511A2AB3B9E}"/>
              </a:ext>
            </a:extLst>
          </p:cNvPr>
          <p:cNvSpPr txBox="1"/>
          <p:nvPr/>
        </p:nvSpPr>
        <p:spPr>
          <a:xfrm>
            <a:off x="2499359" y="1691640"/>
            <a:ext cx="886968" cy="228600"/>
          </a:xfrm>
          <a:prstGeom prst="rect">
            <a:avLst/>
          </a:prstGeom>
          <a:noFill/>
          <a:ln/>
        </p:spPr>
        <p:txBody>
          <a:bodyPr wrap="square" lIns="0" tIns="0" rIns="0" bIns="0" rtlCol="0" anchor="t"/>
          <a:lstStyle/>
          <a:p>
            <a:pPr marL="0" indent="0" algn="ctr">
              <a:buNone/>
            </a:pPr>
            <a:r>
              <a:rPr lang="en-US" sz="1000" dirty="0">
                <a:solidFill>
                  <a:schemeClr val="tx1"/>
                </a:solidFill>
              </a:rPr>
              <a:t>24/08</a:t>
            </a:r>
          </a:p>
        </p:txBody>
      </p:sp>
      <p:sp>
        <p:nvSpPr>
          <p:cNvPr id="71" name="Text 4">
            <a:extLst>
              <a:ext uri="{FF2B5EF4-FFF2-40B4-BE49-F238E27FC236}">
                <a16:creationId xmlns:a16="http://schemas.microsoft.com/office/drawing/2014/main" id="{FF6EE7A1-0CFB-ADDE-F007-1E6801E5B3F9}"/>
              </a:ext>
            </a:extLst>
          </p:cNvPr>
          <p:cNvSpPr txBox="1"/>
          <p:nvPr/>
        </p:nvSpPr>
        <p:spPr>
          <a:xfrm>
            <a:off x="3386327" y="1691640"/>
            <a:ext cx="886968" cy="228600"/>
          </a:xfrm>
          <a:prstGeom prst="rect">
            <a:avLst/>
          </a:prstGeom>
          <a:noFill/>
          <a:ln/>
        </p:spPr>
        <p:txBody>
          <a:bodyPr wrap="square" lIns="0" tIns="0" rIns="0" bIns="0" rtlCol="0" anchor="t"/>
          <a:lstStyle/>
          <a:p>
            <a:pPr marL="0" indent="0" algn="ctr">
              <a:buNone/>
            </a:pPr>
            <a:r>
              <a:rPr lang="en-US" sz="1000" dirty="0">
                <a:solidFill>
                  <a:schemeClr val="tx1"/>
                </a:solidFill>
              </a:rPr>
              <a:t>31/08</a:t>
            </a:r>
          </a:p>
        </p:txBody>
      </p:sp>
      <p:sp>
        <p:nvSpPr>
          <p:cNvPr id="72" name="Text 6">
            <a:extLst>
              <a:ext uri="{FF2B5EF4-FFF2-40B4-BE49-F238E27FC236}">
                <a16:creationId xmlns:a16="http://schemas.microsoft.com/office/drawing/2014/main" id="{22EFDB72-CF5F-F030-1CCF-43E3F50FA365}"/>
              </a:ext>
            </a:extLst>
          </p:cNvPr>
          <p:cNvSpPr txBox="1"/>
          <p:nvPr/>
        </p:nvSpPr>
        <p:spPr>
          <a:xfrm>
            <a:off x="4273295" y="1691640"/>
            <a:ext cx="886968" cy="228600"/>
          </a:xfrm>
          <a:prstGeom prst="rect">
            <a:avLst/>
          </a:prstGeom>
          <a:noFill/>
          <a:ln/>
        </p:spPr>
        <p:txBody>
          <a:bodyPr wrap="square" lIns="0" tIns="0" rIns="0" bIns="0" rtlCol="0" anchor="t"/>
          <a:lstStyle/>
          <a:p>
            <a:pPr marL="0" indent="0" algn="ctr">
              <a:buNone/>
            </a:pPr>
            <a:r>
              <a:rPr lang="en-US" sz="1000" dirty="0">
                <a:solidFill>
                  <a:schemeClr val="tx1"/>
                </a:solidFill>
              </a:rPr>
              <a:t>07/09</a:t>
            </a:r>
          </a:p>
        </p:txBody>
      </p:sp>
      <p:sp>
        <p:nvSpPr>
          <p:cNvPr id="73" name="Text 8">
            <a:extLst>
              <a:ext uri="{FF2B5EF4-FFF2-40B4-BE49-F238E27FC236}">
                <a16:creationId xmlns:a16="http://schemas.microsoft.com/office/drawing/2014/main" id="{6345252F-FDFE-502A-BAB7-46BC9105B6A1}"/>
              </a:ext>
            </a:extLst>
          </p:cNvPr>
          <p:cNvSpPr txBox="1"/>
          <p:nvPr/>
        </p:nvSpPr>
        <p:spPr>
          <a:xfrm>
            <a:off x="5160263" y="1691640"/>
            <a:ext cx="886968" cy="228600"/>
          </a:xfrm>
          <a:prstGeom prst="rect">
            <a:avLst/>
          </a:prstGeom>
          <a:noFill/>
          <a:ln/>
        </p:spPr>
        <p:txBody>
          <a:bodyPr wrap="square" lIns="0" tIns="0" rIns="0" bIns="0" rtlCol="0" anchor="t"/>
          <a:lstStyle/>
          <a:p>
            <a:pPr marL="0" indent="0" algn="ctr">
              <a:buNone/>
            </a:pPr>
            <a:r>
              <a:rPr lang="en-US" sz="1000" dirty="0">
                <a:solidFill>
                  <a:schemeClr val="tx1"/>
                </a:solidFill>
              </a:rPr>
              <a:t>14/09</a:t>
            </a:r>
          </a:p>
        </p:txBody>
      </p:sp>
      <p:sp>
        <p:nvSpPr>
          <p:cNvPr id="74" name="Text 10">
            <a:extLst>
              <a:ext uri="{FF2B5EF4-FFF2-40B4-BE49-F238E27FC236}">
                <a16:creationId xmlns:a16="http://schemas.microsoft.com/office/drawing/2014/main" id="{CB142E1B-9BCB-3EFA-C121-3E5BF960E20F}"/>
              </a:ext>
            </a:extLst>
          </p:cNvPr>
          <p:cNvSpPr txBox="1"/>
          <p:nvPr/>
        </p:nvSpPr>
        <p:spPr>
          <a:xfrm>
            <a:off x="6047231" y="1691640"/>
            <a:ext cx="886968" cy="228600"/>
          </a:xfrm>
          <a:prstGeom prst="rect">
            <a:avLst/>
          </a:prstGeom>
          <a:noFill/>
          <a:ln/>
        </p:spPr>
        <p:txBody>
          <a:bodyPr wrap="square" lIns="0" tIns="0" rIns="0" bIns="0" rtlCol="0" anchor="t"/>
          <a:lstStyle/>
          <a:p>
            <a:pPr marL="0" indent="0" algn="ctr">
              <a:buNone/>
            </a:pPr>
            <a:r>
              <a:rPr lang="en-US" sz="1000" dirty="0">
                <a:solidFill>
                  <a:schemeClr val="tx1"/>
                </a:solidFill>
              </a:rPr>
              <a:t>21/09</a:t>
            </a:r>
          </a:p>
        </p:txBody>
      </p:sp>
      <p:sp>
        <p:nvSpPr>
          <p:cNvPr id="75" name="Text 12">
            <a:extLst>
              <a:ext uri="{FF2B5EF4-FFF2-40B4-BE49-F238E27FC236}">
                <a16:creationId xmlns:a16="http://schemas.microsoft.com/office/drawing/2014/main" id="{C5AC0E72-B86D-45B4-4798-52D7B52C0AF4}"/>
              </a:ext>
            </a:extLst>
          </p:cNvPr>
          <p:cNvSpPr txBox="1"/>
          <p:nvPr/>
        </p:nvSpPr>
        <p:spPr>
          <a:xfrm>
            <a:off x="6934199" y="1691640"/>
            <a:ext cx="886968" cy="228600"/>
          </a:xfrm>
          <a:prstGeom prst="rect">
            <a:avLst/>
          </a:prstGeom>
          <a:noFill/>
          <a:ln/>
        </p:spPr>
        <p:txBody>
          <a:bodyPr wrap="square" lIns="0" tIns="0" rIns="0" bIns="0" rtlCol="0" anchor="t"/>
          <a:lstStyle/>
          <a:p>
            <a:pPr marL="0" indent="0" algn="ctr">
              <a:buNone/>
            </a:pPr>
            <a:r>
              <a:rPr lang="en-US" sz="1000" dirty="0">
                <a:solidFill>
                  <a:schemeClr val="tx1"/>
                </a:solidFill>
              </a:rPr>
              <a:t>28/09</a:t>
            </a:r>
          </a:p>
        </p:txBody>
      </p:sp>
      <p:sp>
        <p:nvSpPr>
          <p:cNvPr id="76" name="Text 14">
            <a:extLst>
              <a:ext uri="{FF2B5EF4-FFF2-40B4-BE49-F238E27FC236}">
                <a16:creationId xmlns:a16="http://schemas.microsoft.com/office/drawing/2014/main" id="{823AA176-3668-1F49-83FE-1ABFDC1F2AFA}"/>
              </a:ext>
            </a:extLst>
          </p:cNvPr>
          <p:cNvSpPr txBox="1"/>
          <p:nvPr/>
        </p:nvSpPr>
        <p:spPr>
          <a:xfrm>
            <a:off x="7821167" y="1691640"/>
            <a:ext cx="886968" cy="228600"/>
          </a:xfrm>
          <a:prstGeom prst="rect">
            <a:avLst/>
          </a:prstGeom>
          <a:noFill/>
          <a:ln/>
        </p:spPr>
        <p:txBody>
          <a:bodyPr wrap="square" lIns="0" tIns="0" rIns="0" bIns="0" rtlCol="0" anchor="t"/>
          <a:lstStyle/>
          <a:p>
            <a:pPr marL="0" indent="0" algn="ctr">
              <a:buNone/>
            </a:pPr>
            <a:r>
              <a:rPr lang="en-US" sz="1000" dirty="0">
                <a:solidFill>
                  <a:schemeClr val="tx1"/>
                </a:solidFill>
              </a:rPr>
              <a:t>05/10</a:t>
            </a:r>
          </a:p>
        </p:txBody>
      </p:sp>
      <p:sp>
        <p:nvSpPr>
          <p:cNvPr id="77" name="Text 16">
            <a:extLst>
              <a:ext uri="{FF2B5EF4-FFF2-40B4-BE49-F238E27FC236}">
                <a16:creationId xmlns:a16="http://schemas.microsoft.com/office/drawing/2014/main" id="{F1547315-FC67-E0CC-B471-55D95082EB07}"/>
              </a:ext>
            </a:extLst>
          </p:cNvPr>
          <p:cNvSpPr txBox="1"/>
          <p:nvPr/>
        </p:nvSpPr>
        <p:spPr>
          <a:xfrm>
            <a:off x="8708135" y="1691640"/>
            <a:ext cx="886968" cy="228600"/>
          </a:xfrm>
          <a:prstGeom prst="rect">
            <a:avLst/>
          </a:prstGeom>
          <a:noFill/>
          <a:ln/>
        </p:spPr>
        <p:txBody>
          <a:bodyPr wrap="square" lIns="0" tIns="0" rIns="0" bIns="0" rtlCol="0" anchor="t"/>
          <a:lstStyle/>
          <a:p>
            <a:pPr marL="0" indent="0" algn="ctr">
              <a:buNone/>
            </a:pPr>
            <a:r>
              <a:rPr lang="en-US" sz="1000" dirty="0">
                <a:solidFill>
                  <a:schemeClr val="tx1"/>
                </a:solidFill>
              </a:rPr>
              <a:t>12/10</a:t>
            </a:r>
          </a:p>
        </p:txBody>
      </p:sp>
      <p:sp>
        <p:nvSpPr>
          <p:cNvPr id="78" name="Text 18">
            <a:extLst>
              <a:ext uri="{FF2B5EF4-FFF2-40B4-BE49-F238E27FC236}">
                <a16:creationId xmlns:a16="http://schemas.microsoft.com/office/drawing/2014/main" id="{75EDFF78-93A8-9C52-BA08-638FB66C00EC}"/>
              </a:ext>
            </a:extLst>
          </p:cNvPr>
          <p:cNvSpPr txBox="1"/>
          <p:nvPr/>
        </p:nvSpPr>
        <p:spPr>
          <a:xfrm>
            <a:off x="9595103" y="1691640"/>
            <a:ext cx="886968" cy="228600"/>
          </a:xfrm>
          <a:prstGeom prst="rect">
            <a:avLst/>
          </a:prstGeom>
          <a:noFill/>
          <a:ln/>
        </p:spPr>
        <p:txBody>
          <a:bodyPr wrap="square" lIns="0" tIns="0" rIns="0" bIns="0" rtlCol="0" anchor="t"/>
          <a:lstStyle/>
          <a:p>
            <a:pPr marL="0" indent="0" algn="ctr">
              <a:buNone/>
            </a:pPr>
            <a:r>
              <a:rPr lang="en-US" sz="1000" dirty="0">
                <a:solidFill>
                  <a:schemeClr val="tx1"/>
                </a:solidFill>
              </a:rPr>
              <a:t>19/10</a:t>
            </a:r>
          </a:p>
        </p:txBody>
      </p:sp>
      <p:sp>
        <p:nvSpPr>
          <p:cNvPr id="79" name="Text 20">
            <a:extLst>
              <a:ext uri="{FF2B5EF4-FFF2-40B4-BE49-F238E27FC236}">
                <a16:creationId xmlns:a16="http://schemas.microsoft.com/office/drawing/2014/main" id="{85179A29-D356-9224-B6AB-586FC6171689}"/>
              </a:ext>
            </a:extLst>
          </p:cNvPr>
          <p:cNvSpPr txBox="1"/>
          <p:nvPr/>
        </p:nvSpPr>
        <p:spPr>
          <a:xfrm>
            <a:off x="10482071" y="1691640"/>
            <a:ext cx="886968" cy="228600"/>
          </a:xfrm>
          <a:prstGeom prst="rect">
            <a:avLst/>
          </a:prstGeom>
          <a:noFill/>
          <a:ln/>
        </p:spPr>
        <p:txBody>
          <a:bodyPr wrap="square" lIns="0" tIns="0" rIns="0" bIns="0" rtlCol="0" anchor="t"/>
          <a:lstStyle/>
          <a:p>
            <a:pPr marL="0" indent="0" algn="ctr">
              <a:buNone/>
            </a:pPr>
            <a:r>
              <a:rPr lang="en-US" sz="1000" dirty="0">
                <a:solidFill>
                  <a:schemeClr val="tx1"/>
                </a:solidFill>
              </a:rPr>
              <a:t>26/10</a:t>
            </a:r>
          </a:p>
        </p:txBody>
      </p:sp>
      <p:sp>
        <p:nvSpPr>
          <p:cNvPr id="80" name="Text 61">
            <a:extLst>
              <a:ext uri="{FF2B5EF4-FFF2-40B4-BE49-F238E27FC236}">
                <a16:creationId xmlns:a16="http://schemas.microsoft.com/office/drawing/2014/main" id="{6F11BA90-8523-0208-1F59-9E5FB31E7403}"/>
              </a:ext>
            </a:extLst>
          </p:cNvPr>
          <p:cNvSpPr txBox="1"/>
          <p:nvPr/>
        </p:nvSpPr>
        <p:spPr>
          <a:xfrm>
            <a:off x="1146047" y="5806440"/>
            <a:ext cx="1097280" cy="274320"/>
          </a:xfrm>
          <a:prstGeom prst="rect">
            <a:avLst/>
          </a:prstGeom>
          <a:noFill/>
          <a:ln/>
        </p:spPr>
        <p:txBody>
          <a:bodyPr wrap="square" lIns="0" tIns="0" rIns="0" bIns="0" rtlCol="0" anchor="t"/>
          <a:lstStyle/>
          <a:p>
            <a:pPr marL="0" indent="0">
              <a:buNone/>
            </a:pPr>
            <a:r>
              <a:rPr lang="en-US" sz="1200" dirty="0">
                <a:solidFill>
                  <a:schemeClr val="tx1"/>
                </a:solidFill>
              </a:rPr>
              <a:t>Cerrado</a:t>
            </a:r>
          </a:p>
        </p:txBody>
      </p:sp>
      <p:sp>
        <p:nvSpPr>
          <p:cNvPr id="81" name="Text 63">
            <a:extLst>
              <a:ext uri="{FF2B5EF4-FFF2-40B4-BE49-F238E27FC236}">
                <a16:creationId xmlns:a16="http://schemas.microsoft.com/office/drawing/2014/main" id="{53E6820E-88C5-A94A-98D5-11A8A85FEF84}"/>
              </a:ext>
            </a:extLst>
          </p:cNvPr>
          <p:cNvSpPr txBox="1"/>
          <p:nvPr/>
        </p:nvSpPr>
        <p:spPr>
          <a:xfrm>
            <a:off x="2609087" y="5806440"/>
            <a:ext cx="1097280" cy="274320"/>
          </a:xfrm>
          <a:prstGeom prst="rect">
            <a:avLst/>
          </a:prstGeom>
          <a:noFill/>
          <a:ln/>
        </p:spPr>
        <p:txBody>
          <a:bodyPr wrap="square" lIns="0" tIns="0" rIns="0" bIns="0" rtlCol="0" anchor="t"/>
          <a:lstStyle/>
          <a:p>
            <a:pPr marL="0" indent="0">
              <a:buNone/>
            </a:pPr>
            <a:r>
              <a:rPr lang="en-US" sz="1200" dirty="0">
                <a:solidFill>
                  <a:schemeClr val="tx1"/>
                </a:solidFill>
              </a:rPr>
              <a:t>En curso</a:t>
            </a:r>
          </a:p>
        </p:txBody>
      </p:sp>
      <p:sp>
        <p:nvSpPr>
          <p:cNvPr id="82" name="Text 65">
            <a:extLst>
              <a:ext uri="{FF2B5EF4-FFF2-40B4-BE49-F238E27FC236}">
                <a16:creationId xmlns:a16="http://schemas.microsoft.com/office/drawing/2014/main" id="{9B3CD25E-A8D8-900B-BA84-D52758A2E41B}"/>
              </a:ext>
            </a:extLst>
          </p:cNvPr>
          <p:cNvSpPr txBox="1"/>
          <p:nvPr/>
        </p:nvSpPr>
        <p:spPr>
          <a:xfrm>
            <a:off x="4072127" y="5806440"/>
            <a:ext cx="1097280" cy="274320"/>
          </a:xfrm>
          <a:prstGeom prst="rect">
            <a:avLst/>
          </a:prstGeom>
          <a:noFill/>
          <a:ln/>
        </p:spPr>
        <p:txBody>
          <a:bodyPr wrap="square" lIns="0" tIns="0" rIns="0" bIns="0" rtlCol="0" anchor="t"/>
          <a:lstStyle/>
          <a:p>
            <a:pPr marL="0" indent="0">
              <a:buNone/>
            </a:pPr>
            <a:r>
              <a:rPr lang="en-US" sz="1200" dirty="0">
                <a:solidFill>
                  <a:schemeClr val="tx1"/>
                </a:solidFill>
              </a:rPr>
              <a:t>Planificado</a:t>
            </a:r>
          </a:p>
        </p:txBody>
      </p:sp>
      <p:sp>
        <p:nvSpPr>
          <p:cNvPr id="83" name="Text 66">
            <a:extLst>
              <a:ext uri="{FF2B5EF4-FFF2-40B4-BE49-F238E27FC236}">
                <a16:creationId xmlns:a16="http://schemas.microsoft.com/office/drawing/2014/main" id="{224B6AD1-2249-07AC-68CF-7D8C4636B07F}"/>
              </a:ext>
            </a:extLst>
          </p:cNvPr>
          <p:cNvSpPr txBox="1"/>
          <p:nvPr/>
        </p:nvSpPr>
        <p:spPr>
          <a:xfrm>
            <a:off x="5288279" y="5806440"/>
            <a:ext cx="6080760" cy="274320"/>
          </a:xfrm>
          <a:prstGeom prst="rect">
            <a:avLst/>
          </a:prstGeom>
          <a:noFill/>
          <a:ln/>
        </p:spPr>
        <p:txBody>
          <a:bodyPr wrap="square" lIns="0" tIns="0" rIns="0" bIns="0" rtlCol="0" anchor="t"/>
          <a:lstStyle/>
          <a:p>
            <a:pPr marL="0" indent="0" algn="r">
              <a:buNone/>
            </a:pPr>
            <a:r>
              <a:rPr lang="en-US" sz="1200" dirty="0">
                <a:solidFill>
                  <a:schemeClr val="tx1"/>
                </a:solidFill>
              </a:rPr>
              <a:t>Sprints de dos semanas · entrega del prototipo el 01/11/2026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Shape 94"/>
        <p:cNvGrpSpPr/>
        <p:nvPr/>
      </p:nvGrpSpPr>
      <p:grpSpPr>
        <a:xfrm>
          <a:off x="0" y="0"/>
          <a:ext cx="0" cy="0"/>
          <a:chOff x="0" y="0"/>
          <a:chExt cx="0" cy="0"/>
        </a:xfrm>
      </p:grpSpPr>
      <p:sp>
        <p:nvSpPr>
          <p:cNvPr id="95" name="Google Shape;95;p4"/>
          <p:cNvSpPr txBox="1">
            <a:spLocks noGrp="1"/>
          </p:cNvSpPr>
          <p:nvPr>
            <p:ph type="title"/>
          </p:nvPr>
        </p:nvSpPr>
        <p:spPr>
          <a:xfrm>
            <a:off x="812800" y="812800"/>
            <a:ext cx="10883392" cy="472380"/>
          </a:xfrm>
          <a:prstGeom prst="rect">
            <a:avLst/>
          </a:prstGeom>
          <a:noFill/>
          <a:ln>
            <a:noFill/>
          </a:ln>
        </p:spPr>
        <p:txBody>
          <a:bodyPr spcFirstLastPara="1" wrap="square" lIns="0" tIns="0" rIns="0" bIns="0" anchor="t" anchorCtr="0">
            <a:normAutofit fontScale="90000"/>
          </a:bodyPr>
          <a:lstStyle/>
          <a:p>
            <a:pPr marL="0" lvl="0" indent="0" algn="l" rtl="0">
              <a:lnSpc>
                <a:spcPct val="110000"/>
              </a:lnSpc>
              <a:spcBef>
                <a:spcPts val="0"/>
              </a:spcBef>
              <a:spcAft>
                <a:spcPts val="0"/>
              </a:spcAft>
              <a:buClr>
                <a:srgbClr val="14213D"/>
              </a:buClr>
              <a:buSzPts val="3200"/>
              <a:buFont typeface="DM Sans"/>
              <a:buNone/>
            </a:pPr>
            <a:r>
              <a:rPr lang="en-US" sz="3200" b="1" i="0">
                <a:solidFill>
                  <a:srgbClr val="14213D"/>
                </a:solidFill>
                <a:latin typeface="DM Sans"/>
                <a:ea typeface="DM Sans"/>
                <a:cs typeface="DM Sans"/>
                <a:sym typeface="DM Sans"/>
              </a:rPr>
              <a:t>Burndown del proyecto</a:t>
            </a:r>
            <a:endParaRPr sz="3200"/>
          </a:p>
        </p:txBody>
      </p:sp>
      <p:sp>
        <p:nvSpPr>
          <p:cNvPr id="96" name="Google Shape;96;p4"/>
          <p:cNvSpPr/>
          <p:nvPr/>
        </p:nvSpPr>
        <p:spPr>
          <a:xfrm>
            <a:off x="819150" y="1520130"/>
            <a:ext cx="6946900" cy="3987800"/>
          </a:xfrm>
          <a:prstGeom prst="roundRect">
            <a:avLst>
              <a:gd name="adj" fmla="val 2389"/>
            </a:avLst>
          </a:prstGeom>
          <a:solidFill>
            <a:srgbClr val="FCFCFB"/>
          </a:solidFill>
          <a:ln w="12700" cap="flat" cmpd="sng">
            <a:solidFill>
              <a:srgbClr val="DCDDD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2" name="Picture 101" descr="burndown_proyecto_2026-10-30.png"/>
          <p:cNvPicPr>
            <a:picLocks noChangeAspect="1"/>
          </p:cNvPicPr>
          <p:nvPr/>
        </p:nvPicPr>
        <p:blipFill>
          <a:blip r:embed="rId3"/>
          <a:stretch>
            <a:fillRect/>
          </a:stretch>
        </p:blipFill>
        <p:spPr>
          <a:xfrm>
            <a:off x="927100" y="1628080"/>
            <a:ext cx="6731000" cy="3771900"/>
          </a:xfrm>
          <a:prstGeom prst="rect">
            <a:avLst/>
          </a:prstGeom>
        </p:spPr>
      </p:pic>
      <p:sp>
        <p:nvSpPr>
          <p:cNvPr id="98" name="Google Shape;98;p4"/>
          <p:cNvSpPr/>
          <p:nvPr/>
        </p:nvSpPr>
        <p:spPr>
          <a:xfrm>
            <a:off x="8077200" y="2056309"/>
            <a:ext cx="3401060" cy="66546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04999"/>
              </a:lnSpc>
              <a:spcBef>
                <a:spcPts val="0"/>
              </a:spcBef>
              <a:spcAft>
                <a:spcPts val="0"/>
              </a:spcAft>
              <a:buClr>
                <a:srgbClr val="2A78D6"/>
              </a:buClr>
              <a:buSzPts val="4800"/>
              <a:buFont typeface="DM Sans"/>
              <a:buNone/>
            </a:pPr>
            <a:r>
              <a:rPr lang="en-US" sz="4800" b="1" i="0" u="none" strike="noStrike" cap="none">
                <a:solidFill>
                  <a:srgbClr val="2A78D6"/>
                </a:solidFill>
                <a:latin typeface="DM Sans"/>
                <a:ea typeface="DM Sans"/>
                <a:cs typeface="DM Sans"/>
                <a:sym typeface="DM Sans"/>
              </a:rPr>
              <a:t>8</a:t>
            </a:r>
            <a:endParaRPr sz="4800" b="0" i="0" u="none" strike="noStrike" cap="none">
              <a:solidFill>
                <a:schemeClr val="dk1"/>
              </a:solidFill>
              <a:latin typeface="DM Sans"/>
              <a:ea typeface="DM Sans"/>
              <a:cs typeface="DM Sans"/>
              <a:sym typeface="DM Sans"/>
            </a:endParaRPr>
          </a:p>
        </p:txBody>
      </p:sp>
      <p:sp>
        <p:nvSpPr>
          <p:cNvPr id="99" name="Google Shape;99;p4"/>
          <p:cNvSpPr/>
          <p:nvPr/>
        </p:nvSpPr>
        <p:spPr>
          <a:xfrm>
            <a:off x="8077200" y="2721769"/>
            <a:ext cx="3401060" cy="274241"/>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4A5568"/>
              </a:buClr>
              <a:buSzPts val="1400"/>
              <a:buFont typeface="DM Sans"/>
              <a:buNone/>
            </a:pPr>
            <a:r>
              <a:rPr lang="en-US" sz="1400" b="0" i="0" u="none" strike="noStrike" cap="none">
                <a:solidFill>
                  <a:srgbClr val="4A5568"/>
                </a:solidFill>
                <a:latin typeface="DM Sans"/>
                <a:ea typeface="DM Sans"/>
                <a:cs typeface="DM Sans"/>
                <a:sym typeface="DM Sans"/>
              </a:rPr>
              <a:t>pendientes de 51 al 30/10</a:t>
            </a:r>
            <a:endParaRPr sz="1400" b="0" i="0" u="none" strike="noStrike" cap="none">
              <a:solidFill>
                <a:schemeClr val="dk1"/>
              </a:solidFill>
              <a:latin typeface="DM Sans"/>
              <a:ea typeface="DM Sans"/>
              <a:cs typeface="DM Sans"/>
              <a:sym typeface="DM Sans"/>
            </a:endParaRPr>
          </a:p>
        </p:txBody>
      </p:sp>
      <p:sp>
        <p:nvSpPr>
          <p:cNvPr id="100" name="Google Shape;100;p4"/>
          <p:cNvSpPr/>
          <p:nvPr/>
        </p:nvSpPr>
        <p:spPr>
          <a:xfrm>
            <a:off x="8077200" y="3173809"/>
            <a:ext cx="3401060" cy="1122363"/>
          </a:xfrm>
          <a:prstGeom prst="rect">
            <a:avLst/>
          </a:prstGeom>
          <a:noFill/>
          <a:ln>
            <a:noFill/>
          </a:ln>
        </p:spPr>
        <p:txBody>
          <a:bodyPr spcFirstLastPara="1" wrap="square" lIns="0" tIns="0" rIns="0" bIns="0" anchor="t" anchorCtr="0">
            <a:normAutofit/>
          </a:bodyPr>
          <a:lstStyle/>
          <a:p>
            <a:pPr marL="0" marR="0" lvl="0" indent="0" algn="l" rtl="0">
              <a:lnSpc>
                <a:spcPct val="135000"/>
              </a:lnSpc>
              <a:spcBef>
                <a:spcPts val="0"/>
              </a:spcBef>
              <a:spcAft>
                <a:spcPts val="0"/>
              </a:spcAft>
              <a:buClr>
                <a:srgbClr val="14213D"/>
              </a:buClr>
              <a:buSzPts val="1600"/>
              <a:buFont typeface="DM Sans"/>
              <a:buNone/>
            </a:pPr>
            <a:r>
              <a:rPr lang="en-US" sz="1600" b="0" i="0" u="none" strike="noStrike" cap="none">
                <a:solidFill>
                  <a:srgbClr val="14213D"/>
                </a:solidFill>
                <a:latin typeface="DM Sans"/>
                <a:ea typeface="DM Sans"/>
                <a:cs typeface="DM Sans"/>
                <a:sym typeface="DM Sans"/>
              </a:rPr>
              <a:t>Los cambios del 23/10 sumaron 16 tareas e historias; ya cerramos 12 de ellas.</a:t>
            </a:r>
            <a:endParaRPr sz="1600" b="0" i="0" u="none" strike="noStrike" cap="none">
              <a:solidFill>
                <a:schemeClr val="dk1"/>
              </a:solidFill>
              <a:latin typeface="DM Sans"/>
              <a:ea typeface="DM Sans"/>
              <a:cs typeface="DM Sans"/>
              <a:sym typeface="DM Sans"/>
            </a:endParaRPr>
          </a:p>
        </p:txBody>
      </p:sp>
      <p:sp>
        <p:nvSpPr>
          <p:cNvPr id="101" name="Google Shape;101;p4"/>
          <p:cNvSpPr/>
          <p:nvPr/>
        </p:nvSpPr>
        <p:spPr>
          <a:xfrm>
            <a:off x="8077200" y="4473972"/>
            <a:ext cx="3401060" cy="523081"/>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400"/>
              <a:buFont typeface="DM Sans"/>
              <a:buNone/>
            </a:pPr>
            <a:r>
              <a:rPr lang="en-US" sz="1400" b="0" i="0" u="none" strike="noStrike" cap="none">
                <a:solidFill>
                  <a:srgbClr val="4A5568"/>
                </a:solidFill>
                <a:latin typeface="DM Sans"/>
                <a:ea typeface="DM Sans"/>
                <a:cs typeface="DM Sans"/>
                <a:sym typeface="DM Sans"/>
              </a:rPr>
              <a:t>Quedan las pruebas, Power BI y el empaquetado.</a:t>
            </a:r>
            <a:endParaRPr sz="1400" b="0" i="0" u="none" strike="noStrike" cap="none">
              <a:solidFill>
                <a:schemeClr val="dk1"/>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Shape 106"/>
        <p:cNvGrpSpPr/>
        <p:nvPr/>
      </p:nvGrpSpPr>
      <p:grpSpPr>
        <a:xfrm>
          <a:off x="0" y="0"/>
          <a:ext cx="0" cy="0"/>
          <a:chOff x="0" y="0"/>
          <a:chExt cx="0" cy="0"/>
        </a:xfrm>
      </p:grpSpPr>
      <p:sp>
        <p:nvSpPr>
          <p:cNvPr id="107" name="Google Shape;107;p5"/>
          <p:cNvSpPr txBox="1">
            <a:spLocks noGrp="1"/>
          </p:cNvSpPr>
          <p:nvPr>
            <p:ph type="title"/>
          </p:nvPr>
        </p:nvSpPr>
        <p:spPr>
          <a:xfrm>
            <a:off x="812800" y="812800"/>
            <a:ext cx="10883392" cy="472380"/>
          </a:xfrm>
          <a:prstGeom prst="rect">
            <a:avLst/>
          </a:prstGeom>
          <a:noFill/>
          <a:ln>
            <a:noFill/>
          </a:ln>
        </p:spPr>
        <p:txBody>
          <a:bodyPr spcFirstLastPara="1" wrap="square" lIns="0" tIns="0" rIns="0" bIns="0" anchor="t" anchorCtr="0">
            <a:normAutofit fontScale="90000"/>
          </a:bodyPr>
          <a:lstStyle/>
          <a:p>
            <a:pPr marL="0" lvl="0" indent="0" algn="l" rtl="0">
              <a:lnSpc>
                <a:spcPct val="110000"/>
              </a:lnSpc>
              <a:spcBef>
                <a:spcPts val="0"/>
              </a:spcBef>
              <a:spcAft>
                <a:spcPts val="0"/>
              </a:spcAft>
              <a:buClr>
                <a:srgbClr val="14213D"/>
              </a:buClr>
              <a:buSzPts val="3200"/>
              <a:buFont typeface="DM Sans"/>
              <a:buNone/>
            </a:pPr>
            <a:r>
              <a:rPr lang="en-US" sz="3200" b="1" i="0">
                <a:solidFill>
                  <a:srgbClr val="14213D"/>
                </a:solidFill>
                <a:latin typeface="DM Sans"/>
                <a:ea typeface="DM Sans"/>
                <a:cs typeface="DM Sans"/>
                <a:sym typeface="DM Sans"/>
              </a:rPr>
              <a:t>Sprint 4: burndown y pruebas</a:t>
            </a:r>
            <a:endParaRPr sz="3200"/>
          </a:p>
        </p:txBody>
      </p:sp>
      <p:sp>
        <p:nvSpPr>
          <p:cNvPr id="108" name="Google Shape;108;p5"/>
          <p:cNvSpPr/>
          <p:nvPr/>
        </p:nvSpPr>
        <p:spPr>
          <a:xfrm>
            <a:off x="819150" y="1520130"/>
            <a:ext cx="5168900" cy="2781300"/>
          </a:xfrm>
          <a:prstGeom prst="roundRect">
            <a:avLst>
              <a:gd name="adj" fmla="val 3425"/>
            </a:avLst>
          </a:prstGeom>
          <a:solidFill>
            <a:srgbClr val="FCFCFB"/>
          </a:solidFill>
          <a:ln w="12700" cap="flat" cmpd="sng">
            <a:solidFill>
              <a:srgbClr val="DCDDD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5" name="Picture 114" descr="burndown_sprint-4_2026-10-30.png"/>
          <p:cNvPicPr>
            <a:picLocks noChangeAspect="1"/>
          </p:cNvPicPr>
          <p:nvPr/>
        </p:nvPicPr>
        <p:blipFill>
          <a:blip r:embed="rId3"/>
          <a:stretch>
            <a:fillRect/>
          </a:stretch>
        </p:blipFill>
        <p:spPr>
          <a:xfrm>
            <a:off x="1080407" y="1602680"/>
            <a:ext cx="4671785" cy="2616200"/>
          </a:xfrm>
          <a:prstGeom prst="rect">
            <a:avLst/>
          </a:prstGeom>
        </p:spPr>
      </p:pic>
      <p:sp>
        <p:nvSpPr>
          <p:cNvPr id="110" name="Google Shape;110;p5"/>
          <p:cNvSpPr/>
          <p:nvPr/>
        </p:nvSpPr>
        <p:spPr>
          <a:xfrm>
            <a:off x="812800" y="4434780"/>
            <a:ext cx="5337048" cy="274241"/>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4A5568"/>
              </a:buClr>
              <a:buSzPts val="1400"/>
              <a:buFont typeface="DM Sans"/>
              <a:buNone/>
            </a:pPr>
            <a:r>
              <a:rPr lang="en-US" sz="1400" b="1" i="0" u="none" strike="noStrike" cap="none">
                <a:solidFill>
                  <a:srgbClr val="4A5568"/>
                </a:solidFill>
                <a:latin typeface="DM Sans"/>
                <a:ea typeface="DM Sans"/>
                <a:cs typeface="DM Sans"/>
                <a:sym typeface="DM Sans"/>
              </a:rPr>
              <a:t>Burndown:</a:t>
            </a:r>
            <a:r>
              <a:rPr lang="en-US" sz="1400" b="0" i="0" u="none" strike="noStrike" cap="none">
                <a:solidFill>
                  <a:srgbClr val="4A5568"/>
                </a:solidFill>
                <a:latin typeface="DM Sans"/>
                <a:ea typeface="DM Sans"/>
                <a:cs typeface="DM Sans"/>
                <a:sym typeface="DM Sans"/>
              </a:rPr>
              <a:t> el alcance subió de 5 a 21 con los cambios del 23/10; hoy quedan 8.</a:t>
            </a:r>
            <a:endParaRPr sz="1400" b="0" i="0" u="none" strike="noStrike" cap="none">
              <a:solidFill>
                <a:schemeClr val="dk1"/>
              </a:solidFill>
              <a:latin typeface="DM Sans"/>
              <a:ea typeface="DM Sans"/>
              <a:cs typeface="DM Sans"/>
              <a:sym typeface="DM Sans"/>
            </a:endParaRPr>
          </a:p>
        </p:txBody>
      </p:sp>
      <p:sp>
        <p:nvSpPr>
          <p:cNvPr id="111" name="Google Shape;111;p5"/>
          <p:cNvSpPr/>
          <p:nvPr/>
        </p:nvSpPr>
        <p:spPr>
          <a:xfrm>
            <a:off x="6203950" y="1520130"/>
            <a:ext cx="5168900" cy="2781300"/>
          </a:xfrm>
          <a:prstGeom prst="roundRect">
            <a:avLst>
              <a:gd name="adj" fmla="val 3425"/>
            </a:avLst>
          </a:prstGeom>
          <a:solidFill>
            <a:srgbClr val="FCFCFB"/>
          </a:solidFill>
          <a:ln w="12700" cap="flat" cmpd="sng">
            <a:solidFill>
              <a:srgbClr val="DCDDD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6" name="Picture 115" descr="analitica_crop.png"/>
          <p:cNvPicPr>
            <a:picLocks noChangeAspect="1"/>
          </p:cNvPicPr>
          <p:nvPr/>
        </p:nvPicPr>
        <p:blipFill>
          <a:blip r:embed="rId4"/>
          <a:stretch>
            <a:fillRect/>
          </a:stretch>
        </p:blipFill>
        <p:spPr>
          <a:xfrm>
            <a:off x="6812402" y="1602680"/>
            <a:ext cx="3977396" cy="2616200"/>
          </a:xfrm>
          <a:prstGeom prst="rect">
            <a:avLst/>
          </a:prstGeom>
        </p:spPr>
      </p:pic>
      <p:sp>
        <p:nvSpPr>
          <p:cNvPr id="113" name="Google Shape;113;p5"/>
          <p:cNvSpPr/>
          <p:nvPr/>
        </p:nvSpPr>
        <p:spPr>
          <a:xfrm>
            <a:off x="6197600" y="4434780"/>
            <a:ext cx="5337048" cy="274241"/>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4A5568"/>
              </a:buClr>
              <a:buSzPts val="1400"/>
              <a:buFont typeface="DM Sans"/>
              <a:buNone/>
            </a:pPr>
            <a:r>
              <a:rPr lang="en-US" sz="1400" b="1" i="0" u="none" strike="noStrike" cap="none">
                <a:solidFill>
                  <a:srgbClr val="4A5568"/>
                </a:solidFill>
                <a:latin typeface="DM Sans"/>
                <a:ea typeface="DM Sans"/>
                <a:cs typeface="DM Sans"/>
                <a:sym typeface="DM Sans"/>
              </a:rPr>
              <a:t>Analítica:</a:t>
            </a:r>
            <a:r>
              <a:rPr lang="en-US" sz="1400" b="0" i="0" u="none" strike="noStrike" cap="none">
                <a:solidFill>
                  <a:srgbClr val="4A5568"/>
                </a:solidFill>
                <a:latin typeface="DM Sans"/>
                <a:ea typeface="DM Sans"/>
                <a:cs typeface="DM Sans"/>
                <a:sym typeface="DM Sans"/>
              </a:rPr>
              <a:t> gráficos propios en el panel con las vistas BI (CC-24).</a:t>
            </a:r>
            <a:endParaRPr sz="1400" b="0" i="0" u="none" strike="noStrike" cap="none">
              <a:solidFill>
                <a:schemeClr val="dk1"/>
              </a:solidFill>
              <a:latin typeface="DM Sans"/>
              <a:ea typeface="DM Sans"/>
              <a:cs typeface="DM Sans"/>
              <a:sym typeface="DM Sans"/>
            </a:endParaRPr>
          </a:p>
        </p:txBody>
      </p:sp>
      <p:sp>
        <p:nvSpPr>
          <p:cNvPr id="114" name="Google Shape;114;p5"/>
          <p:cNvSpPr/>
          <p:nvPr/>
        </p:nvSpPr>
        <p:spPr>
          <a:xfrm>
            <a:off x="812800" y="4937621"/>
            <a:ext cx="10566400" cy="579041"/>
          </a:xfrm>
          <a:prstGeom prst="roundRect">
            <a:avLst>
              <a:gd name="adj" fmla="val 13160"/>
            </a:avLst>
          </a:prstGeom>
          <a:solidFill>
            <a:srgbClr val="E3EDFA"/>
          </a:solidFill>
          <a:ln>
            <a:noFill/>
          </a:ln>
        </p:spPr>
        <p:txBody>
          <a:bodyPr spcFirstLastPara="1" wrap="square" lIns="180875" tIns="130075" rIns="0" bIns="104675" anchor="t" anchorCtr="0">
            <a:normAutofit fontScale="92500" lnSpcReduction="10000"/>
          </a:bodyPr>
          <a:lstStyle/>
          <a:p>
            <a:pPr marL="0" marR="0" lvl="0" indent="0" algn="l" rtl="0">
              <a:lnSpc>
                <a:spcPct val="135000"/>
              </a:lnSpc>
              <a:spcBef>
                <a:spcPts val="0"/>
              </a:spcBef>
              <a:spcAft>
                <a:spcPts val="0"/>
              </a:spcAft>
              <a:buClr>
                <a:srgbClr val="14213D"/>
              </a:buClr>
              <a:buSzPts val="1600"/>
              <a:buFont typeface="DM Sans"/>
              <a:buNone/>
            </a:pPr>
            <a:r>
              <a:rPr lang="en-US" sz="1600" b="1" i="0" u="none" strike="noStrike" cap="none">
                <a:solidFill>
                  <a:srgbClr val="14213D"/>
                </a:solidFill>
                <a:latin typeface="DM Sans"/>
                <a:ea typeface="DM Sans"/>
                <a:cs typeface="DM Sans"/>
                <a:sym typeface="DM Sans"/>
              </a:rPr>
              <a:t>Pruebas:</a:t>
            </a:r>
            <a:r>
              <a:rPr lang="en-US" sz="1600" b="0" i="0" u="none" strike="noStrike" cap="none">
                <a:solidFill>
                  <a:srgbClr val="14213D"/>
                </a:solidFill>
                <a:latin typeface="DM Sans"/>
                <a:ea typeface="DM Sans"/>
                <a:cs typeface="DM Sans"/>
                <a:sym typeface="DM Sans"/>
              </a:rPr>
              <a:t> regresión de la API (29/10) con 115 casos: 112 OK, 0 fallan y 3 por correr con expiración. Pendientes: 22 casos de pantallas y la prueba de carga.</a:t>
            </a:r>
            <a:endParaRPr sz="1600" b="0" i="0" u="none" strike="noStrike" cap="none">
              <a:solidFill>
                <a:schemeClr val="dk1"/>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Shape 119"/>
        <p:cNvGrpSpPr/>
        <p:nvPr/>
      </p:nvGrpSpPr>
      <p:grpSpPr>
        <a:xfrm>
          <a:off x="0" y="0"/>
          <a:ext cx="0" cy="0"/>
          <a:chOff x="0" y="0"/>
          <a:chExt cx="0" cy="0"/>
        </a:xfrm>
      </p:grpSpPr>
      <p:sp>
        <p:nvSpPr>
          <p:cNvPr id="120" name="Google Shape;120;p6"/>
          <p:cNvSpPr txBox="1">
            <a:spLocks noGrp="1"/>
          </p:cNvSpPr>
          <p:nvPr>
            <p:ph type="title"/>
          </p:nvPr>
        </p:nvSpPr>
        <p:spPr>
          <a:xfrm>
            <a:off x="812800" y="812800"/>
            <a:ext cx="10883392" cy="472380"/>
          </a:xfrm>
          <a:prstGeom prst="rect">
            <a:avLst/>
          </a:prstGeom>
          <a:noFill/>
          <a:ln>
            <a:noFill/>
          </a:ln>
        </p:spPr>
        <p:txBody>
          <a:bodyPr spcFirstLastPara="1" wrap="square" lIns="0" tIns="0" rIns="0" bIns="0" anchor="t" anchorCtr="0">
            <a:normAutofit fontScale="90000"/>
          </a:bodyPr>
          <a:lstStyle/>
          <a:p>
            <a:pPr marL="0" lvl="0" indent="0" algn="l" rtl="0">
              <a:lnSpc>
                <a:spcPct val="110000"/>
              </a:lnSpc>
              <a:spcBef>
                <a:spcPts val="0"/>
              </a:spcBef>
              <a:spcAft>
                <a:spcPts val="0"/>
              </a:spcAft>
              <a:buClr>
                <a:srgbClr val="14213D"/>
              </a:buClr>
              <a:buSzPts val="3200"/>
              <a:buFont typeface="DM Sans"/>
              <a:buNone/>
            </a:pPr>
            <a:r>
              <a:rPr lang="en-US" sz="3200" b="1" i="0">
                <a:solidFill>
                  <a:srgbClr val="14213D"/>
                </a:solidFill>
                <a:latin typeface="DM Sans"/>
                <a:ea typeface="DM Sans"/>
                <a:cs typeface="DM Sans"/>
                <a:sym typeface="DM Sans"/>
              </a:rPr>
              <a:t>Sprint 4: lo que hizo cada uno</a:t>
            </a:r>
            <a:endParaRPr sz="3200"/>
          </a:p>
        </p:txBody>
      </p:sp>
      <p:sp>
        <p:nvSpPr>
          <p:cNvPr id="121" name="Google Shape;121;p6"/>
          <p:cNvSpPr/>
          <p:nvPr/>
        </p:nvSpPr>
        <p:spPr>
          <a:xfrm>
            <a:off x="819150" y="1520130"/>
            <a:ext cx="3373934" cy="3394770"/>
          </a:xfrm>
          <a:prstGeom prst="roundRect">
            <a:avLst>
              <a:gd name="adj" fmla="val 3027"/>
            </a:avLst>
          </a:prstGeom>
          <a:solidFill>
            <a:srgbClr val="FCFCFB"/>
          </a:solidFill>
          <a:ln w="12700" cap="flat" cmpd="sng">
            <a:solidFill>
              <a:srgbClr val="DCDDD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6"/>
          <p:cNvSpPr/>
          <p:nvPr/>
        </p:nvSpPr>
        <p:spPr>
          <a:xfrm>
            <a:off x="1054100" y="1755080"/>
            <a:ext cx="2991155" cy="299641"/>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4213D"/>
              </a:buClr>
              <a:buSzPts val="1800"/>
              <a:buFont typeface="DM Sans"/>
              <a:buNone/>
            </a:pPr>
            <a:r>
              <a:rPr lang="en-US" sz="1800" b="1" i="0" u="none" strike="noStrike" cap="none">
                <a:solidFill>
                  <a:srgbClr val="14213D"/>
                </a:solidFill>
                <a:latin typeface="DM Sans"/>
                <a:ea typeface="DM Sans"/>
                <a:cs typeface="DM Sans"/>
                <a:sym typeface="DM Sans"/>
              </a:rPr>
              <a:t>Carlos Román</a:t>
            </a:r>
            <a:endParaRPr sz="1800" b="0" i="0" u="none" strike="noStrike" cap="none">
              <a:solidFill>
                <a:schemeClr val="dk1"/>
              </a:solidFill>
              <a:latin typeface="DM Sans"/>
              <a:ea typeface="DM Sans"/>
              <a:cs typeface="DM Sans"/>
              <a:sym typeface="DM Sans"/>
            </a:endParaRPr>
          </a:p>
        </p:txBody>
      </p:sp>
      <p:sp>
        <p:nvSpPr>
          <p:cNvPr id="123" name="Google Shape;123;p6"/>
          <p:cNvSpPr/>
          <p:nvPr/>
        </p:nvSpPr>
        <p:spPr>
          <a:xfrm>
            <a:off x="1054100" y="2054721"/>
            <a:ext cx="2991155"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A78D6"/>
              </a:buClr>
              <a:buSzPts val="1200"/>
              <a:buFont typeface="DM Sans"/>
              <a:buNone/>
            </a:pPr>
            <a:r>
              <a:rPr lang="en-US" sz="1200" b="1" i="0" u="none" strike="noStrike" cap="none">
                <a:solidFill>
                  <a:srgbClr val="2A78D6"/>
                </a:solidFill>
                <a:latin typeface="DM Sans"/>
                <a:ea typeface="DM Sans"/>
                <a:cs typeface="DM Sans"/>
                <a:sym typeface="DM Sans"/>
              </a:rPr>
              <a:t>App, panel web y ERS</a:t>
            </a:r>
            <a:endParaRPr sz="1200" b="0" i="0" u="none" strike="noStrike" cap="none">
              <a:solidFill>
                <a:schemeClr val="dk1"/>
              </a:solidFill>
              <a:latin typeface="DM Sans"/>
              <a:ea typeface="DM Sans"/>
              <a:cs typeface="DM Sans"/>
              <a:sym typeface="DM Sans"/>
            </a:endParaRPr>
          </a:p>
        </p:txBody>
      </p:sp>
      <p:sp>
        <p:nvSpPr>
          <p:cNvPr id="124" name="Google Shape;124;p6"/>
          <p:cNvSpPr/>
          <p:nvPr/>
        </p:nvSpPr>
        <p:spPr>
          <a:xfrm>
            <a:off x="1054100" y="2395041"/>
            <a:ext cx="2991155" cy="2377440"/>
          </a:xfrm>
          <a:prstGeom prst="rect">
            <a:avLst/>
          </a:prstGeom>
          <a:noFill/>
          <a:ln>
            <a:noFill/>
          </a:ln>
        </p:spPr>
        <p:txBody>
          <a:bodyPr spcFirstLastPara="1" wrap="square" lIns="0" tIns="0" rIns="0" bIns="0" anchor="t" anchorCtr="0"/>
          <a:lstStyle/>
          <a:p>
            <a:pPr marL="0" marR="0" lvl="0" indent="0" algn="l" rtl="0">
              <a:lnSpc>
                <a:spcPct val="135000"/>
              </a:lnSpc>
              <a:spcBef>
                <a:spcPts val="0"/>
              </a:spcBef>
              <a:spcAft>
                <a:spcPts val="0"/>
              </a:spcAft>
              <a:buClr>
                <a:srgbClr val="4A5568"/>
              </a:buClr>
              <a:buSzPts val="1300"/>
              <a:buFont typeface="DM Sans"/>
              <a:buNone/>
            </a:pPr>
            <a:r>
              <a:rPr lang="en-US" sz="1300" b="1" i="0" u="none" strike="noStrike" cap="none">
                <a:solidFill>
                  <a:srgbClr val="4A5568"/>
                </a:solidFill>
                <a:latin typeface="DM Sans"/>
                <a:ea typeface="DM Sans"/>
                <a:cs typeface="DM Sans"/>
                <a:sym typeface="DM Sans"/>
              </a:rPr>
              <a:t>Listo:</a:t>
            </a:r>
            <a:r>
              <a:rPr lang="en-US" sz="1300" b="0" i="0" u="none" strike="noStrike" cap="none">
                <a:solidFill>
                  <a:srgbClr val="4A5568"/>
                </a:solidFill>
                <a:latin typeface="DM Sans"/>
                <a:ea typeface="DM Sans"/>
                <a:cs typeface="DM Sans"/>
                <a:sym typeface="DM Sans"/>
              </a:rPr>
              <a:t> pantallas de lista de espera, faltas y avisos; panel con faltas y lista de espera; QR de las 50 bahías.</a:t>
            </a:r>
            <a:endParaRPr sz="1300" b="0" i="0" u="none" strike="noStrike" cap="none">
              <a:solidFill>
                <a:schemeClr val="dk1"/>
              </a:solidFill>
              <a:latin typeface="DM Sans"/>
              <a:ea typeface="DM Sans"/>
              <a:cs typeface="DM Sans"/>
              <a:sym typeface="DM Sans"/>
            </a:endParaRPr>
          </a:p>
          <a:p>
            <a:pPr marL="0" marR="0" lvl="0" indent="0" algn="l" rtl="0">
              <a:lnSpc>
                <a:spcPct val="135000"/>
              </a:lnSpc>
              <a:spcBef>
                <a:spcPts val="800"/>
              </a:spcBef>
              <a:spcAft>
                <a:spcPts val="0"/>
              </a:spcAft>
              <a:buClr>
                <a:srgbClr val="4A5568"/>
              </a:buClr>
              <a:buSzPts val="1300"/>
              <a:buFont typeface="DM Sans"/>
              <a:buNone/>
            </a:pPr>
            <a:r>
              <a:rPr lang="en-US" sz="1300" b="1" i="0" u="none" strike="noStrike" cap="none">
                <a:solidFill>
                  <a:srgbClr val="4A5568"/>
                </a:solidFill>
                <a:latin typeface="DM Sans"/>
                <a:ea typeface="DM Sans"/>
                <a:cs typeface="DM Sans"/>
                <a:sym typeface="DM Sans"/>
              </a:rPr>
              <a:t>Además:</a:t>
            </a:r>
            <a:r>
              <a:rPr lang="en-US" sz="1300" b="0" i="0" u="none" strike="noStrike" cap="none">
                <a:solidFill>
                  <a:srgbClr val="4A5568"/>
                </a:solidFill>
                <a:latin typeface="DM Sans"/>
                <a:ea typeface="DM Sans"/>
                <a:cs typeface="DM Sans"/>
                <a:sym typeface="DM Sans"/>
              </a:rPr>
              <a:t> ERS v1.4 revisado y el Sprint 4 cargado en Jira (30/10).</a:t>
            </a:r>
            <a:endParaRPr sz="1300" b="0" i="0" u="none" strike="noStrike" cap="none">
              <a:solidFill>
                <a:schemeClr val="dk1"/>
              </a:solidFill>
              <a:latin typeface="DM Sans"/>
              <a:ea typeface="DM Sans"/>
              <a:cs typeface="DM Sans"/>
              <a:sym typeface="DM Sans"/>
            </a:endParaRPr>
          </a:p>
          <a:p>
            <a:pPr marL="0" marR="0" lvl="0" indent="0" algn="l" rtl="0">
              <a:lnSpc>
                <a:spcPct val="135000"/>
              </a:lnSpc>
              <a:spcBef>
                <a:spcPts val="800"/>
              </a:spcBef>
              <a:spcAft>
                <a:spcPts val="0"/>
              </a:spcAft>
              <a:buClr>
                <a:srgbClr val="4A5568"/>
              </a:buClr>
              <a:buSzPts val="1300"/>
              <a:buFont typeface="DM Sans"/>
              <a:buNone/>
            </a:pPr>
            <a:r>
              <a:rPr lang="en-US" sz="1300" b="1" i="0" u="none" strike="noStrike" cap="none">
                <a:solidFill>
                  <a:srgbClr val="4A5568"/>
                </a:solidFill>
                <a:latin typeface="DM Sans"/>
                <a:ea typeface="DM Sans"/>
                <a:cs typeface="DM Sans"/>
                <a:sym typeface="DM Sans"/>
              </a:rPr>
              <a:t>Sigue:</a:t>
            </a:r>
            <a:r>
              <a:rPr lang="en-US" sz="1300" b="0" i="0" u="none" strike="noStrike" cap="none">
                <a:solidFill>
                  <a:srgbClr val="4A5568"/>
                </a:solidFill>
                <a:latin typeface="DM Sans"/>
                <a:ea typeface="DM Sans"/>
                <a:cs typeface="DM Sans"/>
                <a:sym typeface="DM Sans"/>
              </a:rPr>
              <a:t> empaquetar la app (KAN-29).</a:t>
            </a:r>
            <a:endParaRPr sz="1300" b="0" i="0" u="none" strike="noStrike" cap="none">
              <a:solidFill>
                <a:schemeClr val="dk1"/>
              </a:solidFill>
              <a:latin typeface="DM Sans"/>
              <a:ea typeface="DM Sans"/>
              <a:cs typeface="DM Sans"/>
              <a:sym typeface="DM Sans"/>
            </a:endParaRPr>
          </a:p>
        </p:txBody>
      </p:sp>
      <p:sp>
        <p:nvSpPr>
          <p:cNvPr id="127" name="Google Shape;127;p6"/>
          <p:cNvSpPr/>
          <p:nvPr/>
        </p:nvSpPr>
        <p:spPr>
          <a:xfrm>
            <a:off x="4408984" y="1520130"/>
            <a:ext cx="3374033" cy="3394770"/>
          </a:xfrm>
          <a:prstGeom prst="roundRect">
            <a:avLst>
              <a:gd name="adj" fmla="val 3027"/>
            </a:avLst>
          </a:prstGeom>
          <a:solidFill>
            <a:srgbClr val="FCFCFB"/>
          </a:solidFill>
          <a:ln w="12700" cap="flat" cmpd="sng">
            <a:solidFill>
              <a:srgbClr val="DCDDD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6"/>
          <p:cNvSpPr/>
          <p:nvPr/>
        </p:nvSpPr>
        <p:spPr>
          <a:xfrm>
            <a:off x="4643934" y="1755080"/>
            <a:ext cx="2991257" cy="299641"/>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4213D"/>
              </a:buClr>
              <a:buSzPts val="1800"/>
              <a:buFont typeface="DM Sans"/>
              <a:buNone/>
            </a:pPr>
            <a:r>
              <a:rPr lang="en-US" sz="1800" b="1" i="0" u="none" strike="noStrike" cap="none">
                <a:solidFill>
                  <a:srgbClr val="14213D"/>
                </a:solidFill>
                <a:latin typeface="DM Sans"/>
                <a:ea typeface="DM Sans"/>
                <a:cs typeface="DM Sans"/>
                <a:sym typeface="DM Sans"/>
              </a:rPr>
              <a:t>Felipe Vidal</a:t>
            </a:r>
            <a:endParaRPr sz="1800" b="0" i="0" u="none" strike="noStrike" cap="none">
              <a:solidFill>
                <a:schemeClr val="dk1"/>
              </a:solidFill>
              <a:latin typeface="DM Sans"/>
              <a:ea typeface="DM Sans"/>
              <a:cs typeface="DM Sans"/>
              <a:sym typeface="DM Sans"/>
            </a:endParaRPr>
          </a:p>
        </p:txBody>
      </p:sp>
      <p:sp>
        <p:nvSpPr>
          <p:cNvPr id="129" name="Google Shape;129;p6"/>
          <p:cNvSpPr/>
          <p:nvPr/>
        </p:nvSpPr>
        <p:spPr>
          <a:xfrm>
            <a:off x="4643934" y="2054721"/>
            <a:ext cx="2991257"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A78D6"/>
              </a:buClr>
              <a:buSzPts val="1200"/>
              <a:buFont typeface="DM Sans"/>
              <a:buNone/>
            </a:pPr>
            <a:r>
              <a:rPr lang="en-US" sz="1200" b="1" i="0" u="none" strike="noStrike" cap="none">
                <a:solidFill>
                  <a:srgbClr val="2A78D6"/>
                </a:solidFill>
                <a:latin typeface="DM Sans"/>
                <a:ea typeface="DM Sans"/>
                <a:cs typeface="DM Sans"/>
                <a:sym typeface="DM Sans"/>
              </a:rPr>
              <a:t>Backend y pruebas</a:t>
            </a:r>
            <a:endParaRPr sz="1200" b="0" i="0" u="none" strike="noStrike" cap="none">
              <a:solidFill>
                <a:schemeClr val="dk1"/>
              </a:solidFill>
              <a:latin typeface="DM Sans"/>
              <a:ea typeface="DM Sans"/>
              <a:cs typeface="DM Sans"/>
              <a:sym typeface="DM Sans"/>
            </a:endParaRPr>
          </a:p>
        </p:txBody>
      </p:sp>
      <p:sp>
        <p:nvSpPr>
          <p:cNvPr id="130" name="Google Shape;130;p6"/>
          <p:cNvSpPr/>
          <p:nvPr/>
        </p:nvSpPr>
        <p:spPr>
          <a:xfrm>
            <a:off x="4643934" y="2395041"/>
            <a:ext cx="2991257" cy="2377440"/>
          </a:xfrm>
          <a:prstGeom prst="rect">
            <a:avLst/>
          </a:prstGeom>
          <a:noFill/>
          <a:ln>
            <a:noFill/>
          </a:ln>
        </p:spPr>
        <p:txBody>
          <a:bodyPr spcFirstLastPara="1" wrap="square" lIns="0" tIns="0" rIns="0" bIns="0" anchor="t" anchorCtr="0"/>
          <a:lstStyle/>
          <a:p>
            <a:pPr marL="0" marR="0" lvl="0" indent="0" algn="l" rtl="0">
              <a:lnSpc>
                <a:spcPct val="135000"/>
              </a:lnSpc>
              <a:spcBef>
                <a:spcPts val="0"/>
              </a:spcBef>
              <a:spcAft>
                <a:spcPts val="0"/>
              </a:spcAft>
              <a:buClr>
                <a:srgbClr val="4A5568"/>
              </a:buClr>
              <a:buSzPts val="1300"/>
              <a:buFont typeface="DM Sans"/>
              <a:buNone/>
            </a:pPr>
            <a:r>
              <a:rPr lang="en-US" sz="1300" b="1" i="0" u="none" strike="noStrike" cap="none">
                <a:solidFill>
                  <a:srgbClr val="4A5568"/>
                </a:solidFill>
                <a:latin typeface="DM Sans"/>
                <a:ea typeface="DM Sans"/>
                <a:cs typeface="DM Sans"/>
                <a:sym typeface="DM Sans"/>
              </a:rPr>
              <a:t>Listo:</a:t>
            </a:r>
            <a:r>
              <a:rPr lang="en-US" sz="1300" b="0" i="0" u="none" strike="noStrike" cap="none">
                <a:solidFill>
                  <a:srgbClr val="4A5568"/>
                </a:solidFill>
                <a:latin typeface="DM Sans"/>
                <a:ea typeface="DM Sans"/>
                <a:cs typeface="DM Sans"/>
                <a:sym typeface="DM Sans"/>
              </a:rPr>
              <a:t> reserva de 60 min y horario, faltas y desbloqueo, lista de espera y avisos.</a:t>
            </a:r>
            <a:endParaRPr sz="1300" b="0" i="0" u="none" strike="noStrike" cap="none">
              <a:solidFill>
                <a:schemeClr val="dk1"/>
              </a:solidFill>
              <a:latin typeface="DM Sans"/>
              <a:ea typeface="DM Sans"/>
              <a:cs typeface="DM Sans"/>
              <a:sym typeface="DM Sans"/>
            </a:endParaRPr>
          </a:p>
          <a:p>
            <a:pPr marL="0" marR="0" lvl="0" indent="0" algn="l" rtl="0">
              <a:lnSpc>
                <a:spcPct val="135000"/>
              </a:lnSpc>
              <a:spcBef>
                <a:spcPts val="800"/>
              </a:spcBef>
              <a:spcAft>
                <a:spcPts val="0"/>
              </a:spcAft>
              <a:buClr>
                <a:srgbClr val="4A5568"/>
              </a:buClr>
              <a:buSzPts val="1300"/>
              <a:buFont typeface="DM Sans"/>
              <a:buNone/>
            </a:pPr>
            <a:r>
              <a:rPr lang="en-US" sz="1300" b="1" i="0" u="none" strike="noStrike" cap="none">
                <a:solidFill>
                  <a:srgbClr val="4A5568"/>
                </a:solidFill>
                <a:latin typeface="DM Sans"/>
                <a:ea typeface="DM Sans"/>
                <a:cs typeface="DM Sans"/>
                <a:sym typeface="DM Sans"/>
              </a:rPr>
              <a:t>Corrigió:</a:t>
            </a:r>
            <a:r>
              <a:rPr lang="en-US" sz="1300" b="0" i="0" u="none" strike="noStrike" cap="none">
                <a:solidFill>
                  <a:srgbClr val="4A5568"/>
                </a:solidFill>
                <a:latin typeface="DM Sans"/>
                <a:ea typeface="DM Sans"/>
                <a:cs typeface="DM Sans"/>
                <a:sym typeface="DM Sans"/>
              </a:rPr>
              <a:t> un ticket o alerta IoT sobre una bahía reservada la cancela sin falta (CC-23).</a:t>
            </a:r>
            <a:endParaRPr sz="1300" b="0" i="0" u="none" strike="noStrike" cap="none">
              <a:solidFill>
                <a:schemeClr val="dk1"/>
              </a:solidFill>
              <a:latin typeface="DM Sans"/>
              <a:ea typeface="DM Sans"/>
              <a:cs typeface="DM Sans"/>
              <a:sym typeface="DM Sans"/>
            </a:endParaRPr>
          </a:p>
          <a:p>
            <a:pPr marL="0" marR="0" lvl="0" indent="0" algn="l" rtl="0">
              <a:lnSpc>
                <a:spcPct val="135000"/>
              </a:lnSpc>
              <a:spcBef>
                <a:spcPts val="800"/>
              </a:spcBef>
              <a:spcAft>
                <a:spcPts val="0"/>
              </a:spcAft>
              <a:buClr>
                <a:srgbClr val="4A5568"/>
              </a:buClr>
              <a:buSzPts val="1300"/>
              <a:buFont typeface="DM Sans"/>
              <a:buNone/>
            </a:pPr>
            <a:r>
              <a:rPr lang="en-US" sz="1300" b="1" i="0" u="none" strike="noStrike" cap="none">
                <a:solidFill>
                  <a:srgbClr val="4A5568"/>
                </a:solidFill>
                <a:latin typeface="DM Sans"/>
                <a:ea typeface="DM Sans"/>
                <a:cs typeface="DM Sans"/>
                <a:sym typeface="DM Sans"/>
              </a:rPr>
              <a:t>Sigue:</a:t>
            </a:r>
            <a:r>
              <a:rPr lang="en-US" sz="1300" b="0" i="0" u="none" strike="noStrike" cap="none">
                <a:solidFill>
                  <a:srgbClr val="4A5568"/>
                </a:solidFill>
                <a:latin typeface="DM Sans"/>
                <a:ea typeface="DM Sans"/>
                <a:cs typeface="DM Sans"/>
                <a:sym typeface="DM Sans"/>
              </a:rPr>
              <a:t> los 22 casos de pantallas y las pruebas de integración (KAN-28).</a:t>
            </a:r>
            <a:endParaRPr sz="1300" b="0" i="0" u="none" strike="noStrike" cap="none">
              <a:solidFill>
                <a:schemeClr val="dk1"/>
              </a:solidFill>
              <a:latin typeface="DM Sans"/>
              <a:ea typeface="DM Sans"/>
              <a:cs typeface="DM Sans"/>
              <a:sym typeface="DM Sans"/>
            </a:endParaRPr>
          </a:p>
        </p:txBody>
      </p:sp>
      <p:sp>
        <p:nvSpPr>
          <p:cNvPr id="133" name="Google Shape;133;p6"/>
          <p:cNvSpPr/>
          <p:nvPr/>
        </p:nvSpPr>
        <p:spPr>
          <a:xfrm>
            <a:off x="7998916" y="1520130"/>
            <a:ext cx="3373934" cy="3394770"/>
          </a:xfrm>
          <a:prstGeom prst="roundRect">
            <a:avLst>
              <a:gd name="adj" fmla="val 3027"/>
            </a:avLst>
          </a:prstGeom>
          <a:solidFill>
            <a:srgbClr val="FCFCFB"/>
          </a:solidFill>
          <a:ln w="12700" cap="flat" cmpd="sng">
            <a:solidFill>
              <a:srgbClr val="DCDDD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6"/>
          <p:cNvSpPr/>
          <p:nvPr/>
        </p:nvSpPr>
        <p:spPr>
          <a:xfrm>
            <a:off x="8233866" y="1755080"/>
            <a:ext cx="2991155" cy="299641"/>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4213D"/>
              </a:buClr>
              <a:buSzPts val="1800"/>
              <a:buFont typeface="DM Sans"/>
              <a:buNone/>
            </a:pPr>
            <a:r>
              <a:rPr lang="en-US" sz="1800" b="1" i="0" u="none" strike="noStrike" cap="none">
                <a:solidFill>
                  <a:srgbClr val="14213D"/>
                </a:solidFill>
                <a:latin typeface="DM Sans"/>
                <a:ea typeface="DM Sans"/>
                <a:cs typeface="DM Sans"/>
                <a:sym typeface="DM Sans"/>
              </a:rPr>
              <a:t>Crisler Romero</a:t>
            </a:r>
            <a:endParaRPr sz="1800" b="0" i="0" u="none" strike="noStrike" cap="none">
              <a:solidFill>
                <a:schemeClr val="dk1"/>
              </a:solidFill>
              <a:latin typeface="DM Sans"/>
              <a:ea typeface="DM Sans"/>
              <a:cs typeface="DM Sans"/>
              <a:sym typeface="DM Sans"/>
            </a:endParaRPr>
          </a:p>
        </p:txBody>
      </p:sp>
      <p:sp>
        <p:nvSpPr>
          <p:cNvPr id="135" name="Google Shape;135;p6"/>
          <p:cNvSpPr/>
          <p:nvPr/>
        </p:nvSpPr>
        <p:spPr>
          <a:xfrm>
            <a:off x="8233866" y="2054721"/>
            <a:ext cx="2991155"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A78D6"/>
              </a:buClr>
              <a:buSzPts val="1200"/>
              <a:buFont typeface="DM Sans"/>
              <a:buNone/>
            </a:pPr>
            <a:r>
              <a:rPr lang="en-US" sz="1200" b="1" i="0" u="none" strike="noStrike" cap="none">
                <a:solidFill>
                  <a:srgbClr val="2A78D6"/>
                </a:solidFill>
                <a:latin typeface="DM Sans"/>
                <a:ea typeface="DM Sans"/>
                <a:cs typeface="DM Sans"/>
                <a:sym typeface="DM Sans"/>
              </a:rPr>
              <a:t>Datos, BI y arquitectura</a:t>
            </a:r>
            <a:endParaRPr sz="1200" b="0" i="0" u="none" strike="noStrike" cap="none">
              <a:solidFill>
                <a:schemeClr val="dk1"/>
              </a:solidFill>
              <a:latin typeface="DM Sans"/>
              <a:ea typeface="DM Sans"/>
              <a:cs typeface="DM Sans"/>
              <a:sym typeface="DM Sans"/>
            </a:endParaRPr>
          </a:p>
        </p:txBody>
      </p:sp>
      <p:sp>
        <p:nvSpPr>
          <p:cNvPr id="136" name="Google Shape;136;p6"/>
          <p:cNvSpPr/>
          <p:nvPr/>
        </p:nvSpPr>
        <p:spPr>
          <a:xfrm>
            <a:off x="8233866" y="2395041"/>
            <a:ext cx="2991155" cy="2377440"/>
          </a:xfrm>
          <a:prstGeom prst="rect">
            <a:avLst/>
          </a:prstGeom>
          <a:noFill/>
          <a:ln>
            <a:noFill/>
          </a:ln>
        </p:spPr>
        <p:txBody>
          <a:bodyPr spcFirstLastPara="1" wrap="square" lIns="0" tIns="0" rIns="0" bIns="0" anchor="t" anchorCtr="0"/>
          <a:lstStyle/>
          <a:p>
            <a:pPr marL="0" marR="0" lvl="0" indent="0" algn="l" rtl="0">
              <a:lnSpc>
                <a:spcPct val="135000"/>
              </a:lnSpc>
              <a:spcBef>
                <a:spcPts val="0"/>
              </a:spcBef>
              <a:spcAft>
                <a:spcPts val="0"/>
              </a:spcAft>
              <a:buClr>
                <a:srgbClr val="4A5568"/>
              </a:buClr>
              <a:buSzPts val="1300"/>
              <a:buFont typeface="DM Sans"/>
              <a:buNone/>
            </a:pPr>
            <a:r>
              <a:rPr lang="en-US" sz="1300" b="1" i="0" u="none" strike="noStrike" cap="none">
                <a:solidFill>
                  <a:srgbClr val="4A5568"/>
                </a:solidFill>
                <a:latin typeface="DM Sans"/>
                <a:ea typeface="DM Sans"/>
                <a:cs typeface="DM Sans"/>
                <a:sym typeface="DM Sans"/>
              </a:rPr>
              <a:t>Listo:</a:t>
            </a:r>
            <a:r>
              <a:rPr lang="en-US" sz="1300" b="0" i="0" u="none" strike="noStrike" cap="none">
                <a:solidFill>
                  <a:srgbClr val="4A5568"/>
                </a:solidFill>
                <a:latin typeface="DM Sans"/>
                <a:ea typeface="DM Sans"/>
                <a:cs typeface="DM Sans"/>
                <a:sym typeface="DM Sans"/>
              </a:rPr>
              <a:t> tablas nuevas, 50 bahías, historial regenerado y gráficos de la pantalla Analítica (CC-24).</a:t>
            </a:r>
            <a:endParaRPr sz="1300" b="0" i="0" u="none" strike="noStrike" cap="none">
              <a:solidFill>
                <a:schemeClr val="dk1"/>
              </a:solidFill>
              <a:latin typeface="DM Sans"/>
              <a:ea typeface="DM Sans"/>
              <a:cs typeface="DM Sans"/>
              <a:sym typeface="DM Sans"/>
            </a:endParaRPr>
          </a:p>
          <a:p>
            <a:pPr marL="0" marR="0" lvl="0" indent="0" algn="l" rtl="0">
              <a:lnSpc>
                <a:spcPct val="135000"/>
              </a:lnSpc>
              <a:spcBef>
                <a:spcPts val="800"/>
              </a:spcBef>
              <a:spcAft>
                <a:spcPts val="0"/>
              </a:spcAft>
              <a:buClr>
                <a:srgbClr val="4A5568"/>
              </a:buClr>
              <a:buSzPts val="1300"/>
              <a:buFont typeface="DM Sans"/>
              <a:buNone/>
            </a:pPr>
            <a:r>
              <a:rPr lang="en-US" sz="1300" b="1" i="0" u="none" strike="noStrike" cap="none">
                <a:solidFill>
                  <a:srgbClr val="4A5568"/>
                </a:solidFill>
                <a:latin typeface="DM Sans"/>
                <a:ea typeface="DM Sans"/>
                <a:cs typeface="DM Sans"/>
                <a:sym typeface="DM Sans"/>
              </a:rPr>
              <a:t>Además:</a:t>
            </a:r>
            <a:r>
              <a:rPr lang="en-US" sz="1300" b="0" i="0" u="none" strike="noStrike" cap="none">
                <a:solidFill>
                  <a:srgbClr val="4A5568"/>
                </a:solidFill>
                <a:latin typeface="DM Sans"/>
                <a:ea typeface="DM Sans"/>
                <a:cs typeface="DM Sans"/>
                <a:sym typeface="DM Sans"/>
              </a:rPr>
              <a:t> UML, DAS v1.2 y regresión de la API (29/10).</a:t>
            </a:r>
            <a:endParaRPr sz="1300" b="0" i="0" u="none" strike="noStrike" cap="none">
              <a:solidFill>
                <a:schemeClr val="dk1"/>
              </a:solidFill>
              <a:latin typeface="DM Sans"/>
              <a:ea typeface="DM Sans"/>
              <a:cs typeface="DM Sans"/>
              <a:sym typeface="DM Sans"/>
            </a:endParaRPr>
          </a:p>
          <a:p>
            <a:pPr marL="0" marR="0" lvl="0" indent="0" algn="l" rtl="0">
              <a:lnSpc>
                <a:spcPct val="135000"/>
              </a:lnSpc>
              <a:spcBef>
                <a:spcPts val="800"/>
              </a:spcBef>
              <a:spcAft>
                <a:spcPts val="0"/>
              </a:spcAft>
              <a:buClr>
                <a:srgbClr val="4A5568"/>
              </a:buClr>
              <a:buSzPts val="1300"/>
              <a:buFont typeface="DM Sans"/>
              <a:buNone/>
            </a:pPr>
            <a:r>
              <a:rPr lang="en-US" sz="1300" b="1" i="0" u="none" strike="noStrike" cap="none" dirty="0">
                <a:solidFill>
                  <a:srgbClr val="4A5568"/>
                </a:solidFill>
                <a:latin typeface="DM Sans"/>
                <a:ea typeface="DM Sans"/>
                <a:cs typeface="DM Sans"/>
                <a:sym typeface="DM Sans"/>
              </a:rPr>
              <a:t>Sigue:</a:t>
            </a:r>
            <a:r>
              <a:rPr lang="en-US" sz="1300" b="0" i="0" u="none" strike="noStrike" cap="none" dirty="0">
                <a:solidFill>
                  <a:srgbClr val="4A5568"/>
                </a:solidFill>
                <a:latin typeface="DM Sans"/>
                <a:ea typeface="DM Sans"/>
                <a:cs typeface="DM Sans"/>
                <a:sym typeface="DM Sans"/>
              </a:rPr>
              <a:t> Power BI Desktop con las vistas nuevas y la prueba de carga.</a:t>
            </a:r>
            <a:endParaRPr sz="1300" b="0" i="0" u="none" strike="noStrike" cap="none" dirty="0">
              <a:solidFill>
                <a:schemeClr val="dk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Shape 143"/>
        <p:cNvGrpSpPr/>
        <p:nvPr/>
      </p:nvGrpSpPr>
      <p:grpSpPr>
        <a:xfrm>
          <a:off x="0" y="0"/>
          <a:ext cx="0" cy="0"/>
          <a:chOff x="0" y="0"/>
          <a:chExt cx="0" cy="0"/>
        </a:xfrm>
      </p:grpSpPr>
      <p:sp>
        <p:nvSpPr>
          <p:cNvPr id="144" name="Google Shape;144;p7"/>
          <p:cNvSpPr txBox="1">
            <a:spLocks noGrp="1"/>
          </p:cNvSpPr>
          <p:nvPr>
            <p:ph type="title"/>
          </p:nvPr>
        </p:nvSpPr>
        <p:spPr>
          <a:xfrm>
            <a:off x="812800" y="812800"/>
            <a:ext cx="10883392" cy="472380"/>
          </a:xfrm>
          <a:prstGeom prst="rect">
            <a:avLst/>
          </a:prstGeom>
          <a:noFill/>
          <a:ln>
            <a:noFill/>
          </a:ln>
        </p:spPr>
        <p:txBody>
          <a:bodyPr spcFirstLastPara="1" wrap="square" lIns="0" tIns="0" rIns="0" bIns="0" anchor="t" anchorCtr="0">
            <a:normAutofit fontScale="90000"/>
          </a:bodyPr>
          <a:lstStyle/>
          <a:p>
            <a:pPr marL="0" lvl="0" indent="0" algn="l" rtl="0">
              <a:lnSpc>
                <a:spcPct val="110000"/>
              </a:lnSpc>
              <a:spcBef>
                <a:spcPts val="0"/>
              </a:spcBef>
              <a:spcAft>
                <a:spcPts val="0"/>
              </a:spcAft>
              <a:buClr>
                <a:srgbClr val="14213D"/>
              </a:buClr>
              <a:buSzPts val="3200"/>
              <a:buFont typeface="DM Sans"/>
              <a:buNone/>
            </a:pPr>
            <a:r>
              <a:rPr lang="en-US" sz="3200" b="1" i="0">
                <a:solidFill>
                  <a:srgbClr val="14213D"/>
                </a:solidFill>
                <a:latin typeface="DM Sans"/>
                <a:ea typeface="DM Sans"/>
                <a:cs typeface="DM Sans"/>
                <a:sym typeface="DM Sans"/>
              </a:rPr>
              <a:t>Riesgos y qué hacemos</a:t>
            </a:r>
            <a:endParaRPr sz="3200"/>
          </a:p>
        </p:txBody>
      </p:sp>
      <p:sp>
        <p:nvSpPr>
          <p:cNvPr id="145" name="Google Shape;145;p7"/>
          <p:cNvSpPr/>
          <p:nvPr/>
        </p:nvSpPr>
        <p:spPr>
          <a:xfrm>
            <a:off x="812800" y="1513780"/>
            <a:ext cx="1143000" cy="2921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568"/>
              </a:buClr>
              <a:buSzPts val="1200"/>
              <a:buFont typeface="DM Sans"/>
              <a:buNone/>
            </a:pPr>
            <a:r>
              <a:rPr lang="en-US" sz="1200" b="1" i="0" u="none" strike="noStrike" cap="none">
                <a:solidFill>
                  <a:srgbClr val="4A5568"/>
                </a:solidFill>
                <a:latin typeface="DM Sans"/>
                <a:ea typeface="DM Sans"/>
                <a:cs typeface="DM Sans"/>
                <a:sym typeface="DM Sans"/>
              </a:rPr>
              <a:t>Probabilidad</a:t>
            </a:r>
            <a:endParaRPr sz="1200" b="0" i="0" u="none" strike="noStrike" cap="none">
              <a:solidFill>
                <a:schemeClr val="dk1"/>
              </a:solidFill>
              <a:latin typeface="DM Sans"/>
              <a:ea typeface="DM Sans"/>
              <a:cs typeface="DM Sans"/>
              <a:sym typeface="DM Sans"/>
            </a:endParaRPr>
          </a:p>
        </p:txBody>
      </p:sp>
      <p:sp>
        <p:nvSpPr>
          <p:cNvPr id="146" name="Google Shape;146;p7"/>
          <p:cNvSpPr/>
          <p:nvPr/>
        </p:nvSpPr>
        <p:spPr>
          <a:xfrm>
            <a:off x="762000" y="2174180"/>
            <a:ext cx="863600" cy="622300"/>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14213D"/>
              </a:buClr>
              <a:buSzPts val="1300"/>
              <a:buFont typeface="DM Sans"/>
              <a:buNone/>
            </a:pPr>
            <a:r>
              <a:rPr lang="en-US" sz="1300" b="1" i="0" u="none" strike="noStrike" cap="none">
                <a:solidFill>
                  <a:srgbClr val="14213D"/>
                </a:solidFill>
                <a:latin typeface="DM Sans"/>
                <a:ea typeface="DM Sans"/>
                <a:cs typeface="DM Sans"/>
                <a:sym typeface="DM Sans"/>
              </a:rPr>
              <a:t>Alta</a:t>
            </a:r>
            <a:endParaRPr sz="1300" b="0" i="0" u="none" strike="noStrike" cap="none">
              <a:solidFill>
                <a:schemeClr val="dk1"/>
              </a:solidFill>
              <a:latin typeface="DM Sans"/>
              <a:ea typeface="DM Sans"/>
              <a:cs typeface="DM Sans"/>
              <a:sym typeface="DM Sans"/>
            </a:endParaRPr>
          </a:p>
        </p:txBody>
      </p:sp>
      <p:sp>
        <p:nvSpPr>
          <p:cNvPr id="147" name="Google Shape;147;p7"/>
          <p:cNvSpPr/>
          <p:nvPr/>
        </p:nvSpPr>
        <p:spPr>
          <a:xfrm>
            <a:off x="1752600" y="1818580"/>
            <a:ext cx="1016000" cy="952500"/>
          </a:xfrm>
          <a:prstGeom prst="roundRect">
            <a:avLst>
              <a:gd name="adj" fmla="val 6667"/>
            </a:avLst>
          </a:prstGeom>
          <a:solidFill>
            <a:srgbClr val="F2C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7"/>
          <p:cNvSpPr/>
          <p:nvPr/>
        </p:nvSpPr>
        <p:spPr>
          <a:xfrm>
            <a:off x="2819400" y="1818580"/>
            <a:ext cx="1016000" cy="952500"/>
          </a:xfrm>
          <a:prstGeom prst="roundRect">
            <a:avLst>
              <a:gd name="adj" fmla="val 6667"/>
            </a:avLst>
          </a:prstGeom>
          <a:solidFill>
            <a:srgbClr val="E56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7"/>
          <p:cNvSpPr/>
          <p:nvPr/>
        </p:nvSpPr>
        <p:spPr>
          <a:xfrm>
            <a:off x="3886200" y="1818580"/>
            <a:ext cx="1016000" cy="952500"/>
          </a:xfrm>
          <a:prstGeom prst="roundRect">
            <a:avLst>
              <a:gd name="adj" fmla="val 6667"/>
            </a:avLst>
          </a:prstGeom>
          <a:solidFill>
            <a:srgbClr val="E56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7"/>
          <p:cNvSpPr/>
          <p:nvPr/>
        </p:nvSpPr>
        <p:spPr>
          <a:xfrm>
            <a:off x="762000" y="3177480"/>
            <a:ext cx="863600" cy="622300"/>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14213D"/>
              </a:buClr>
              <a:buSzPts val="1300"/>
              <a:buFont typeface="DM Sans"/>
              <a:buNone/>
            </a:pPr>
            <a:r>
              <a:rPr lang="en-US" sz="1300" b="1" i="0" u="none" strike="noStrike" cap="none">
                <a:solidFill>
                  <a:srgbClr val="14213D"/>
                </a:solidFill>
                <a:latin typeface="DM Sans"/>
                <a:ea typeface="DM Sans"/>
                <a:cs typeface="DM Sans"/>
                <a:sym typeface="DM Sans"/>
              </a:rPr>
              <a:t>Media</a:t>
            </a:r>
            <a:endParaRPr sz="1300" b="0" i="0" u="none" strike="noStrike" cap="none">
              <a:solidFill>
                <a:schemeClr val="dk1"/>
              </a:solidFill>
              <a:latin typeface="DM Sans"/>
              <a:ea typeface="DM Sans"/>
              <a:cs typeface="DM Sans"/>
              <a:sym typeface="DM Sans"/>
            </a:endParaRPr>
          </a:p>
        </p:txBody>
      </p:sp>
      <p:sp>
        <p:nvSpPr>
          <p:cNvPr id="152" name="Google Shape;152;p7"/>
          <p:cNvSpPr/>
          <p:nvPr/>
        </p:nvSpPr>
        <p:spPr>
          <a:xfrm>
            <a:off x="1752600" y="2821880"/>
            <a:ext cx="1016000" cy="952500"/>
          </a:xfrm>
          <a:prstGeom prst="roundRect">
            <a:avLst>
              <a:gd name="adj" fmla="val 6667"/>
            </a:avLst>
          </a:prstGeom>
          <a:solidFill>
            <a:srgbClr val="7BC6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7"/>
          <p:cNvSpPr/>
          <p:nvPr/>
        </p:nvSpPr>
        <p:spPr>
          <a:xfrm>
            <a:off x="2819400" y="2821880"/>
            <a:ext cx="1016000" cy="952500"/>
          </a:xfrm>
          <a:prstGeom prst="roundRect">
            <a:avLst>
              <a:gd name="adj" fmla="val 6667"/>
            </a:avLst>
          </a:prstGeom>
          <a:solidFill>
            <a:srgbClr val="F2C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7"/>
          <p:cNvSpPr/>
          <p:nvPr/>
        </p:nvSpPr>
        <p:spPr>
          <a:xfrm>
            <a:off x="3886200" y="2821880"/>
            <a:ext cx="1016000" cy="952500"/>
          </a:xfrm>
          <a:prstGeom prst="roundRect">
            <a:avLst>
              <a:gd name="adj" fmla="val 6667"/>
            </a:avLst>
          </a:prstGeom>
          <a:solidFill>
            <a:srgbClr val="E56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7"/>
          <p:cNvSpPr/>
          <p:nvPr/>
        </p:nvSpPr>
        <p:spPr>
          <a:xfrm>
            <a:off x="762000" y="4180780"/>
            <a:ext cx="863600" cy="622300"/>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14213D"/>
              </a:buClr>
              <a:buSzPts val="1300"/>
              <a:buFont typeface="DM Sans"/>
              <a:buNone/>
            </a:pPr>
            <a:r>
              <a:rPr lang="en-US" sz="1300" b="1" i="0" u="none" strike="noStrike" cap="none">
                <a:solidFill>
                  <a:srgbClr val="14213D"/>
                </a:solidFill>
                <a:latin typeface="DM Sans"/>
                <a:ea typeface="DM Sans"/>
                <a:cs typeface="DM Sans"/>
                <a:sym typeface="DM Sans"/>
              </a:rPr>
              <a:t>Baja</a:t>
            </a:r>
            <a:endParaRPr sz="1300" b="0" i="0" u="none" strike="noStrike" cap="none">
              <a:solidFill>
                <a:schemeClr val="dk1"/>
              </a:solidFill>
              <a:latin typeface="DM Sans"/>
              <a:ea typeface="DM Sans"/>
              <a:cs typeface="DM Sans"/>
              <a:sym typeface="DM Sans"/>
            </a:endParaRPr>
          </a:p>
        </p:txBody>
      </p:sp>
      <p:sp>
        <p:nvSpPr>
          <p:cNvPr id="159" name="Google Shape;159;p7"/>
          <p:cNvSpPr/>
          <p:nvPr/>
        </p:nvSpPr>
        <p:spPr>
          <a:xfrm>
            <a:off x="1752600" y="3825180"/>
            <a:ext cx="1016000" cy="952500"/>
          </a:xfrm>
          <a:prstGeom prst="roundRect">
            <a:avLst>
              <a:gd name="adj" fmla="val 6667"/>
            </a:avLst>
          </a:prstGeom>
          <a:solidFill>
            <a:srgbClr val="7BC6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7"/>
          <p:cNvSpPr/>
          <p:nvPr/>
        </p:nvSpPr>
        <p:spPr>
          <a:xfrm>
            <a:off x="2819400" y="3825180"/>
            <a:ext cx="1016000" cy="952500"/>
          </a:xfrm>
          <a:prstGeom prst="roundRect">
            <a:avLst>
              <a:gd name="adj" fmla="val 6667"/>
            </a:avLst>
          </a:prstGeom>
          <a:solidFill>
            <a:srgbClr val="7BC6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7"/>
          <p:cNvSpPr/>
          <p:nvPr/>
        </p:nvSpPr>
        <p:spPr>
          <a:xfrm>
            <a:off x="3886200" y="3825180"/>
            <a:ext cx="1016000" cy="952500"/>
          </a:xfrm>
          <a:prstGeom prst="roundRect">
            <a:avLst>
              <a:gd name="adj" fmla="val 6667"/>
            </a:avLst>
          </a:prstGeom>
          <a:solidFill>
            <a:srgbClr val="F2C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7"/>
          <p:cNvSpPr/>
          <p:nvPr/>
        </p:nvSpPr>
        <p:spPr>
          <a:xfrm>
            <a:off x="1727200" y="4828480"/>
            <a:ext cx="1066800" cy="279400"/>
          </a:xfrm>
          <a:prstGeom prst="rect">
            <a:avLst/>
          </a:prstGeom>
          <a:noFill/>
          <a:ln>
            <a:noFill/>
          </a:ln>
        </p:spPr>
        <p:txBody>
          <a:bodyPr spcFirstLastPara="1" wrap="square" lIns="0" tIns="0" rIns="0" bIns="0" anchor="t" anchorCtr="0">
            <a:normAutofit/>
          </a:bodyPr>
          <a:lstStyle/>
          <a:p>
            <a:pPr marL="0" marR="0" lvl="0" indent="0" algn="ctr" rtl="0">
              <a:lnSpc>
                <a:spcPct val="140000"/>
              </a:lnSpc>
              <a:spcBef>
                <a:spcPts val="0"/>
              </a:spcBef>
              <a:spcAft>
                <a:spcPts val="0"/>
              </a:spcAft>
              <a:buClr>
                <a:srgbClr val="14213D"/>
              </a:buClr>
              <a:buSzPts val="1300"/>
              <a:buFont typeface="DM Sans"/>
              <a:buNone/>
            </a:pPr>
            <a:r>
              <a:rPr lang="en-US" sz="1300" b="1" i="0" u="none" strike="noStrike" cap="none">
                <a:solidFill>
                  <a:srgbClr val="14213D"/>
                </a:solidFill>
                <a:latin typeface="DM Sans"/>
                <a:ea typeface="DM Sans"/>
                <a:cs typeface="DM Sans"/>
                <a:sym typeface="DM Sans"/>
              </a:rPr>
              <a:t>Bajo</a:t>
            </a:r>
            <a:endParaRPr sz="1300" b="0" i="0" u="none" strike="noStrike" cap="none">
              <a:solidFill>
                <a:schemeClr val="dk1"/>
              </a:solidFill>
              <a:latin typeface="DM Sans"/>
              <a:ea typeface="DM Sans"/>
              <a:cs typeface="DM Sans"/>
              <a:sym typeface="DM Sans"/>
            </a:endParaRPr>
          </a:p>
        </p:txBody>
      </p:sp>
      <p:sp>
        <p:nvSpPr>
          <p:cNvPr id="164" name="Google Shape;164;p7"/>
          <p:cNvSpPr/>
          <p:nvPr/>
        </p:nvSpPr>
        <p:spPr>
          <a:xfrm>
            <a:off x="2794000" y="4828480"/>
            <a:ext cx="1066800" cy="279400"/>
          </a:xfrm>
          <a:prstGeom prst="rect">
            <a:avLst/>
          </a:prstGeom>
          <a:noFill/>
          <a:ln>
            <a:noFill/>
          </a:ln>
        </p:spPr>
        <p:txBody>
          <a:bodyPr spcFirstLastPara="1" wrap="square" lIns="0" tIns="0" rIns="0" bIns="0" anchor="t" anchorCtr="0">
            <a:normAutofit/>
          </a:bodyPr>
          <a:lstStyle/>
          <a:p>
            <a:pPr marL="0" marR="0" lvl="0" indent="0" algn="ctr" rtl="0">
              <a:lnSpc>
                <a:spcPct val="140000"/>
              </a:lnSpc>
              <a:spcBef>
                <a:spcPts val="0"/>
              </a:spcBef>
              <a:spcAft>
                <a:spcPts val="0"/>
              </a:spcAft>
              <a:buClr>
                <a:srgbClr val="14213D"/>
              </a:buClr>
              <a:buSzPts val="1300"/>
              <a:buFont typeface="DM Sans"/>
              <a:buNone/>
            </a:pPr>
            <a:r>
              <a:rPr lang="en-US" sz="1300" b="1" i="0" u="none" strike="noStrike" cap="none">
                <a:solidFill>
                  <a:srgbClr val="14213D"/>
                </a:solidFill>
                <a:latin typeface="DM Sans"/>
                <a:ea typeface="DM Sans"/>
                <a:cs typeface="DM Sans"/>
                <a:sym typeface="DM Sans"/>
              </a:rPr>
              <a:t>Medio</a:t>
            </a:r>
            <a:endParaRPr sz="1300" b="0" i="0" u="none" strike="noStrike" cap="none">
              <a:solidFill>
                <a:schemeClr val="dk1"/>
              </a:solidFill>
              <a:latin typeface="DM Sans"/>
              <a:ea typeface="DM Sans"/>
              <a:cs typeface="DM Sans"/>
              <a:sym typeface="DM Sans"/>
            </a:endParaRPr>
          </a:p>
        </p:txBody>
      </p:sp>
      <p:sp>
        <p:nvSpPr>
          <p:cNvPr id="165" name="Google Shape;165;p7"/>
          <p:cNvSpPr/>
          <p:nvPr/>
        </p:nvSpPr>
        <p:spPr>
          <a:xfrm>
            <a:off x="3860800" y="4828480"/>
            <a:ext cx="1066800" cy="279400"/>
          </a:xfrm>
          <a:prstGeom prst="rect">
            <a:avLst/>
          </a:prstGeom>
          <a:noFill/>
          <a:ln>
            <a:noFill/>
          </a:ln>
        </p:spPr>
        <p:txBody>
          <a:bodyPr spcFirstLastPara="1" wrap="square" lIns="0" tIns="0" rIns="0" bIns="0" anchor="t" anchorCtr="0">
            <a:normAutofit/>
          </a:bodyPr>
          <a:lstStyle/>
          <a:p>
            <a:pPr marL="0" marR="0" lvl="0" indent="0" algn="ctr" rtl="0">
              <a:lnSpc>
                <a:spcPct val="140000"/>
              </a:lnSpc>
              <a:spcBef>
                <a:spcPts val="0"/>
              </a:spcBef>
              <a:spcAft>
                <a:spcPts val="0"/>
              </a:spcAft>
              <a:buClr>
                <a:srgbClr val="14213D"/>
              </a:buClr>
              <a:buSzPts val="1300"/>
              <a:buFont typeface="DM Sans"/>
              <a:buNone/>
            </a:pPr>
            <a:r>
              <a:rPr lang="en-US" sz="1300" b="1" i="0" u="none" strike="noStrike" cap="none">
                <a:solidFill>
                  <a:srgbClr val="14213D"/>
                </a:solidFill>
                <a:latin typeface="DM Sans"/>
                <a:ea typeface="DM Sans"/>
                <a:cs typeface="DM Sans"/>
                <a:sym typeface="DM Sans"/>
              </a:rPr>
              <a:t>Alto</a:t>
            </a:r>
            <a:endParaRPr sz="1300" b="0" i="0" u="none" strike="noStrike" cap="none">
              <a:solidFill>
                <a:schemeClr val="dk1"/>
              </a:solidFill>
              <a:latin typeface="DM Sans"/>
              <a:ea typeface="DM Sans"/>
              <a:cs typeface="DM Sans"/>
              <a:sym typeface="DM Sans"/>
            </a:endParaRPr>
          </a:p>
        </p:txBody>
      </p:sp>
      <p:sp>
        <p:nvSpPr>
          <p:cNvPr id="166" name="Google Shape;166;p7"/>
          <p:cNvSpPr/>
          <p:nvPr/>
        </p:nvSpPr>
        <p:spPr>
          <a:xfrm>
            <a:off x="1705356" y="5133280"/>
            <a:ext cx="3244088" cy="238720"/>
          </a:xfrm>
          <a:prstGeom prst="rect">
            <a:avLst/>
          </a:prstGeom>
          <a:noFill/>
          <a:ln>
            <a:noFill/>
          </a:ln>
        </p:spPr>
        <p:txBody>
          <a:bodyPr spcFirstLastPara="1" wrap="square" lIns="0" tIns="0" rIns="0" bIns="0" anchor="t" anchorCtr="0">
            <a:normAutofit lnSpcReduction="10000"/>
          </a:bodyPr>
          <a:lstStyle/>
          <a:p>
            <a:pPr marL="0" marR="0" lvl="0" indent="0" algn="ctr" rtl="0">
              <a:lnSpc>
                <a:spcPct val="140000"/>
              </a:lnSpc>
              <a:spcBef>
                <a:spcPts val="0"/>
              </a:spcBef>
              <a:spcAft>
                <a:spcPts val="0"/>
              </a:spcAft>
              <a:buClr>
                <a:srgbClr val="4A5568"/>
              </a:buClr>
              <a:buSzPts val="1200"/>
              <a:buFont typeface="DM Sans"/>
              <a:buNone/>
            </a:pPr>
            <a:r>
              <a:rPr lang="en-US" sz="1200" b="1" i="0" u="none" strike="noStrike" cap="none">
                <a:solidFill>
                  <a:srgbClr val="4A5568"/>
                </a:solidFill>
                <a:latin typeface="DM Sans"/>
                <a:ea typeface="DM Sans"/>
                <a:cs typeface="DM Sans"/>
                <a:sym typeface="DM Sans"/>
              </a:rPr>
              <a:t>Impacto</a:t>
            </a:r>
            <a:endParaRPr sz="1200" b="0" i="0" u="none" strike="noStrike" cap="none">
              <a:solidFill>
                <a:schemeClr val="dk1"/>
              </a:solidFill>
              <a:latin typeface="DM Sans"/>
              <a:ea typeface="DM Sans"/>
              <a:cs typeface="DM Sans"/>
              <a:sym typeface="DM Sans"/>
            </a:endParaRPr>
          </a:p>
        </p:txBody>
      </p:sp>
      <p:sp>
        <p:nvSpPr>
          <p:cNvPr id="167" name="Google Shape;167;p7"/>
          <p:cNvSpPr/>
          <p:nvPr/>
        </p:nvSpPr>
        <p:spPr>
          <a:xfrm>
            <a:off x="1752600" y="5465961"/>
            <a:ext cx="177800" cy="177800"/>
          </a:xfrm>
          <a:prstGeom prst="roundRect">
            <a:avLst>
              <a:gd name="adj" fmla="val 21429"/>
            </a:avLst>
          </a:prstGeom>
          <a:solidFill>
            <a:srgbClr val="7BC6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7"/>
          <p:cNvSpPr/>
          <p:nvPr/>
        </p:nvSpPr>
        <p:spPr>
          <a:xfrm>
            <a:off x="2032000" y="5448201"/>
            <a:ext cx="362664"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4A5568"/>
              </a:buClr>
              <a:buSzPts val="1200"/>
              <a:buFont typeface="DM Sans"/>
              <a:buNone/>
            </a:pPr>
            <a:r>
              <a:rPr lang="en-US" sz="1200" b="0" i="0" u="none" strike="noStrike" cap="none">
                <a:solidFill>
                  <a:srgbClr val="4A5568"/>
                </a:solidFill>
                <a:latin typeface="DM Sans"/>
                <a:ea typeface="DM Sans"/>
                <a:cs typeface="DM Sans"/>
                <a:sym typeface="DM Sans"/>
              </a:rPr>
              <a:t>Bajo</a:t>
            </a:r>
            <a:endParaRPr sz="1200" b="0" i="0" u="none" strike="noStrike" cap="none">
              <a:solidFill>
                <a:schemeClr val="dk1"/>
              </a:solidFill>
              <a:latin typeface="DM Sans"/>
              <a:ea typeface="DM Sans"/>
              <a:cs typeface="DM Sans"/>
              <a:sym typeface="DM Sans"/>
            </a:endParaRPr>
          </a:p>
        </p:txBody>
      </p:sp>
      <p:sp>
        <p:nvSpPr>
          <p:cNvPr id="169" name="Google Shape;169;p7"/>
          <p:cNvSpPr/>
          <p:nvPr/>
        </p:nvSpPr>
        <p:spPr>
          <a:xfrm>
            <a:off x="2435820" y="5465961"/>
            <a:ext cx="177800" cy="177800"/>
          </a:xfrm>
          <a:prstGeom prst="roundRect">
            <a:avLst>
              <a:gd name="adj" fmla="val 21429"/>
            </a:avLst>
          </a:prstGeom>
          <a:solidFill>
            <a:srgbClr val="F2C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7"/>
          <p:cNvSpPr/>
          <p:nvPr/>
        </p:nvSpPr>
        <p:spPr>
          <a:xfrm>
            <a:off x="2715220" y="5448201"/>
            <a:ext cx="524708"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4A5568"/>
              </a:buClr>
              <a:buSzPts val="1200"/>
              <a:buFont typeface="DM Sans"/>
              <a:buNone/>
            </a:pPr>
            <a:r>
              <a:rPr lang="en-US" sz="1200" b="0" i="0" u="none" strike="noStrike" cap="none">
                <a:solidFill>
                  <a:srgbClr val="4A5568"/>
                </a:solidFill>
                <a:latin typeface="DM Sans"/>
                <a:ea typeface="DM Sans"/>
                <a:cs typeface="DM Sans"/>
                <a:sym typeface="DM Sans"/>
              </a:rPr>
              <a:t>Medio</a:t>
            </a:r>
            <a:endParaRPr sz="1200" b="0" i="0" u="none" strike="noStrike" cap="none">
              <a:solidFill>
                <a:schemeClr val="dk1"/>
              </a:solidFill>
              <a:latin typeface="DM Sans"/>
              <a:ea typeface="DM Sans"/>
              <a:cs typeface="DM Sans"/>
              <a:sym typeface="DM Sans"/>
            </a:endParaRPr>
          </a:p>
        </p:txBody>
      </p:sp>
      <p:sp>
        <p:nvSpPr>
          <p:cNvPr id="171" name="Google Shape;171;p7"/>
          <p:cNvSpPr/>
          <p:nvPr/>
        </p:nvSpPr>
        <p:spPr>
          <a:xfrm>
            <a:off x="3254077" y="5465961"/>
            <a:ext cx="177800" cy="177800"/>
          </a:xfrm>
          <a:prstGeom prst="roundRect">
            <a:avLst>
              <a:gd name="adj" fmla="val 21429"/>
            </a:avLst>
          </a:prstGeom>
          <a:solidFill>
            <a:srgbClr val="E56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7"/>
          <p:cNvSpPr/>
          <p:nvPr/>
        </p:nvSpPr>
        <p:spPr>
          <a:xfrm>
            <a:off x="3533477" y="5448201"/>
            <a:ext cx="339804"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4A5568"/>
              </a:buClr>
              <a:buSzPts val="1200"/>
              <a:buFont typeface="DM Sans"/>
              <a:buNone/>
            </a:pPr>
            <a:r>
              <a:rPr lang="en-US" sz="1200" b="0" i="0" u="none" strike="noStrike" cap="none">
                <a:solidFill>
                  <a:srgbClr val="4A5568"/>
                </a:solidFill>
                <a:latin typeface="DM Sans"/>
                <a:ea typeface="DM Sans"/>
                <a:cs typeface="DM Sans"/>
                <a:sym typeface="DM Sans"/>
              </a:rPr>
              <a:t>Alto</a:t>
            </a:r>
            <a:endParaRPr sz="1200" b="0" i="0" u="none" strike="noStrike" cap="none">
              <a:solidFill>
                <a:schemeClr val="dk1"/>
              </a:solidFill>
              <a:latin typeface="DM Sans"/>
              <a:ea typeface="DM Sans"/>
              <a:cs typeface="DM Sans"/>
              <a:sym typeface="DM Sans"/>
            </a:endParaRPr>
          </a:p>
        </p:txBody>
      </p:sp>
      <p:sp>
        <p:nvSpPr>
          <p:cNvPr id="173" name="Google Shape;173;p7"/>
          <p:cNvSpPr/>
          <p:nvPr/>
        </p:nvSpPr>
        <p:spPr>
          <a:xfrm>
            <a:off x="5308600" y="1513780"/>
            <a:ext cx="263327" cy="281880"/>
          </a:xfrm>
          <a:custGeom>
            <a:avLst/>
            <a:gdLst/>
            <a:ahLst/>
            <a:cxnLst/>
            <a:rect l="l" t="t" r="r" b="b"/>
            <a:pathLst>
              <a:path w="263327" h="281880" extrusionOk="0">
                <a:moveTo>
                  <a:pt x="131663" y="0"/>
                </a:moveTo>
                <a:lnTo>
                  <a:pt x="131663" y="0"/>
                </a:lnTo>
                <a:cubicBezTo>
                  <a:pt x="166582" y="0"/>
                  <a:pt x="200071" y="13872"/>
                  <a:pt x="224763" y="38563"/>
                </a:cubicBezTo>
                <a:cubicBezTo>
                  <a:pt x="249454" y="63255"/>
                  <a:pt x="263326" y="96744"/>
                  <a:pt x="263326" y="131663"/>
                </a:cubicBezTo>
                <a:lnTo>
                  <a:pt x="263327" y="150217"/>
                </a:lnTo>
                <a:cubicBezTo>
                  <a:pt x="263327" y="222932"/>
                  <a:pt x="204379" y="281880"/>
                  <a:pt x="131664" y="281880"/>
                </a:cubicBezTo>
                <a:lnTo>
                  <a:pt x="131663" y="281880"/>
                </a:lnTo>
                <a:cubicBezTo>
                  <a:pt x="58948" y="281880"/>
                  <a:pt x="0" y="222932"/>
                  <a:pt x="0" y="150217"/>
                </a:cubicBezTo>
                <a:lnTo>
                  <a:pt x="0" y="131663"/>
                </a:lnTo>
                <a:cubicBezTo>
                  <a:pt x="0" y="58948"/>
                  <a:pt x="58948" y="0"/>
                  <a:pt x="131663" y="0"/>
                </a:cubicBezTo>
                <a:close/>
              </a:path>
            </a:pathLst>
          </a:custGeom>
          <a:solidFill>
            <a:srgbClr val="14213D"/>
          </a:solidFill>
          <a:ln>
            <a:noFill/>
          </a:ln>
        </p:spPr>
        <p:txBody>
          <a:bodyPr spcFirstLastPara="1" wrap="square" lIns="0" tIns="0" rIns="0" bIns="0" anchor="ctr" anchorCtr="0">
            <a:normAutofit/>
          </a:bodyPr>
          <a:lstStyle/>
          <a:p>
            <a:pPr marL="0" marR="0" lvl="0" indent="0" algn="ctr" rtl="0">
              <a:lnSpc>
                <a:spcPct val="140000"/>
              </a:lnSpc>
              <a:spcBef>
                <a:spcPts val="0"/>
              </a:spcBef>
              <a:spcAft>
                <a:spcPts val="0"/>
              </a:spcAft>
              <a:buClr>
                <a:srgbClr val="F7F6F2"/>
              </a:buClr>
              <a:buSzPts val="1300"/>
              <a:buFont typeface="DM Sans"/>
              <a:buNone/>
            </a:pPr>
            <a:r>
              <a:rPr lang="en-US" sz="1300" b="1" i="0" u="none" strike="noStrike" cap="none">
                <a:solidFill>
                  <a:srgbClr val="F7F6F2"/>
                </a:solidFill>
                <a:latin typeface="DM Sans"/>
                <a:ea typeface="DM Sans"/>
                <a:cs typeface="DM Sans"/>
                <a:sym typeface="DM Sans"/>
              </a:rPr>
              <a:t>14</a:t>
            </a:r>
            <a:endParaRPr sz="1300" b="0" i="0" u="none" strike="noStrike" cap="none">
              <a:solidFill>
                <a:schemeClr val="dk1"/>
              </a:solidFill>
              <a:latin typeface="DM Sans"/>
              <a:ea typeface="DM Sans"/>
              <a:cs typeface="DM Sans"/>
              <a:sym typeface="DM Sans"/>
            </a:endParaRPr>
          </a:p>
        </p:txBody>
      </p:sp>
      <p:sp>
        <p:nvSpPr>
          <p:cNvPr id="174" name="Google Shape;174;p7"/>
          <p:cNvSpPr/>
          <p:nvPr/>
        </p:nvSpPr>
        <p:spPr>
          <a:xfrm>
            <a:off x="5698927" y="1513780"/>
            <a:ext cx="5850682" cy="240010"/>
          </a:xfrm>
          <a:prstGeom prst="rect">
            <a:avLst/>
          </a:prstGeom>
          <a:noFill/>
          <a:ln>
            <a:noFill/>
          </a:ln>
        </p:spPr>
        <p:txBody>
          <a:bodyPr spcFirstLastPara="1" wrap="square" lIns="0" tIns="0" rIns="0" bIns="0" anchor="t" anchorCtr="0">
            <a:normAutofit lnSpcReduction="10000"/>
          </a:bodyPr>
          <a:lstStyle/>
          <a:p>
            <a:pPr marL="0" marR="0" lvl="0" indent="0" algn="l" rtl="0">
              <a:lnSpc>
                <a:spcPct val="130000"/>
              </a:lnSpc>
              <a:spcBef>
                <a:spcPts val="0"/>
              </a:spcBef>
              <a:spcAft>
                <a:spcPts val="0"/>
              </a:spcAft>
              <a:buClr>
                <a:srgbClr val="14213D"/>
              </a:buClr>
              <a:buSzPts val="1300"/>
              <a:buFont typeface="DM Sans"/>
              <a:buNone/>
            </a:pPr>
            <a:r>
              <a:rPr lang="en-US" sz="1300" b="1" i="0" u="none" strike="noStrike" cap="none">
                <a:solidFill>
                  <a:srgbClr val="14213D"/>
                </a:solidFill>
                <a:latin typeface="DM Sans"/>
                <a:ea typeface="DM Sans"/>
                <a:cs typeface="DM Sans"/>
                <a:sym typeface="DM Sans"/>
              </a:rPr>
              <a:t>Sprint 4 corto, con los cambios del 23/10 al medio</a:t>
            </a:r>
            <a:endParaRPr sz="1300" b="0" i="0" u="none" strike="noStrike" cap="none">
              <a:solidFill>
                <a:schemeClr val="dk1"/>
              </a:solidFill>
              <a:latin typeface="DM Sans"/>
              <a:ea typeface="DM Sans"/>
              <a:cs typeface="DM Sans"/>
              <a:sym typeface="DM Sans"/>
            </a:endParaRPr>
          </a:p>
        </p:txBody>
      </p:sp>
      <p:sp>
        <p:nvSpPr>
          <p:cNvPr id="175" name="Google Shape;175;p7"/>
          <p:cNvSpPr/>
          <p:nvPr/>
        </p:nvSpPr>
        <p:spPr>
          <a:xfrm>
            <a:off x="5698927" y="1753791"/>
            <a:ext cx="5850682" cy="436761"/>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35000"/>
              </a:lnSpc>
              <a:spcBef>
                <a:spcPts val="0"/>
              </a:spcBef>
              <a:spcAft>
                <a:spcPts val="0"/>
              </a:spcAft>
              <a:buClr>
                <a:srgbClr val="4A5568"/>
              </a:buClr>
              <a:buSzPts val="1200"/>
              <a:buFont typeface="DM Sans"/>
              <a:buNone/>
            </a:pPr>
            <a:r>
              <a:rPr lang="en-US" sz="1200" b="0" i="0" u="none" strike="noStrike" cap="none">
                <a:solidFill>
                  <a:srgbClr val="4A5568"/>
                </a:solidFill>
                <a:latin typeface="DM Sans"/>
                <a:ea typeface="DM Sans"/>
                <a:cs typeface="DM Sans"/>
                <a:sym typeface="DM Sans"/>
              </a:rPr>
              <a:t>Nivel alto. Cada uno con su parte; lo que no alcance queda como pendiente en el cierre.</a:t>
            </a:r>
            <a:endParaRPr sz="1200" b="0" i="0" u="none" strike="noStrike" cap="none">
              <a:solidFill>
                <a:schemeClr val="dk1"/>
              </a:solidFill>
              <a:latin typeface="DM Sans"/>
              <a:ea typeface="DM Sans"/>
              <a:cs typeface="DM Sans"/>
              <a:sym typeface="DM Sans"/>
            </a:endParaRPr>
          </a:p>
        </p:txBody>
      </p:sp>
      <p:sp>
        <p:nvSpPr>
          <p:cNvPr id="176" name="Google Shape;176;p7"/>
          <p:cNvSpPr/>
          <p:nvPr/>
        </p:nvSpPr>
        <p:spPr>
          <a:xfrm>
            <a:off x="5308600" y="2304852"/>
            <a:ext cx="298549" cy="281880"/>
          </a:xfrm>
          <a:custGeom>
            <a:avLst/>
            <a:gdLst/>
            <a:ahLst/>
            <a:cxnLst/>
            <a:rect l="l" t="t" r="r" b="b"/>
            <a:pathLst>
              <a:path w="298549" h="281880" extrusionOk="0">
                <a:moveTo>
                  <a:pt x="140940" y="0"/>
                </a:moveTo>
                <a:lnTo>
                  <a:pt x="157609" y="0"/>
                </a:lnTo>
                <a:cubicBezTo>
                  <a:pt x="194989" y="0"/>
                  <a:pt x="230837" y="14849"/>
                  <a:pt x="257269" y="41280"/>
                </a:cubicBezTo>
                <a:cubicBezTo>
                  <a:pt x="283700" y="67712"/>
                  <a:pt x="298549" y="103560"/>
                  <a:pt x="298549" y="140940"/>
                </a:cubicBezTo>
                <a:lnTo>
                  <a:pt x="298549" y="140940"/>
                </a:lnTo>
                <a:cubicBezTo>
                  <a:pt x="298549" y="218779"/>
                  <a:pt x="235448" y="281880"/>
                  <a:pt x="157609" y="281880"/>
                </a:cubicBezTo>
                <a:lnTo>
                  <a:pt x="140940" y="281880"/>
                </a:lnTo>
                <a:cubicBezTo>
                  <a:pt x="63101" y="281880"/>
                  <a:pt x="0" y="218779"/>
                  <a:pt x="0" y="140940"/>
                </a:cubicBezTo>
                <a:lnTo>
                  <a:pt x="0" y="140940"/>
                </a:lnTo>
                <a:cubicBezTo>
                  <a:pt x="0" y="63101"/>
                  <a:pt x="63101" y="0"/>
                  <a:pt x="140940" y="0"/>
                </a:cubicBezTo>
                <a:close/>
              </a:path>
            </a:pathLst>
          </a:custGeom>
          <a:solidFill>
            <a:srgbClr val="14213D"/>
          </a:solidFill>
          <a:ln>
            <a:noFill/>
          </a:ln>
        </p:spPr>
        <p:txBody>
          <a:bodyPr spcFirstLastPara="1" wrap="square" lIns="0" tIns="0" rIns="0" bIns="0" anchor="ctr" anchorCtr="0">
            <a:normAutofit/>
          </a:bodyPr>
          <a:lstStyle/>
          <a:p>
            <a:pPr marL="0" marR="0" lvl="0" indent="0" algn="ctr" rtl="0">
              <a:lnSpc>
                <a:spcPct val="140000"/>
              </a:lnSpc>
              <a:spcBef>
                <a:spcPts val="0"/>
              </a:spcBef>
              <a:spcAft>
                <a:spcPts val="0"/>
              </a:spcAft>
              <a:buClr>
                <a:srgbClr val="F7F6F2"/>
              </a:buClr>
              <a:buSzPts val="1300"/>
              <a:buFont typeface="DM Sans"/>
              <a:buNone/>
            </a:pPr>
            <a:r>
              <a:rPr lang="en-US" sz="1300" b="1" i="0" u="none" strike="noStrike" cap="none">
                <a:solidFill>
                  <a:srgbClr val="F7F6F2"/>
                </a:solidFill>
                <a:latin typeface="DM Sans"/>
                <a:ea typeface="DM Sans"/>
                <a:cs typeface="DM Sans"/>
                <a:sym typeface="DM Sans"/>
              </a:rPr>
              <a:t>17</a:t>
            </a:r>
            <a:endParaRPr sz="1300" b="0" i="0" u="none" strike="noStrike" cap="none">
              <a:solidFill>
                <a:schemeClr val="dk1"/>
              </a:solidFill>
              <a:latin typeface="DM Sans"/>
              <a:ea typeface="DM Sans"/>
              <a:cs typeface="DM Sans"/>
              <a:sym typeface="DM Sans"/>
            </a:endParaRPr>
          </a:p>
        </p:txBody>
      </p:sp>
      <p:sp>
        <p:nvSpPr>
          <p:cNvPr id="177" name="Google Shape;177;p7"/>
          <p:cNvSpPr/>
          <p:nvPr/>
        </p:nvSpPr>
        <p:spPr>
          <a:xfrm>
            <a:off x="5734149" y="2304852"/>
            <a:ext cx="5814402" cy="237744"/>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30000"/>
              </a:lnSpc>
              <a:spcBef>
                <a:spcPts val="0"/>
              </a:spcBef>
              <a:spcAft>
                <a:spcPts val="0"/>
              </a:spcAft>
              <a:buClr>
                <a:srgbClr val="14213D"/>
              </a:buClr>
              <a:buSzPts val="1300"/>
              <a:buFont typeface="DM Sans"/>
              <a:buNone/>
            </a:pPr>
            <a:r>
              <a:rPr lang="en-US" sz="1300" b="1" i="0" u="none" strike="noStrike" cap="none">
                <a:solidFill>
                  <a:srgbClr val="14213D"/>
                </a:solidFill>
                <a:latin typeface="DM Sans"/>
                <a:ea typeface="DM Sans"/>
                <a:cs typeface="DM Sans"/>
                <a:sym typeface="DM Sans"/>
              </a:rPr>
              <a:t>Pruebas del Sprint 4 sin ejecutar a días del cierre</a:t>
            </a:r>
            <a:endParaRPr sz="1300" b="0" i="0" u="none" strike="noStrike" cap="none">
              <a:solidFill>
                <a:schemeClr val="dk1"/>
              </a:solidFill>
              <a:latin typeface="DM Sans"/>
              <a:ea typeface="DM Sans"/>
              <a:cs typeface="DM Sans"/>
              <a:sym typeface="DM Sans"/>
            </a:endParaRPr>
          </a:p>
        </p:txBody>
      </p:sp>
      <p:sp>
        <p:nvSpPr>
          <p:cNvPr id="178" name="Google Shape;178;p7"/>
          <p:cNvSpPr/>
          <p:nvPr/>
        </p:nvSpPr>
        <p:spPr>
          <a:xfrm>
            <a:off x="5734149" y="2542032"/>
            <a:ext cx="5814402" cy="436761"/>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35000"/>
              </a:lnSpc>
              <a:spcBef>
                <a:spcPts val="0"/>
              </a:spcBef>
              <a:spcAft>
                <a:spcPts val="0"/>
              </a:spcAft>
              <a:buClr>
                <a:srgbClr val="4A5568"/>
              </a:buClr>
              <a:buSzPts val="1200"/>
              <a:buFont typeface="DM Sans"/>
              <a:buNone/>
            </a:pPr>
            <a:r>
              <a:rPr lang="en-US" sz="1200" b="0" i="0" u="none" strike="noStrike" cap="none">
                <a:solidFill>
                  <a:srgbClr val="4A5568"/>
                </a:solidFill>
                <a:latin typeface="DM Sans"/>
                <a:ea typeface="DM Sans"/>
                <a:cs typeface="DM Sans"/>
                <a:sym typeface="DM Sans"/>
              </a:rPr>
              <a:t>Nivel alto. Regresión lista (29/10); casos de pantallas y prueba de carga el 30 y 31/10.</a:t>
            </a:r>
            <a:endParaRPr sz="1200" b="0" i="0" u="none" strike="noStrike" cap="none">
              <a:solidFill>
                <a:schemeClr val="dk1"/>
              </a:solidFill>
              <a:latin typeface="DM Sans"/>
              <a:ea typeface="DM Sans"/>
              <a:cs typeface="DM Sans"/>
              <a:sym typeface="DM Sans"/>
            </a:endParaRPr>
          </a:p>
        </p:txBody>
      </p:sp>
      <p:sp>
        <p:nvSpPr>
          <p:cNvPr id="179" name="Google Shape;179;p7"/>
          <p:cNvSpPr/>
          <p:nvPr/>
        </p:nvSpPr>
        <p:spPr>
          <a:xfrm>
            <a:off x="5308600" y="3310533"/>
            <a:ext cx="302816" cy="281880"/>
          </a:xfrm>
          <a:custGeom>
            <a:avLst/>
            <a:gdLst/>
            <a:ahLst/>
            <a:cxnLst/>
            <a:rect l="l" t="t" r="r" b="b"/>
            <a:pathLst>
              <a:path w="302816" h="281880" extrusionOk="0">
                <a:moveTo>
                  <a:pt x="140940" y="0"/>
                </a:moveTo>
                <a:lnTo>
                  <a:pt x="161875" y="0"/>
                </a:lnTo>
                <a:cubicBezTo>
                  <a:pt x="199255" y="0"/>
                  <a:pt x="235103" y="14849"/>
                  <a:pt x="261535" y="41280"/>
                </a:cubicBezTo>
                <a:cubicBezTo>
                  <a:pt x="287966" y="67712"/>
                  <a:pt x="302815" y="103560"/>
                  <a:pt x="302815" y="140940"/>
                </a:cubicBezTo>
                <a:lnTo>
                  <a:pt x="302816" y="140940"/>
                </a:lnTo>
                <a:cubicBezTo>
                  <a:pt x="302816" y="218779"/>
                  <a:pt x="239715" y="281880"/>
                  <a:pt x="161876" y="281880"/>
                </a:cubicBezTo>
                <a:lnTo>
                  <a:pt x="140940" y="281880"/>
                </a:lnTo>
                <a:cubicBezTo>
                  <a:pt x="63101" y="281880"/>
                  <a:pt x="0" y="218779"/>
                  <a:pt x="0" y="140940"/>
                </a:cubicBezTo>
                <a:lnTo>
                  <a:pt x="0" y="140940"/>
                </a:lnTo>
                <a:cubicBezTo>
                  <a:pt x="0" y="63101"/>
                  <a:pt x="63101" y="0"/>
                  <a:pt x="140940" y="0"/>
                </a:cubicBezTo>
                <a:close/>
              </a:path>
            </a:pathLst>
          </a:custGeom>
          <a:solidFill>
            <a:srgbClr val="14213D"/>
          </a:solidFill>
          <a:ln>
            <a:noFill/>
          </a:ln>
        </p:spPr>
        <p:txBody>
          <a:bodyPr spcFirstLastPara="1" wrap="square" lIns="0" tIns="0" rIns="0" bIns="0" anchor="ctr" anchorCtr="0">
            <a:normAutofit/>
          </a:bodyPr>
          <a:lstStyle/>
          <a:p>
            <a:pPr marL="0" marR="0" lvl="0" indent="0" algn="ctr" rtl="0">
              <a:lnSpc>
                <a:spcPct val="140000"/>
              </a:lnSpc>
              <a:spcBef>
                <a:spcPts val="0"/>
              </a:spcBef>
              <a:spcAft>
                <a:spcPts val="0"/>
              </a:spcAft>
              <a:buClr>
                <a:srgbClr val="F7F6F2"/>
              </a:buClr>
              <a:buSzPts val="1300"/>
              <a:buFont typeface="DM Sans"/>
              <a:buNone/>
            </a:pPr>
            <a:r>
              <a:rPr lang="en-US" sz="1300" b="1" i="0" u="none" strike="noStrike" cap="none">
                <a:solidFill>
                  <a:srgbClr val="F7F6F2"/>
                </a:solidFill>
                <a:latin typeface="DM Sans"/>
                <a:ea typeface="DM Sans"/>
                <a:cs typeface="DM Sans"/>
                <a:sym typeface="DM Sans"/>
              </a:rPr>
              <a:t>12</a:t>
            </a:r>
            <a:endParaRPr sz="1300" b="0" i="0" u="none" strike="noStrike" cap="none">
              <a:solidFill>
                <a:schemeClr val="dk1"/>
              </a:solidFill>
              <a:latin typeface="DM Sans"/>
              <a:ea typeface="DM Sans"/>
              <a:cs typeface="DM Sans"/>
              <a:sym typeface="DM Sans"/>
            </a:endParaRPr>
          </a:p>
        </p:txBody>
      </p:sp>
      <p:sp>
        <p:nvSpPr>
          <p:cNvPr id="180" name="Google Shape;180;p7"/>
          <p:cNvSpPr/>
          <p:nvPr/>
        </p:nvSpPr>
        <p:spPr>
          <a:xfrm>
            <a:off x="5738416" y="3310533"/>
            <a:ext cx="5810008" cy="240010"/>
          </a:xfrm>
          <a:prstGeom prst="rect">
            <a:avLst/>
          </a:prstGeom>
          <a:noFill/>
          <a:ln>
            <a:noFill/>
          </a:ln>
        </p:spPr>
        <p:txBody>
          <a:bodyPr spcFirstLastPara="1" wrap="square" lIns="0" tIns="0" rIns="0" bIns="0" anchor="t" anchorCtr="0">
            <a:normAutofit lnSpcReduction="10000"/>
          </a:bodyPr>
          <a:lstStyle/>
          <a:p>
            <a:pPr marL="0" marR="0" lvl="0" indent="0" algn="l" rtl="0">
              <a:lnSpc>
                <a:spcPct val="130000"/>
              </a:lnSpc>
              <a:spcBef>
                <a:spcPts val="0"/>
              </a:spcBef>
              <a:spcAft>
                <a:spcPts val="0"/>
              </a:spcAft>
              <a:buClr>
                <a:srgbClr val="14213D"/>
              </a:buClr>
              <a:buSzPts val="1300"/>
              <a:buFont typeface="DM Sans"/>
              <a:buNone/>
            </a:pPr>
            <a:r>
              <a:rPr lang="en-US" sz="1300" b="1" i="0" u="none" strike="noStrike" cap="none">
                <a:solidFill>
                  <a:srgbClr val="14213D"/>
                </a:solidFill>
                <a:latin typeface="DM Sans"/>
                <a:ea typeface="DM Sans"/>
                <a:cs typeface="DM Sans"/>
                <a:sym typeface="DM Sans"/>
              </a:rPr>
              <a:t>El código del Sprint 4 todavía no está en GitHub</a:t>
            </a:r>
            <a:endParaRPr sz="1300" b="0" i="0" u="none" strike="noStrike" cap="none">
              <a:solidFill>
                <a:schemeClr val="dk1"/>
              </a:solidFill>
              <a:latin typeface="DM Sans"/>
              <a:ea typeface="DM Sans"/>
              <a:cs typeface="DM Sans"/>
              <a:sym typeface="DM Sans"/>
            </a:endParaRPr>
          </a:p>
        </p:txBody>
      </p:sp>
      <p:sp>
        <p:nvSpPr>
          <p:cNvPr id="181" name="Google Shape;181;p7"/>
          <p:cNvSpPr/>
          <p:nvPr/>
        </p:nvSpPr>
        <p:spPr>
          <a:xfrm>
            <a:off x="5738416" y="3550543"/>
            <a:ext cx="5810008" cy="231080"/>
          </a:xfrm>
          <a:prstGeom prst="rect">
            <a:avLst/>
          </a:prstGeom>
          <a:noFill/>
          <a:ln>
            <a:noFill/>
          </a:ln>
        </p:spPr>
        <p:txBody>
          <a:bodyPr spcFirstLastPara="1" wrap="square" lIns="0" tIns="0" rIns="0" bIns="0" anchor="t" anchorCtr="0">
            <a:normAutofit lnSpcReduction="10000"/>
          </a:bodyPr>
          <a:lstStyle/>
          <a:p>
            <a:pPr marL="0" marR="0" lvl="0" indent="0" algn="l" rtl="0">
              <a:lnSpc>
                <a:spcPct val="135000"/>
              </a:lnSpc>
              <a:spcBef>
                <a:spcPts val="0"/>
              </a:spcBef>
              <a:spcAft>
                <a:spcPts val="0"/>
              </a:spcAft>
              <a:buClr>
                <a:srgbClr val="4A5568"/>
              </a:buClr>
              <a:buSzPts val="1200"/>
              <a:buFont typeface="DM Sans"/>
              <a:buNone/>
            </a:pPr>
            <a:r>
              <a:rPr lang="en-US" sz="1200" b="0" i="0" u="none" strike="noStrike" cap="none">
                <a:solidFill>
                  <a:srgbClr val="4A5568"/>
                </a:solidFill>
                <a:latin typeface="DM Sans"/>
                <a:ea typeface="DM Sans"/>
                <a:cs typeface="DM Sans"/>
                <a:sym typeface="DM Sans"/>
              </a:rPr>
              <a:t>Nivel alto. Commit hoy y push al cierre (el último commit es del 22/10).</a:t>
            </a:r>
            <a:endParaRPr sz="1200" b="0" i="0" u="none" strike="noStrike" cap="none">
              <a:solidFill>
                <a:schemeClr val="dk1"/>
              </a:solidFill>
              <a:latin typeface="DM Sans"/>
              <a:ea typeface="DM Sans"/>
              <a:cs typeface="DM Sans"/>
              <a:sym typeface="DM Sans"/>
            </a:endParaRPr>
          </a:p>
        </p:txBody>
      </p:sp>
      <p:sp>
        <p:nvSpPr>
          <p:cNvPr id="182" name="Google Shape;182;p7"/>
          <p:cNvSpPr/>
          <p:nvPr/>
        </p:nvSpPr>
        <p:spPr>
          <a:xfrm>
            <a:off x="5308600" y="3895923"/>
            <a:ext cx="310555" cy="281880"/>
          </a:xfrm>
          <a:custGeom>
            <a:avLst/>
            <a:gdLst/>
            <a:ahLst/>
            <a:cxnLst/>
            <a:rect l="l" t="t" r="r" b="b"/>
            <a:pathLst>
              <a:path w="310555" h="281880" extrusionOk="0">
                <a:moveTo>
                  <a:pt x="140940" y="0"/>
                </a:moveTo>
                <a:lnTo>
                  <a:pt x="169614" y="0"/>
                </a:lnTo>
                <a:cubicBezTo>
                  <a:pt x="206994" y="0"/>
                  <a:pt x="242842" y="14849"/>
                  <a:pt x="269274" y="41280"/>
                </a:cubicBezTo>
                <a:cubicBezTo>
                  <a:pt x="295705" y="67712"/>
                  <a:pt x="310554" y="103560"/>
                  <a:pt x="310554" y="140940"/>
                </a:cubicBezTo>
                <a:lnTo>
                  <a:pt x="310555" y="140940"/>
                </a:lnTo>
                <a:cubicBezTo>
                  <a:pt x="310555" y="218779"/>
                  <a:pt x="247454" y="281880"/>
                  <a:pt x="169615" y="281880"/>
                </a:cubicBezTo>
                <a:lnTo>
                  <a:pt x="140940" y="281880"/>
                </a:lnTo>
                <a:cubicBezTo>
                  <a:pt x="63101" y="281880"/>
                  <a:pt x="0" y="218779"/>
                  <a:pt x="0" y="140940"/>
                </a:cubicBezTo>
                <a:lnTo>
                  <a:pt x="0" y="140940"/>
                </a:lnTo>
                <a:cubicBezTo>
                  <a:pt x="0" y="63101"/>
                  <a:pt x="63101" y="0"/>
                  <a:pt x="140940" y="0"/>
                </a:cubicBezTo>
                <a:close/>
              </a:path>
            </a:pathLst>
          </a:custGeom>
          <a:solidFill>
            <a:srgbClr val="14213D"/>
          </a:solidFill>
          <a:ln>
            <a:noFill/>
          </a:ln>
        </p:spPr>
        <p:txBody>
          <a:bodyPr spcFirstLastPara="1" wrap="square" lIns="0" tIns="0" rIns="0" bIns="0" anchor="ctr" anchorCtr="0">
            <a:normAutofit/>
          </a:bodyPr>
          <a:lstStyle/>
          <a:p>
            <a:pPr marL="0" marR="0" lvl="0" indent="0" algn="ctr" rtl="0">
              <a:lnSpc>
                <a:spcPct val="140000"/>
              </a:lnSpc>
              <a:spcBef>
                <a:spcPts val="0"/>
              </a:spcBef>
              <a:spcAft>
                <a:spcPts val="0"/>
              </a:spcAft>
              <a:buClr>
                <a:srgbClr val="F7F6F2"/>
              </a:buClr>
              <a:buSzPts val="1300"/>
              <a:buFont typeface="DM Sans"/>
              <a:buNone/>
            </a:pPr>
            <a:r>
              <a:rPr lang="en-US" sz="1300" b="1" i="0" u="none" strike="noStrike" cap="none">
                <a:solidFill>
                  <a:srgbClr val="F7F6F2"/>
                </a:solidFill>
                <a:latin typeface="DM Sans"/>
                <a:ea typeface="DM Sans"/>
                <a:cs typeface="DM Sans"/>
                <a:sym typeface="DM Sans"/>
              </a:rPr>
              <a:t>15</a:t>
            </a:r>
            <a:endParaRPr sz="1300" b="0" i="0" u="none" strike="noStrike" cap="none">
              <a:solidFill>
                <a:schemeClr val="dk1"/>
              </a:solidFill>
              <a:latin typeface="DM Sans"/>
              <a:ea typeface="DM Sans"/>
              <a:cs typeface="DM Sans"/>
              <a:sym typeface="DM Sans"/>
            </a:endParaRPr>
          </a:p>
        </p:txBody>
      </p:sp>
      <p:sp>
        <p:nvSpPr>
          <p:cNvPr id="183" name="Google Shape;183;p7"/>
          <p:cNvSpPr/>
          <p:nvPr/>
        </p:nvSpPr>
        <p:spPr>
          <a:xfrm>
            <a:off x="5746155" y="3895923"/>
            <a:ext cx="5802037" cy="240010"/>
          </a:xfrm>
          <a:prstGeom prst="rect">
            <a:avLst/>
          </a:prstGeom>
          <a:noFill/>
          <a:ln>
            <a:noFill/>
          </a:ln>
        </p:spPr>
        <p:txBody>
          <a:bodyPr spcFirstLastPara="1" wrap="square" lIns="0" tIns="0" rIns="0" bIns="0" anchor="t" anchorCtr="0">
            <a:normAutofit lnSpcReduction="10000"/>
          </a:bodyPr>
          <a:lstStyle/>
          <a:p>
            <a:pPr marL="0" marR="0" lvl="0" indent="0" algn="l" rtl="0">
              <a:lnSpc>
                <a:spcPct val="130000"/>
              </a:lnSpc>
              <a:spcBef>
                <a:spcPts val="0"/>
              </a:spcBef>
              <a:spcAft>
                <a:spcPts val="0"/>
              </a:spcAft>
              <a:buClr>
                <a:srgbClr val="14213D"/>
              </a:buClr>
              <a:buSzPts val="1300"/>
              <a:buFont typeface="DM Sans"/>
              <a:buNone/>
            </a:pPr>
            <a:r>
              <a:rPr lang="en-US" sz="1300" b="1" i="0" u="none" strike="noStrike" cap="none">
                <a:solidFill>
                  <a:srgbClr val="14213D"/>
                </a:solidFill>
                <a:latin typeface="DM Sans"/>
                <a:ea typeface="DM Sans"/>
                <a:cs typeface="DM Sans"/>
                <a:sym typeface="DM Sans"/>
              </a:rPr>
              <a:t>Jira se mueve tarde (al día desde el 30/10)</a:t>
            </a:r>
            <a:endParaRPr sz="1300" b="0" i="0" u="none" strike="noStrike" cap="none">
              <a:solidFill>
                <a:schemeClr val="dk1"/>
              </a:solidFill>
              <a:latin typeface="DM Sans"/>
              <a:ea typeface="DM Sans"/>
              <a:cs typeface="DM Sans"/>
              <a:sym typeface="DM Sans"/>
            </a:endParaRPr>
          </a:p>
        </p:txBody>
      </p:sp>
      <p:sp>
        <p:nvSpPr>
          <p:cNvPr id="184" name="Google Shape;184;p7"/>
          <p:cNvSpPr/>
          <p:nvPr/>
        </p:nvSpPr>
        <p:spPr>
          <a:xfrm>
            <a:off x="5746155" y="4135934"/>
            <a:ext cx="5802037" cy="231080"/>
          </a:xfrm>
          <a:prstGeom prst="rect">
            <a:avLst/>
          </a:prstGeom>
          <a:noFill/>
          <a:ln>
            <a:noFill/>
          </a:ln>
        </p:spPr>
        <p:txBody>
          <a:bodyPr spcFirstLastPara="1" wrap="square" lIns="0" tIns="0" rIns="0" bIns="0" anchor="t" anchorCtr="0">
            <a:normAutofit lnSpcReduction="10000"/>
          </a:bodyPr>
          <a:lstStyle/>
          <a:p>
            <a:pPr marL="0" marR="0" lvl="0" indent="0" algn="l" rtl="0">
              <a:lnSpc>
                <a:spcPct val="135000"/>
              </a:lnSpc>
              <a:spcBef>
                <a:spcPts val="0"/>
              </a:spcBef>
              <a:spcAft>
                <a:spcPts val="0"/>
              </a:spcAft>
              <a:buClr>
                <a:srgbClr val="4A5568"/>
              </a:buClr>
              <a:buSzPts val="1200"/>
              <a:buFont typeface="DM Sans"/>
              <a:buNone/>
            </a:pPr>
            <a:r>
              <a:rPr lang="en-US" sz="1200" b="0" i="0" u="none" strike="noStrike" cap="none">
                <a:solidFill>
                  <a:srgbClr val="4A5568"/>
                </a:solidFill>
                <a:latin typeface="DM Sans"/>
                <a:ea typeface="DM Sans"/>
                <a:cs typeface="DM Sans"/>
                <a:sym typeface="DM Sans"/>
              </a:rPr>
              <a:t>Nivel bajo. Mover cada tarea el mismo día y exportar el CSV final el 01/11.</a:t>
            </a:r>
            <a:endParaRPr sz="1200" b="0" i="0" u="none" strike="noStrike" cap="none">
              <a:solidFill>
                <a:schemeClr val="dk1"/>
              </a:solidFill>
              <a:latin typeface="DM Sans"/>
              <a:ea typeface="DM Sans"/>
              <a:cs typeface="DM Sans"/>
              <a:sym typeface="DM Sans"/>
            </a:endParaRPr>
          </a:p>
        </p:txBody>
      </p:sp>
      <p:sp>
        <p:nvSpPr>
          <p:cNvPr id="185" name="Google Shape;185;p7"/>
          <p:cNvSpPr/>
          <p:nvPr/>
        </p:nvSpPr>
        <p:spPr>
          <a:xfrm>
            <a:off x="5308600" y="4481314"/>
            <a:ext cx="305792" cy="281880"/>
          </a:xfrm>
          <a:custGeom>
            <a:avLst/>
            <a:gdLst/>
            <a:ahLst/>
            <a:cxnLst/>
            <a:rect l="l" t="t" r="r" b="b"/>
            <a:pathLst>
              <a:path w="305792" h="281880" extrusionOk="0">
                <a:moveTo>
                  <a:pt x="140940" y="0"/>
                </a:moveTo>
                <a:lnTo>
                  <a:pt x="164852" y="0"/>
                </a:lnTo>
                <a:cubicBezTo>
                  <a:pt x="202232" y="0"/>
                  <a:pt x="238080" y="14849"/>
                  <a:pt x="264512" y="41280"/>
                </a:cubicBezTo>
                <a:cubicBezTo>
                  <a:pt x="290943" y="67712"/>
                  <a:pt x="305792" y="103560"/>
                  <a:pt x="305792" y="140940"/>
                </a:cubicBezTo>
                <a:lnTo>
                  <a:pt x="305792" y="140940"/>
                </a:lnTo>
                <a:cubicBezTo>
                  <a:pt x="305792" y="218779"/>
                  <a:pt x="242691" y="281880"/>
                  <a:pt x="164852" y="281880"/>
                </a:cubicBezTo>
                <a:lnTo>
                  <a:pt x="140940" y="281880"/>
                </a:lnTo>
                <a:cubicBezTo>
                  <a:pt x="63101" y="281880"/>
                  <a:pt x="0" y="218779"/>
                  <a:pt x="0" y="140940"/>
                </a:cubicBezTo>
                <a:lnTo>
                  <a:pt x="0" y="140940"/>
                </a:lnTo>
                <a:cubicBezTo>
                  <a:pt x="0" y="63101"/>
                  <a:pt x="63101" y="0"/>
                  <a:pt x="140940" y="0"/>
                </a:cubicBezTo>
                <a:close/>
              </a:path>
            </a:pathLst>
          </a:custGeom>
          <a:solidFill>
            <a:srgbClr val="14213D"/>
          </a:solidFill>
          <a:ln>
            <a:noFill/>
          </a:ln>
        </p:spPr>
        <p:txBody>
          <a:bodyPr spcFirstLastPara="1" wrap="square" lIns="0" tIns="0" rIns="0" bIns="0" anchor="ctr" anchorCtr="0">
            <a:normAutofit/>
          </a:bodyPr>
          <a:lstStyle/>
          <a:p>
            <a:pPr marL="0" marR="0" lvl="0" indent="0" algn="ctr" rtl="0">
              <a:lnSpc>
                <a:spcPct val="140000"/>
              </a:lnSpc>
              <a:spcBef>
                <a:spcPts val="0"/>
              </a:spcBef>
              <a:spcAft>
                <a:spcPts val="0"/>
              </a:spcAft>
              <a:buClr>
                <a:srgbClr val="F7F6F2"/>
              </a:buClr>
              <a:buSzPts val="1300"/>
              <a:buFont typeface="DM Sans"/>
              <a:buNone/>
            </a:pPr>
            <a:r>
              <a:rPr lang="en-US" sz="1300" b="1" i="0" u="none" strike="noStrike" cap="none">
                <a:solidFill>
                  <a:srgbClr val="F7F6F2"/>
                </a:solidFill>
                <a:latin typeface="DM Sans"/>
                <a:ea typeface="DM Sans"/>
                <a:cs typeface="DM Sans"/>
                <a:sym typeface="DM Sans"/>
              </a:rPr>
              <a:t>18</a:t>
            </a:r>
            <a:endParaRPr sz="1300" b="0" i="0" u="none" strike="noStrike" cap="none">
              <a:solidFill>
                <a:schemeClr val="dk1"/>
              </a:solidFill>
              <a:latin typeface="DM Sans"/>
              <a:ea typeface="DM Sans"/>
              <a:cs typeface="DM Sans"/>
              <a:sym typeface="DM Sans"/>
            </a:endParaRPr>
          </a:p>
        </p:txBody>
      </p:sp>
      <p:sp>
        <p:nvSpPr>
          <p:cNvPr id="186" name="Google Shape;186;p7"/>
          <p:cNvSpPr/>
          <p:nvPr/>
        </p:nvSpPr>
        <p:spPr>
          <a:xfrm>
            <a:off x="5741392" y="4481314"/>
            <a:ext cx="5806942" cy="240010"/>
          </a:xfrm>
          <a:prstGeom prst="rect">
            <a:avLst/>
          </a:prstGeom>
          <a:noFill/>
          <a:ln>
            <a:noFill/>
          </a:ln>
        </p:spPr>
        <p:txBody>
          <a:bodyPr spcFirstLastPara="1" wrap="square" lIns="0" tIns="0" rIns="0" bIns="0" anchor="t" anchorCtr="0">
            <a:normAutofit lnSpcReduction="10000"/>
          </a:bodyPr>
          <a:lstStyle/>
          <a:p>
            <a:pPr marL="0" marR="0" lvl="0" indent="0" algn="l" rtl="0">
              <a:lnSpc>
                <a:spcPct val="130000"/>
              </a:lnSpc>
              <a:spcBef>
                <a:spcPts val="0"/>
              </a:spcBef>
              <a:spcAft>
                <a:spcPts val="0"/>
              </a:spcAft>
              <a:buClr>
                <a:srgbClr val="14213D"/>
              </a:buClr>
              <a:buSzPts val="1300"/>
              <a:buFont typeface="DM Sans"/>
              <a:buNone/>
            </a:pPr>
            <a:r>
              <a:rPr lang="en-US" sz="1300" b="1" i="0" u="none" strike="noStrike" cap="none">
                <a:solidFill>
                  <a:srgbClr val="14213D"/>
                </a:solidFill>
                <a:latin typeface="DM Sans"/>
                <a:ea typeface="DM Sans"/>
                <a:cs typeface="DM Sans"/>
                <a:sym typeface="DM Sans"/>
              </a:rPr>
              <a:t>Una llamada de la regresión tardó 2,6 s (límite del ERS: 2 s)</a:t>
            </a:r>
            <a:endParaRPr sz="1300" b="0" i="0" u="none" strike="noStrike" cap="none">
              <a:solidFill>
                <a:schemeClr val="dk1"/>
              </a:solidFill>
              <a:latin typeface="DM Sans"/>
              <a:ea typeface="DM Sans"/>
              <a:cs typeface="DM Sans"/>
              <a:sym typeface="DM Sans"/>
            </a:endParaRPr>
          </a:p>
        </p:txBody>
      </p:sp>
      <p:sp>
        <p:nvSpPr>
          <p:cNvPr id="187" name="Google Shape;187;p7"/>
          <p:cNvSpPr/>
          <p:nvPr/>
        </p:nvSpPr>
        <p:spPr>
          <a:xfrm>
            <a:off x="5741392" y="4721324"/>
            <a:ext cx="5806942" cy="231080"/>
          </a:xfrm>
          <a:prstGeom prst="rect">
            <a:avLst/>
          </a:prstGeom>
          <a:noFill/>
          <a:ln>
            <a:noFill/>
          </a:ln>
        </p:spPr>
        <p:txBody>
          <a:bodyPr spcFirstLastPara="1" wrap="square" lIns="0" tIns="0" rIns="0" bIns="0" anchor="t" anchorCtr="0">
            <a:normAutofit lnSpcReduction="10000"/>
          </a:bodyPr>
          <a:lstStyle/>
          <a:p>
            <a:pPr marL="0" marR="0" lvl="0" indent="0" algn="l" rtl="0">
              <a:lnSpc>
                <a:spcPct val="135000"/>
              </a:lnSpc>
              <a:spcBef>
                <a:spcPts val="0"/>
              </a:spcBef>
              <a:spcAft>
                <a:spcPts val="0"/>
              </a:spcAft>
              <a:buClr>
                <a:srgbClr val="4A5568"/>
              </a:buClr>
              <a:buSzPts val="1200"/>
              <a:buFont typeface="DM Sans"/>
              <a:buNone/>
            </a:pPr>
            <a:r>
              <a:rPr lang="en-US" sz="1200" b="0" i="0" u="none" strike="noStrike" cap="none">
                <a:solidFill>
                  <a:srgbClr val="4A5568"/>
                </a:solidFill>
                <a:latin typeface="DM Sans"/>
                <a:ea typeface="DM Sans"/>
                <a:cs typeface="DM Sans"/>
                <a:sym typeface="DM Sans"/>
              </a:rPr>
              <a:t>Nivel bajo. La prueba de carga mide el check-in con 50 usuarios (RNF-01).</a:t>
            </a:r>
            <a:endParaRPr sz="1200" b="0" i="0" u="none" strike="noStrike" cap="none">
              <a:solidFill>
                <a:schemeClr val="dk1"/>
              </a:solidFill>
              <a:latin typeface="DM Sans"/>
              <a:ea typeface="DM Sans"/>
              <a:cs typeface="DM Sans"/>
              <a:sym typeface="DM Sans"/>
            </a:endParaRPr>
          </a:p>
        </p:txBody>
      </p:sp>
      <p:sp>
        <p:nvSpPr>
          <p:cNvPr id="150" name="Google Shape;150;p7"/>
          <p:cNvSpPr/>
          <p:nvPr/>
        </p:nvSpPr>
        <p:spPr>
          <a:xfrm>
            <a:off x="4041648" y="2121408"/>
            <a:ext cx="297954" cy="342900"/>
          </a:xfrm>
          <a:custGeom>
            <a:avLst/>
            <a:gdLst/>
            <a:ahLst/>
            <a:cxnLst/>
            <a:rect l="l" t="t" r="r" b="b"/>
            <a:pathLst>
              <a:path w="297954" h="342900" extrusionOk="0">
                <a:moveTo>
                  <a:pt x="148977" y="0"/>
                </a:moveTo>
                <a:lnTo>
                  <a:pt x="148977" y="0"/>
                </a:lnTo>
                <a:cubicBezTo>
                  <a:pt x="188488" y="0"/>
                  <a:pt x="226381" y="15696"/>
                  <a:pt x="254320" y="43634"/>
                </a:cubicBezTo>
                <a:cubicBezTo>
                  <a:pt x="282258" y="71573"/>
                  <a:pt x="297954" y="109466"/>
                  <a:pt x="297954" y="148977"/>
                </a:cubicBezTo>
                <a:lnTo>
                  <a:pt x="297954" y="193923"/>
                </a:lnTo>
                <a:cubicBezTo>
                  <a:pt x="297954" y="276201"/>
                  <a:pt x="231255" y="342900"/>
                  <a:pt x="148977" y="342900"/>
                </a:cubicBezTo>
                <a:lnTo>
                  <a:pt x="148977" y="342900"/>
                </a:lnTo>
                <a:cubicBezTo>
                  <a:pt x="66699" y="342900"/>
                  <a:pt x="0" y="276201"/>
                  <a:pt x="0" y="193923"/>
                </a:cubicBezTo>
                <a:lnTo>
                  <a:pt x="0" y="148977"/>
                </a:lnTo>
                <a:cubicBezTo>
                  <a:pt x="0" y="66699"/>
                  <a:pt x="66699" y="0"/>
                  <a:pt x="148977" y="0"/>
                </a:cubicBezTo>
                <a:close/>
              </a:path>
            </a:pathLst>
          </a:custGeom>
          <a:solidFill>
            <a:srgbClr val="14213D"/>
          </a:solidFill>
          <a:ln>
            <a:noFill/>
          </a:ln>
        </p:spPr>
        <p:txBody>
          <a:bodyPr spcFirstLastPara="1" wrap="square" lIns="0" tIns="0" rIns="0" bIns="0" anchor="ctr" anchorCtr="0">
            <a:normAutofit/>
          </a:bodyPr>
          <a:lstStyle/>
          <a:p>
            <a:pPr marL="0" marR="0" lvl="0" indent="0" algn="ctr" rtl="0">
              <a:lnSpc>
                <a:spcPct val="140000"/>
              </a:lnSpc>
              <a:spcBef>
                <a:spcPts val="0"/>
              </a:spcBef>
              <a:spcAft>
                <a:spcPts val="0"/>
              </a:spcAft>
              <a:buClr>
                <a:srgbClr val="F7F6F2"/>
              </a:buClr>
              <a:buSzPts val="1500"/>
              <a:buFont typeface="DM Sans"/>
              <a:buNone/>
            </a:pPr>
            <a:r>
              <a:rPr lang="en-US" sz="1500" b="1" i="0" u="none" strike="noStrike" cap="none">
                <a:solidFill>
                  <a:srgbClr val="F7F6F2"/>
                </a:solidFill>
                <a:latin typeface="DM Sans"/>
                <a:ea typeface="DM Sans"/>
                <a:cs typeface="DM Sans"/>
                <a:sym typeface="DM Sans"/>
              </a:rPr>
              <a:t>14</a:t>
            </a:r>
            <a:endParaRPr sz="1500" b="0" i="0" u="none" strike="noStrike" cap="none">
              <a:solidFill>
                <a:schemeClr val="dk1"/>
              </a:solidFill>
              <a:latin typeface="DM Sans"/>
              <a:ea typeface="DM Sans"/>
              <a:cs typeface="DM Sans"/>
              <a:sym typeface="DM Sans"/>
            </a:endParaRPr>
          </a:p>
        </p:txBody>
      </p:sp>
      <p:sp>
        <p:nvSpPr>
          <p:cNvPr id="154" name="Google Shape;154;p7"/>
          <p:cNvSpPr/>
          <p:nvPr/>
        </p:nvSpPr>
        <p:spPr>
          <a:xfrm>
            <a:off x="4453128" y="2121408"/>
            <a:ext cx="343495" cy="342900"/>
          </a:xfrm>
          <a:custGeom>
            <a:avLst/>
            <a:gdLst/>
            <a:ahLst/>
            <a:cxnLst/>
            <a:rect l="l" t="t" r="r" b="b"/>
            <a:pathLst>
              <a:path w="343495" h="342900" extrusionOk="0">
                <a:moveTo>
                  <a:pt x="171450" y="0"/>
                </a:moveTo>
                <a:lnTo>
                  <a:pt x="172045" y="0"/>
                </a:lnTo>
                <a:cubicBezTo>
                  <a:pt x="217516" y="0"/>
                  <a:pt x="261125" y="18063"/>
                  <a:pt x="293278" y="50217"/>
                </a:cubicBezTo>
                <a:cubicBezTo>
                  <a:pt x="325432" y="82370"/>
                  <a:pt x="343495" y="125979"/>
                  <a:pt x="343495" y="171450"/>
                </a:cubicBezTo>
                <a:lnTo>
                  <a:pt x="343495" y="171450"/>
                </a:lnTo>
                <a:cubicBezTo>
                  <a:pt x="343495" y="266139"/>
                  <a:pt x="266734" y="342900"/>
                  <a:pt x="172045" y="342900"/>
                </a:cubicBezTo>
                <a:lnTo>
                  <a:pt x="171450" y="342900"/>
                </a:lnTo>
                <a:cubicBezTo>
                  <a:pt x="76761" y="342900"/>
                  <a:pt x="0" y="266139"/>
                  <a:pt x="0" y="171450"/>
                </a:cubicBezTo>
                <a:lnTo>
                  <a:pt x="0" y="171450"/>
                </a:lnTo>
                <a:cubicBezTo>
                  <a:pt x="0" y="76761"/>
                  <a:pt x="76761" y="0"/>
                  <a:pt x="171450" y="0"/>
                </a:cubicBezTo>
                <a:close/>
              </a:path>
            </a:pathLst>
          </a:custGeom>
          <a:solidFill>
            <a:srgbClr val="14213D"/>
          </a:solidFill>
          <a:ln>
            <a:noFill/>
          </a:ln>
        </p:spPr>
        <p:txBody>
          <a:bodyPr spcFirstLastPara="1" wrap="square" lIns="0" tIns="0" rIns="0" bIns="0" anchor="ctr" anchorCtr="0">
            <a:normAutofit/>
          </a:bodyPr>
          <a:lstStyle/>
          <a:p>
            <a:pPr marL="0" marR="0" lvl="0" indent="0" algn="ctr" rtl="0">
              <a:lnSpc>
                <a:spcPct val="140000"/>
              </a:lnSpc>
              <a:spcBef>
                <a:spcPts val="0"/>
              </a:spcBef>
              <a:spcAft>
                <a:spcPts val="0"/>
              </a:spcAft>
              <a:buClr>
                <a:srgbClr val="F7F6F2"/>
              </a:buClr>
              <a:buSzPts val="1500"/>
              <a:buFont typeface="DM Sans"/>
              <a:buNone/>
            </a:pPr>
            <a:r>
              <a:rPr lang="en-US" sz="1500" b="1" i="0" u="none" strike="noStrike" cap="none">
                <a:solidFill>
                  <a:srgbClr val="F7F6F2"/>
                </a:solidFill>
                <a:latin typeface="DM Sans"/>
                <a:ea typeface="DM Sans"/>
                <a:cs typeface="DM Sans"/>
                <a:sym typeface="DM Sans"/>
              </a:rPr>
              <a:t>17</a:t>
            </a:r>
            <a:endParaRPr sz="1500" b="0" i="0" u="none" strike="noStrike" cap="none">
              <a:solidFill>
                <a:schemeClr val="dk1"/>
              </a:solidFill>
              <a:latin typeface="DM Sans"/>
              <a:ea typeface="DM Sans"/>
              <a:cs typeface="DM Sans"/>
              <a:sym typeface="DM Sans"/>
            </a:endParaRPr>
          </a:p>
        </p:txBody>
      </p:sp>
      <p:sp>
        <p:nvSpPr>
          <p:cNvPr id="155" name="Google Shape;155;p7"/>
          <p:cNvSpPr/>
          <p:nvPr/>
        </p:nvSpPr>
        <p:spPr>
          <a:xfrm>
            <a:off x="2944368" y="4133087"/>
            <a:ext cx="352425" cy="342900"/>
          </a:xfrm>
          <a:custGeom>
            <a:avLst/>
            <a:gdLst/>
            <a:ahLst/>
            <a:cxnLst/>
            <a:rect l="l" t="t" r="r" b="b"/>
            <a:pathLst>
              <a:path w="352425" h="342900" extrusionOk="0">
                <a:moveTo>
                  <a:pt x="171450" y="0"/>
                </a:moveTo>
                <a:lnTo>
                  <a:pt x="180975" y="0"/>
                </a:lnTo>
                <a:cubicBezTo>
                  <a:pt x="226446" y="0"/>
                  <a:pt x="270055" y="18063"/>
                  <a:pt x="302208" y="50217"/>
                </a:cubicBezTo>
                <a:cubicBezTo>
                  <a:pt x="334362" y="82370"/>
                  <a:pt x="352425" y="125979"/>
                  <a:pt x="352425" y="171450"/>
                </a:cubicBezTo>
                <a:lnTo>
                  <a:pt x="352425" y="171450"/>
                </a:lnTo>
                <a:cubicBezTo>
                  <a:pt x="352425" y="266139"/>
                  <a:pt x="275664" y="342900"/>
                  <a:pt x="180975" y="342900"/>
                </a:cubicBezTo>
                <a:lnTo>
                  <a:pt x="171450" y="342900"/>
                </a:lnTo>
                <a:cubicBezTo>
                  <a:pt x="76761" y="342900"/>
                  <a:pt x="0" y="266139"/>
                  <a:pt x="0" y="171450"/>
                </a:cubicBezTo>
                <a:lnTo>
                  <a:pt x="0" y="171450"/>
                </a:lnTo>
                <a:cubicBezTo>
                  <a:pt x="0" y="76761"/>
                  <a:pt x="76761" y="0"/>
                  <a:pt x="171450" y="0"/>
                </a:cubicBezTo>
                <a:close/>
              </a:path>
            </a:pathLst>
          </a:custGeom>
          <a:solidFill>
            <a:srgbClr val="14213D"/>
          </a:solidFill>
          <a:ln>
            <a:noFill/>
          </a:ln>
        </p:spPr>
        <p:txBody>
          <a:bodyPr spcFirstLastPara="1" wrap="square" lIns="0" tIns="0" rIns="0" bIns="0" anchor="ctr" anchorCtr="0">
            <a:normAutofit/>
          </a:bodyPr>
          <a:lstStyle/>
          <a:p>
            <a:pPr marL="0" marR="0" lvl="0" indent="0" algn="ctr" rtl="0">
              <a:lnSpc>
                <a:spcPct val="140000"/>
              </a:lnSpc>
              <a:spcBef>
                <a:spcPts val="0"/>
              </a:spcBef>
              <a:spcAft>
                <a:spcPts val="0"/>
              </a:spcAft>
              <a:buClr>
                <a:srgbClr val="F7F6F2"/>
              </a:buClr>
              <a:buSzPts val="1500"/>
              <a:buFont typeface="DM Sans"/>
              <a:buNone/>
            </a:pPr>
            <a:r>
              <a:rPr lang="en-US" sz="1500" b="1" i="0" u="none" strike="noStrike" cap="none">
                <a:solidFill>
                  <a:srgbClr val="F7F6F2"/>
                </a:solidFill>
                <a:latin typeface="DM Sans"/>
                <a:ea typeface="DM Sans"/>
                <a:cs typeface="DM Sans"/>
                <a:sym typeface="DM Sans"/>
              </a:rPr>
              <a:t>15</a:t>
            </a:r>
            <a:endParaRPr sz="1500" b="0" i="0" u="none" strike="noStrike" cap="none">
              <a:solidFill>
                <a:schemeClr val="dk1"/>
              </a:solidFill>
              <a:latin typeface="DM Sans"/>
              <a:ea typeface="DM Sans"/>
              <a:cs typeface="DM Sans"/>
              <a:sym typeface="DM Sans"/>
            </a:endParaRPr>
          </a:p>
        </p:txBody>
      </p:sp>
      <p:sp>
        <p:nvSpPr>
          <p:cNvPr id="157" name="Google Shape;157;p7"/>
          <p:cNvSpPr/>
          <p:nvPr/>
        </p:nvSpPr>
        <p:spPr>
          <a:xfrm>
            <a:off x="4224528" y="3127248"/>
            <a:ext cx="338534" cy="342900"/>
          </a:xfrm>
          <a:custGeom>
            <a:avLst/>
            <a:gdLst/>
            <a:ahLst/>
            <a:cxnLst/>
            <a:rect l="l" t="t" r="r" b="b"/>
            <a:pathLst>
              <a:path w="338534" h="342900" extrusionOk="0">
                <a:moveTo>
                  <a:pt x="169267" y="0"/>
                </a:moveTo>
                <a:lnTo>
                  <a:pt x="169267" y="0"/>
                </a:lnTo>
                <a:cubicBezTo>
                  <a:pt x="214159" y="0"/>
                  <a:pt x="257213" y="17833"/>
                  <a:pt x="288957" y="49577"/>
                </a:cubicBezTo>
                <a:cubicBezTo>
                  <a:pt x="320701" y="81321"/>
                  <a:pt x="338534" y="124375"/>
                  <a:pt x="338534" y="169267"/>
                </a:cubicBezTo>
                <a:lnTo>
                  <a:pt x="338534" y="173633"/>
                </a:lnTo>
                <a:cubicBezTo>
                  <a:pt x="338534" y="267117"/>
                  <a:pt x="262751" y="342900"/>
                  <a:pt x="169267" y="342900"/>
                </a:cubicBezTo>
                <a:lnTo>
                  <a:pt x="169267" y="342900"/>
                </a:lnTo>
                <a:cubicBezTo>
                  <a:pt x="75783" y="342900"/>
                  <a:pt x="0" y="267117"/>
                  <a:pt x="0" y="173633"/>
                </a:cubicBezTo>
                <a:lnTo>
                  <a:pt x="0" y="169267"/>
                </a:lnTo>
                <a:cubicBezTo>
                  <a:pt x="0" y="75783"/>
                  <a:pt x="75783" y="0"/>
                  <a:pt x="169267" y="0"/>
                </a:cubicBezTo>
                <a:close/>
              </a:path>
            </a:pathLst>
          </a:custGeom>
          <a:solidFill>
            <a:srgbClr val="14213D"/>
          </a:solidFill>
          <a:ln>
            <a:noFill/>
          </a:ln>
        </p:spPr>
        <p:txBody>
          <a:bodyPr spcFirstLastPara="1" wrap="square" lIns="0" tIns="0" rIns="0" bIns="0" anchor="ctr" anchorCtr="0">
            <a:normAutofit/>
          </a:bodyPr>
          <a:lstStyle/>
          <a:p>
            <a:pPr marL="0" marR="0" lvl="0" indent="0" algn="ctr" rtl="0">
              <a:lnSpc>
                <a:spcPct val="140000"/>
              </a:lnSpc>
              <a:spcBef>
                <a:spcPts val="0"/>
              </a:spcBef>
              <a:spcAft>
                <a:spcPts val="0"/>
              </a:spcAft>
              <a:buClr>
                <a:srgbClr val="F7F6F2"/>
              </a:buClr>
              <a:buSzPts val="1500"/>
              <a:buFont typeface="DM Sans"/>
              <a:buNone/>
            </a:pPr>
            <a:r>
              <a:rPr lang="en-US" sz="1500" b="1" i="0" u="none" strike="noStrike" cap="none">
                <a:solidFill>
                  <a:srgbClr val="F7F6F2"/>
                </a:solidFill>
                <a:latin typeface="DM Sans"/>
                <a:ea typeface="DM Sans"/>
                <a:cs typeface="DM Sans"/>
                <a:sym typeface="DM Sans"/>
              </a:rPr>
              <a:t>12</a:t>
            </a:r>
            <a:endParaRPr sz="1500" b="0" i="0" u="none" strike="noStrike" cap="none">
              <a:solidFill>
                <a:schemeClr val="dk1"/>
              </a:solidFill>
              <a:latin typeface="DM Sans"/>
              <a:ea typeface="DM Sans"/>
              <a:cs typeface="DM Sans"/>
              <a:sym typeface="DM Sans"/>
            </a:endParaRPr>
          </a:p>
        </p:txBody>
      </p:sp>
      <p:sp>
        <p:nvSpPr>
          <p:cNvPr id="160" name="Google Shape;160;p7"/>
          <p:cNvSpPr/>
          <p:nvPr/>
        </p:nvSpPr>
        <p:spPr>
          <a:xfrm>
            <a:off x="3355848" y="4133087"/>
            <a:ext cx="346968" cy="342900"/>
          </a:xfrm>
          <a:custGeom>
            <a:avLst/>
            <a:gdLst/>
            <a:ahLst/>
            <a:cxnLst/>
            <a:rect l="l" t="t" r="r" b="b"/>
            <a:pathLst>
              <a:path w="346968" h="342900" extrusionOk="0">
                <a:moveTo>
                  <a:pt x="171450" y="0"/>
                </a:moveTo>
                <a:lnTo>
                  <a:pt x="175518" y="0"/>
                </a:lnTo>
                <a:cubicBezTo>
                  <a:pt x="220989" y="0"/>
                  <a:pt x="264598" y="18063"/>
                  <a:pt x="296751" y="50217"/>
                </a:cubicBezTo>
                <a:cubicBezTo>
                  <a:pt x="328905" y="82370"/>
                  <a:pt x="346968" y="125979"/>
                  <a:pt x="346968" y="171450"/>
                </a:cubicBezTo>
                <a:lnTo>
                  <a:pt x="346968" y="171450"/>
                </a:lnTo>
                <a:cubicBezTo>
                  <a:pt x="346968" y="266139"/>
                  <a:pt x="270207" y="342900"/>
                  <a:pt x="175518" y="342900"/>
                </a:cubicBezTo>
                <a:lnTo>
                  <a:pt x="171450" y="342900"/>
                </a:lnTo>
                <a:cubicBezTo>
                  <a:pt x="76761" y="342900"/>
                  <a:pt x="0" y="266139"/>
                  <a:pt x="0" y="171450"/>
                </a:cubicBezTo>
                <a:lnTo>
                  <a:pt x="0" y="171450"/>
                </a:lnTo>
                <a:cubicBezTo>
                  <a:pt x="0" y="76761"/>
                  <a:pt x="76761" y="0"/>
                  <a:pt x="171450" y="0"/>
                </a:cubicBezTo>
                <a:close/>
              </a:path>
            </a:pathLst>
          </a:custGeom>
          <a:solidFill>
            <a:srgbClr val="14213D"/>
          </a:solidFill>
          <a:ln>
            <a:noFill/>
          </a:ln>
        </p:spPr>
        <p:txBody>
          <a:bodyPr spcFirstLastPara="1" wrap="square" lIns="0" tIns="0" rIns="0" bIns="0" anchor="ctr" anchorCtr="0">
            <a:normAutofit/>
          </a:bodyPr>
          <a:lstStyle/>
          <a:p>
            <a:pPr marL="0" marR="0" lvl="0" indent="0" algn="ctr" rtl="0">
              <a:lnSpc>
                <a:spcPct val="140000"/>
              </a:lnSpc>
              <a:spcBef>
                <a:spcPts val="0"/>
              </a:spcBef>
              <a:spcAft>
                <a:spcPts val="0"/>
              </a:spcAft>
              <a:buClr>
                <a:srgbClr val="F7F6F2"/>
              </a:buClr>
              <a:buSzPts val="1500"/>
              <a:buFont typeface="DM Sans"/>
              <a:buNone/>
            </a:pPr>
            <a:r>
              <a:rPr lang="en-US" sz="1500" b="1" i="0" u="none" strike="noStrike" cap="none">
                <a:solidFill>
                  <a:srgbClr val="F7F6F2"/>
                </a:solidFill>
                <a:latin typeface="DM Sans"/>
                <a:ea typeface="DM Sans"/>
                <a:cs typeface="DM Sans"/>
                <a:sym typeface="DM Sans"/>
              </a:rPr>
              <a:t>18</a:t>
            </a:r>
            <a:endParaRPr sz="1500" b="0" i="0" u="none" strike="noStrike" cap="none">
              <a:solidFill>
                <a:schemeClr val="dk1"/>
              </a:solidFill>
              <a:latin typeface="DM Sans"/>
              <a:ea typeface="DM Sans"/>
              <a:cs typeface="DM Sans"/>
              <a:sym typeface="DM Sans"/>
            </a:endParaRPr>
          </a:p>
        </p:txBody>
      </p:sp>
      <p:sp>
        <p:nvSpPr>
          <p:cNvPr id="188" name="TextBox 187"/>
          <p:cNvSpPr txBox="1"/>
          <p:nvPr/>
        </p:nvSpPr>
        <p:spPr>
          <a:xfrm>
            <a:off x="5312664" y="5074920"/>
            <a:ext cx="6236208" cy="548640"/>
          </a:xfrm>
          <a:prstGeom prst="rect">
            <a:avLst/>
          </a:prstGeom>
          <a:noFill/>
        </p:spPr>
        <p:txBody>
          <a:bodyPr wrap="square">
            <a:spAutoFit/>
          </a:bodyPr>
          <a:lstStyle/>
          <a:p>
            <a:r>
              <a:rPr sz="1100" b="1">
                <a:solidFill>
                  <a:srgbClr val="555B66"/>
                </a:solidFill>
              </a:rPr>
              <a:t>Cerrados: </a:t>
            </a:r>
            <a:r>
              <a:rPr sz="1100">
                <a:solidFill>
                  <a:srgbClr val="555B66"/>
                </a:solidFill>
              </a:rPr>
              <a:t>R10 Power BI embebido (se materializó; se reemplazó por gráficos propios, CC-24) y R13 ventana de reserva (60 min, CC-18).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Shape 94"/>
        <p:cNvGrpSpPr/>
        <p:nvPr/>
      </p:nvGrpSpPr>
      <p:grpSpPr>
        <a:xfrm>
          <a:off x="0" y="0"/>
          <a:ext cx="0" cy="0"/>
          <a:chOff x="0" y="0"/>
          <a:chExt cx="0" cy="0"/>
        </a:xfrm>
      </p:grpSpPr>
      <p:sp>
        <p:nvSpPr>
          <p:cNvPr id="95" name="Google Shape;95;p4"/>
          <p:cNvSpPr txBox="1">
            <a:spLocks noGrp="1"/>
          </p:cNvSpPr>
          <p:nvPr>
            <p:ph type="title"/>
          </p:nvPr>
        </p:nvSpPr>
        <p:spPr>
          <a:xfrm>
            <a:off x="812800" y="812800"/>
            <a:ext cx="10883392" cy="472380"/>
          </a:xfrm>
          <a:prstGeom prst="rect">
            <a:avLst/>
          </a:prstGeom>
          <a:noFill/>
          <a:ln>
            <a:noFill/>
          </a:ln>
        </p:spPr>
        <p:txBody>
          <a:bodyPr spcFirstLastPara="1" wrap="square" lIns="0" tIns="0" rIns="0" bIns="0" anchor="t" anchorCtr="0">
            <a:normAutofit fontScale="90000"/>
          </a:bodyPr>
          <a:lstStyle/>
          <a:p>
            <a:pPr marL="0" lvl="0" indent="0" algn="l" rtl="0">
              <a:lnSpc>
                <a:spcPct val="110000"/>
              </a:lnSpc>
              <a:spcBef>
                <a:spcPts val="0"/>
              </a:spcBef>
              <a:spcAft>
                <a:spcPts val="0"/>
              </a:spcAft>
              <a:buClr>
                <a:srgbClr val="14213D"/>
              </a:buClr>
              <a:buSzPts val="3200"/>
              <a:buFont typeface="DM Sans"/>
              <a:buNone/>
            </a:pPr>
            <a:r>
              <a:rPr lang="en-US" sz="3200" b="1" i="0">
                <a:solidFill>
                  <a:srgbClr val="14213D"/>
                </a:solidFill>
                <a:latin typeface="DM Sans"/>
                <a:ea typeface="DM Sans"/>
                <a:cs typeface="DM Sans"/>
                <a:sym typeface="DM Sans"/>
              </a:rPr>
              <a:t>Registro acumulado de riesgos</a:t>
            </a:r>
            <a:endParaRPr sz="3200"/>
          </a:p>
        </p:txBody>
      </p:sp>
      <p:graphicFrame>
        <p:nvGraphicFramePr>
          <p:cNvPr id="96" name="Table 95"/>
          <p:cNvGraphicFramePr>
            <a:graphicFrameLocks noGrp="1"/>
          </p:cNvGraphicFramePr>
          <p:nvPr/>
        </p:nvGraphicFramePr>
        <p:xfrm>
          <a:off x="813816" y="1417320"/>
          <a:ext cx="10570464" cy="4690872"/>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4352544">
                  <a:extLst>
                    <a:ext uri="{9D8B030D-6E8A-4147-A177-3AD203B41FA5}">
                      <a16:colId xmlns:a16="http://schemas.microsoft.com/office/drawing/2014/main" val="20003"/>
                    </a:ext>
                  </a:extLst>
                </a:gridCol>
              </a:tblGrid>
              <a:tr h="246888">
                <a:tc>
                  <a:txBody>
                    <a:bodyPr/>
                    <a:lstStyle/>
                    <a:p>
                      <a:r>
                        <a:rPr sz="1050" b="1">
                          <a:solidFill>
                            <a:srgbClr val="FFFFFF"/>
                          </a:solidFill>
                        </a:rPr>
                        <a:t>N°</a:t>
                      </a:r>
                    </a:p>
                  </a:txBody>
                  <a:tcPr marL="73152" marT="18288" marB="18288">
                    <a:solidFill>
                      <a:srgbClr val="1B264A"/>
                    </a:solidFill>
                  </a:tcPr>
                </a:tc>
                <a:tc>
                  <a:txBody>
                    <a:bodyPr/>
                    <a:lstStyle/>
                    <a:p>
                      <a:r>
                        <a:rPr sz="1050" b="1">
                          <a:solidFill>
                            <a:srgbClr val="FFFFFF"/>
                          </a:solidFill>
                        </a:rPr>
                        <a:t>Riesgo</a:t>
                      </a:r>
                    </a:p>
                  </a:txBody>
                  <a:tcPr marL="73152" marT="18288" marB="18288">
                    <a:solidFill>
                      <a:srgbClr val="1B264A"/>
                    </a:solidFill>
                  </a:tcPr>
                </a:tc>
                <a:tc>
                  <a:txBody>
                    <a:bodyPr/>
                    <a:lstStyle/>
                    <a:p>
                      <a:r>
                        <a:rPr sz="1050" b="1">
                          <a:solidFill>
                            <a:srgbClr val="FFFFFF"/>
                          </a:solidFill>
                        </a:rPr>
                        <a:t>Desde</a:t>
                      </a:r>
                    </a:p>
                  </a:txBody>
                  <a:tcPr marL="73152" marT="18288" marB="18288">
                    <a:solidFill>
                      <a:srgbClr val="1B264A"/>
                    </a:solidFill>
                  </a:tcPr>
                </a:tc>
                <a:tc>
                  <a:txBody>
                    <a:bodyPr/>
                    <a:lstStyle/>
                    <a:p>
                      <a:r>
                        <a:rPr sz="1050" b="1">
                          <a:solidFill>
                            <a:srgbClr val="FFFFFF"/>
                          </a:solidFill>
                        </a:rPr>
                        <a:t>Estado al 30/10</a:t>
                      </a:r>
                    </a:p>
                  </a:txBody>
                  <a:tcPr marL="73152" marT="18288" marB="18288">
                    <a:solidFill>
                      <a:srgbClr val="1B264A"/>
                    </a:solidFill>
                  </a:tcPr>
                </a:tc>
                <a:extLst>
                  <a:ext uri="{0D108BD9-81ED-4DB2-BD59-A6C34878D82A}">
                    <a16:rowId xmlns:a16="http://schemas.microsoft.com/office/drawing/2014/main" val="10000"/>
                  </a:ext>
                </a:extLst>
              </a:tr>
              <a:tr h="246888">
                <a:tc>
                  <a:txBody>
                    <a:bodyPr/>
                    <a:lstStyle/>
                    <a:p>
                      <a:r>
                        <a:rPr sz="1050">
                          <a:solidFill>
                            <a:srgbClr val="222222"/>
                          </a:solidFill>
                        </a:rPr>
                        <a:t>1</a:t>
                      </a:r>
                    </a:p>
                  </a:txBody>
                  <a:tcPr marL="73152" marT="18288" marB="18288">
                    <a:solidFill>
                      <a:srgbClr val="FFFFFF"/>
                    </a:solidFill>
                  </a:tcPr>
                </a:tc>
                <a:tc>
                  <a:txBody>
                    <a:bodyPr/>
                    <a:lstStyle/>
                    <a:p>
                      <a:r>
                        <a:rPr sz="1050">
                          <a:solidFill>
                            <a:srgbClr val="222222"/>
                          </a:solidFill>
                        </a:rPr>
                        <a:t>Cambios en requisitos amplían el alcance</a:t>
                      </a:r>
                    </a:p>
                  </a:txBody>
                  <a:tcPr marL="73152" marT="18288" marB="18288">
                    <a:solidFill>
                      <a:srgbClr val="FFFFFF"/>
                    </a:solidFill>
                  </a:tcPr>
                </a:tc>
                <a:tc>
                  <a:txBody>
                    <a:bodyPr/>
                    <a:lstStyle/>
                    <a:p>
                      <a:r>
                        <a:rPr sz="1050">
                          <a:solidFill>
                            <a:srgbClr val="222222"/>
                          </a:solidFill>
                        </a:rPr>
                        <a:t>11/09</a:t>
                      </a:r>
                    </a:p>
                  </a:txBody>
                  <a:tcPr marL="73152" marT="18288" marB="18288">
                    <a:solidFill>
                      <a:srgbClr val="FFFFFF"/>
                    </a:solidFill>
                  </a:tcPr>
                </a:tc>
                <a:tc>
                  <a:txBody>
                    <a:bodyPr/>
                    <a:lstStyle/>
                    <a:p>
                      <a:r>
                        <a:rPr sz="1050">
                          <a:solidFill>
                            <a:srgbClr val="222222"/>
                          </a:solidFill>
                        </a:rPr>
                        <a:t>Cerrado: ERS estable y cambios en la matriz CC</a:t>
                      </a:r>
                    </a:p>
                  </a:txBody>
                  <a:tcPr marL="73152" marT="18288" marB="18288">
                    <a:solidFill>
                      <a:srgbClr val="FFFFFF"/>
                    </a:solidFill>
                  </a:tcPr>
                </a:tc>
                <a:extLst>
                  <a:ext uri="{0D108BD9-81ED-4DB2-BD59-A6C34878D82A}">
                    <a16:rowId xmlns:a16="http://schemas.microsoft.com/office/drawing/2014/main" val="10001"/>
                  </a:ext>
                </a:extLst>
              </a:tr>
              <a:tr h="246888">
                <a:tc>
                  <a:txBody>
                    <a:bodyPr/>
                    <a:lstStyle/>
                    <a:p>
                      <a:r>
                        <a:rPr sz="1050">
                          <a:solidFill>
                            <a:srgbClr val="222222"/>
                          </a:solidFill>
                        </a:rPr>
                        <a:t>2</a:t>
                      </a:r>
                    </a:p>
                  </a:txBody>
                  <a:tcPr marL="73152" marT="18288" marB="18288">
                    <a:solidFill>
                      <a:srgbClr val="F3F4F7"/>
                    </a:solidFill>
                  </a:tcPr>
                </a:tc>
                <a:tc>
                  <a:txBody>
                    <a:bodyPr/>
                    <a:lstStyle/>
                    <a:p>
                      <a:r>
                        <a:rPr sz="1050">
                          <a:solidFill>
                            <a:srgbClr val="222222"/>
                          </a:solidFill>
                        </a:rPr>
                        <a:t>Contratos de la API desalineados con las integraciones</a:t>
                      </a:r>
                    </a:p>
                  </a:txBody>
                  <a:tcPr marL="73152" marT="18288" marB="18288">
                    <a:solidFill>
                      <a:srgbClr val="F3F4F7"/>
                    </a:solidFill>
                  </a:tcPr>
                </a:tc>
                <a:tc>
                  <a:txBody>
                    <a:bodyPr/>
                    <a:lstStyle/>
                    <a:p>
                      <a:r>
                        <a:rPr sz="1050">
                          <a:solidFill>
                            <a:srgbClr val="222222"/>
                          </a:solidFill>
                        </a:rPr>
                        <a:t>11/09</a:t>
                      </a:r>
                    </a:p>
                  </a:txBody>
                  <a:tcPr marL="73152" marT="18288" marB="18288">
                    <a:solidFill>
                      <a:srgbClr val="F3F4F7"/>
                    </a:solidFill>
                  </a:tcPr>
                </a:tc>
                <a:tc>
                  <a:txBody>
                    <a:bodyPr/>
                    <a:lstStyle/>
                    <a:p>
                      <a:r>
                        <a:rPr sz="1050">
                          <a:solidFill>
                            <a:srgbClr val="222222"/>
                          </a:solidFill>
                        </a:rPr>
                        <a:t>Cerrado: contratos del Sprint 1, integración OK</a:t>
                      </a:r>
                    </a:p>
                  </a:txBody>
                  <a:tcPr marL="73152" marT="18288" marB="18288">
                    <a:solidFill>
                      <a:srgbClr val="F3F4F7"/>
                    </a:solidFill>
                  </a:tcPr>
                </a:tc>
                <a:extLst>
                  <a:ext uri="{0D108BD9-81ED-4DB2-BD59-A6C34878D82A}">
                    <a16:rowId xmlns:a16="http://schemas.microsoft.com/office/drawing/2014/main" val="10002"/>
                  </a:ext>
                </a:extLst>
              </a:tr>
              <a:tr h="246888">
                <a:tc>
                  <a:txBody>
                    <a:bodyPr/>
                    <a:lstStyle/>
                    <a:p>
                      <a:r>
                        <a:rPr sz="1050">
                          <a:solidFill>
                            <a:srgbClr val="222222"/>
                          </a:solidFill>
                        </a:rPr>
                        <a:t>3</a:t>
                      </a:r>
                    </a:p>
                  </a:txBody>
                  <a:tcPr marL="73152" marT="18288" marB="18288">
                    <a:solidFill>
                      <a:srgbClr val="FFF4E0"/>
                    </a:solidFill>
                  </a:tcPr>
                </a:tc>
                <a:tc>
                  <a:txBody>
                    <a:bodyPr/>
                    <a:lstStyle/>
                    <a:p>
                      <a:r>
                        <a:rPr sz="1050">
                          <a:solidFill>
                            <a:srgbClr val="222222"/>
                          </a:solidFill>
                        </a:rPr>
                        <a:t>Concurrencia en la asignación de bahías</a:t>
                      </a:r>
                    </a:p>
                  </a:txBody>
                  <a:tcPr marL="73152" marT="18288" marB="18288">
                    <a:solidFill>
                      <a:srgbClr val="FFF4E0"/>
                    </a:solidFill>
                  </a:tcPr>
                </a:tc>
                <a:tc>
                  <a:txBody>
                    <a:bodyPr/>
                    <a:lstStyle/>
                    <a:p>
                      <a:r>
                        <a:rPr sz="1050">
                          <a:solidFill>
                            <a:srgbClr val="222222"/>
                          </a:solidFill>
                        </a:rPr>
                        <a:t>11/09</a:t>
                      </a:r>
                    </a:p>
                  </a:txBody>
                  <a:tcPr marL="73152" marT="18288" marB="18288">
                    <a:solidFill>
                      <a:srgbClr val="FFF4E0"/>
                    </a:solidFill>
                  </a:tcPr>
                </a:tc>
                <a:tc>
                  <a:txBody>
                    <a:bodyPr/>
                    <a:lstStyle/>
                    <a:p>
                      <a:r>
                        <a:rPr sz="1050" b="1">
                          <a:solidFill>
                            <a:srgbClr val="222222"/>
                          </a:solidFill>
                        </a:rPr>
                        <a:t>En revisión: prueba de carga (RNF-02)</a:t>
                      </a:r>
                    </a:p>
                  </a:txBody>
                  <a:tcPr marL="73152" marT="18288" marB="18288">
                    <a:solidFill>
                      <a:srgbClr val="FFF4E0"/>
                    </a:solidFill>
                  </a:tcPr>
                </a:tc>
                <a:extLst>
                  <a:ext uri="{0D108BD9-81ED-4DB2-BD59-A6C34878D82A}">
                    <a16:rowId xmlns:a16="http://schemas.microsoft.com/office/drawing/2014/main" val="10003"/>
                  </a:ext>
                </a:extLst>
              </a:tr>
              <a:tr h="246888">
                <a:tc>
                  <a:txBody>
                    <a:bodyPr/>
                    <a:lstStyle/>
                    <a:p>
                      <a:r>
                        <a:rPr sz="1050">
                          <a:solidFill>
                            <a:srgbClr val="222222"/>
                          </a:solidFill>
                        </a:rPr>
                        <a:t>4</a:t>
                      </a:r>
                    </a:p>
                  </a:txBody>
                  <a:tcPr marL="73152" marT="18288" marB="18288">
                    <a:solidFill>
                      <a:srgbClr val="F3F4F7"/>
                    </a:solidFill>
                  </a:tcPr>
                </a:tc>
                <a:tc>
                  <a:txBody>
                    <a:bodyPr/>
                    <a:lstStyle/>
                    <a:p>
                      <a:r>
                        <a:rPr sz="1050">
                          <a:solidFill>
                            <a:srgbClr val="222222"/>
                          </a:solidFill>
                        </a:rPr>
                        <a:t>Disponibilidad del entorno en la nube</a:t>
                      </a:r>
                    </a:p>
                  </a:txBody>
                  <a:tcPr marL="73152" marT="18288" marB="18288">
                    <a:solidFill>
                      <a:srgbClr val="F3F4F7"/>
                    </a:solidFill>
                  </a:tcPr>
                </a:tc>
                <a:tc>
                  <a:txBody>
                    <a:bodyPr/>
                    <a:lstStyle/>
                    <a:p>
                      <a:r>
                        <a:rPr sz="1050">
                          <a:solidFill>
                            <a:srgbClr val="222222"/>
                          </a:solidFill>
                        </a:rPr>
                        <a:t>11/09</a:t>
                      </a:r>
                    </a:p>
                  </a:txBody>
                  <a:tcPr marL="73152" marT="18288" marB="18288">
                    <a:solidFill>
                      <a:srgbClr val="F3F4F7"/>
                    </a:solidFill>
                  </a:tcPr>
                </a:tc>
                <a:tc>
                  <a:txBody>
                    <a:bodyPr/>
                    <a:lstStyle/>
                    <a:p>
                      <a:r>
                        <a:rPr sz="1050">
                          <a:solidFill>
                            <a:srgbClr val="222222"/>
                          </a:solidFill>
                        </a:rPr>
                        <a:t>Cerrado: Oracle Cloud estable</a:t>
                      </a:r>
                    </a:p>
                  </a:txBody>
                  <a:tcPr marL="73152" marT="18288" marB="18288">
                    <a:solidFill>
                      <a:srgbClr val="F3F4F7"/>
                    </a:solidFill>
                  </a:tcPr>
                </a:tc>
                <a:extLst>
                  <a:ext uri="{0D108BD9-81ED-4DB2-BD59-A6C34878D82A}">
                    <a16:rowId xmlns:a16="http://schemas.microsoft.com/office/drawing/2014/main" val="10004"/>
                  </a:ext>
                </a:extLst>
              </a:tr>
              <a:tr h="246888">
                <a:tc>
                  <a:txBody>
                    <a:bodyPr/>
                    <a:lstStyle/>
                    <a:p>
                      <a:r>
                        <a:rPr sz="1050">
                          <a:solidFill>
                            <a:srgbClr val="222222"/>
                          </a:solidFill>
                        </a:rPr>
                        <a:t>5</a:t>
                      </a:r>
                    </a:p>
                  </a:txBody>
                  <a:tcPr marL="73152" marT="18288" marB="18288">
                    <a:solidFill>
                      <a:srgbClr val="FFFFFF"/>
                    </a:solidFill>
                  </a:tcPr>
                </a:tc>
                <a:tc>
                  <a:txBody>
                    <a:bodyPr/>
                    <a:lstStyle/>
                    <a:p>
                      <a:r>
                        <a:rPr sz="1050">
                          <a:solidFill>
                            <a:srgbClr val="222222"/>
                          </a:solidFill>
                        </a:rPr>
                        <a:t>Diseño UI sin cubrir todos los requisitos</a:t>
                      </a:r>
                    </a:p>
                  </a:txBody>
                  <a:tcPr marL="73152" marT="18288" marB="18288">
                    <a:solidFill>
                      <a:srgbClr val="FFFFFF"/>
                    </a:solidFill>
                  </a:tcPr>
                </a:tc>
                <a:tc>
                  <a:txBody>
                    <a:bodyPr/>
                    <a:lstStyle/>
                    <a:p>
                      <a:r>
                        <a:rPr sz="1050">
                          <a:solidFill>
                            <a:srgbClr val="222222"/>
                          </a:solidFill>
                        </a:rPr>
                        <a:t>02/10</a:t>
                      </a:r>
                    </a:p>
                  </a:txBody>
                  <a:tcPr marL="73152" marT="18288" marB="18288">
                    <a:solidFill>
                      <a:srgbClr val="FFFFFF"/>
                    </a:solidFill>
                  </a:tcPr>
                </a:tc>
                <a:tc>
                  <a:txBody>
                    <a:bodyPr/>
                    <a:lstStyle/>
                    <a:p>
                      <a:r>
                        <a:rPr sz="1050">
                          <a:solidFill>
                            <a:srgbClr val="222222"/>
                          </a:solidFill>
                        </a:rPr>
                        <a:t>Cerrado: 26 de 26 casos de pantallas (S3)</a:t>
                      </a:r>
                    </a:p>
                  </a:txBody>
                  <a:tcPr marL="73152" marT="18288" marB="18288">
                    <a:solidFill>
                      <a:srgbClr val="FFFFFF"/>
                    </a:solidFill>
                  </a:tcPr>
                </a:tc>
                <a:extLst>
                  <a:ext uri="{0D108BD9-81ED-4DB2-BD59-A6C34878D82A}">
                    <a16:rowId xmlns:a16="http://schemas.microsoft.com/office/drawing/2014/main" val="10005"/>
                  </a:ext>
                </a:extLst>
              </a:tr>
              <a:tr h="246888">
                <a:tc>
                  <a:txBody>
                    <a:bodyPr/>
                    <a:lstStyle/>
                    <a:p>
                      <a:r>
                        <a:rPr sz="1050">
                          <a:solidFill>
                            <a:srgbClr val="222222"/>
                          </a:solidFill>
                        </a:rPr>
                        <a:t>6</a:t>
                      </a:r>
                    </a:p>
                  </a:txBody>
                  <a:tcPr marL="73152" marT="18288" marB="18288">
                    <a:solidFill>
                      <a:srgbClr val="F3F4F7"/>
                    </a:solidFill>
                  </a:tcPr>
                </a:tc>
                <a:tc>
                  <a:txBody>
                    <a:bodyPr/>
                    <a:lstStyle/>
                    <a:p>
                      <a:r>
                        <a:rPr sz="1050">
                          <a:solidFill>
                            <a:srgbClr val="222222"/>
                          </a:solidFill>
                        </a:rPr>
                        <a:t>Dificultad para programar el CRUD</a:t>
                      </a:r>
                    </a:p>
                  </a:txBody>
                  <a:tcPr marL="73152" marT="18288" marB="18288">
                    <a:solidFill>
                      <a:srgbClr val="F3F4F7"/>
                    </a:solidFill>
                  </a:tcPr>
                </a:tc>
                <a:tc>
                  <a:txBody>
                    <a:bodyPr/>
                    <a:lstStyle/>
                    <a:p>
                      <a:r>
                        <a:rPr sz="1050">
                          <a:solidFill>
                            <a:srgbClr val="222222"/>
                          </a:solidFill>
                        </a:rPr>
                        <a:t>02/10</a:t>
                      </a:r>
                    </a:p>
                  </a:txBody>
                  <a:tcPr marL="73152" marT="18288" marB="18288">
                    <a:solidFill>
                      <a:srgbClr val="F3F4F7"/>
                    </a:solidFill>
                  </a:tcPr>
                </a:tc>
                <a:tc>
                  <a:txBody>
                    <a:bodyPr/>
                    <a:lstStyle/>
                    <a:p>
                      <a:r>
                        <a:rPr sz="1050">
                          <a:solidFill>
                            <a:srgbClr val="222222"/>
                          </a:solidFill>
                        </a:rPr>
                        <a:t>Cerrado: 30 endpoints probados</a:t>
                      </a:r>
                    </a:p>
                  </a:txBody>
                  <a:tcPr marL="73152" marT="18288" marB="18288">
                    <a:solidFill>
                      <a:srgbClr val="F3F4F7"/>
                    </a:solidFill>
                  </a:tcPr>
                </a:tc>
                <a:extLst>
                  <a:ext uri="{0D108BD9-81ED-4DB2-BD59-A6C34878D82A}">
                    <a16:rowId xmlns:a16="http://schemas.microsoft.com/office/drawing/2014/main" val="10006"/>
                  </a:ext>
                </a:extLst>
              </a:tr>
              <a:tr h="246888">
                <a:tc>
                  <a:txBody>
                    <a:bodyPr/>
                    <a:lstStyle/>
                    <a:p>
                      <a:r>
                        <a:rPr sz="1050">
                          <a:solidFill>
                            <a:srgbClr val="222222"/>
                          </a:solidFill>
                        </a:rPr>
                        <a:t>7</a:t>
                      </a:r>
                    </a:p>
                  </a:txBody>
                  <a:tcPr marL="73152" marT="18288" marB="18288">
                    <a:solidFill>
                      <a:srgbClr val="FFFFFF"/>
                    </a:solidFill>
                  </a:tcPr>
                </a:tc>
                <a:tc>
                  <a:txBody>
                    <a:bodyPr/>
                    <a:lstStyle/>
                    <a:p>
                      <a:r>
                        <a:rPr sz="1050">
                          <a:solidFill>
                            <a:srgbClr val="222222"/>
                          </a:solidFill>
                        </a:rPr>
                        <a:t>Problemas con JWT y roles</a:t>
                      </a:r>
                    </a:p>
                  </a:txBody>
                  <a:tcPr marL="73152" marT="18288" marB="18288">
                    <a:solidFill>
                      <a:srgbClr val="FFFFFF"/>
                    </a:solidFill>
                  </a:tcPr>
                </a:tc>
                <a:tc>
                  <a:txBody>
                    <a:bodyPr/>
                    <a:lstStyle/>
                    <a:p>
                      <a:r>
                        <a:rPr sz="1050">
                          <a:solidFill>
                            <a:srgbClr val="222222"/>
                          </a:solidFill>
                        </a:rPr>
                        <a:t>02/10</a:t>
                      </a:r>
                    </a:p>
                  </a:txBody>
                  <a:tcPr marL="73152" marT="18288" marB="18288">
                    <a:solidFill>
                      <a:srgbClr val="FFFFFF"/>
                    </a:solidFill>
                  </a:tcPr>
                </a:tc>
                <a:tc>
                  <a:txBody>
                    <a:bodyPr/>
                    <a:lstStyle/>
                    <a:p>
                      <a:r>
                        <a:rPr sz="1050">
                          <a:solidFill>
                            <a:srgbClr val="222222"/>
                          </a:solidFill>
                        </a:rPr>
                        <a:t>Cerrado: pruebas de roles OK</a:t>
                      </a:r>
                    </a:p>
                  </a:txBody>
                  <a:tcPr marL="73152" marT="18288" marB="18288">
                    <a:solidFill>
                      <a:srgbClr val="FFFFFF"/>
                    </a:solidFill>
                  </a:tcPr>
                </a:tc>
                <a:extLst>
                  <a:ext uri="{0D108BD9-81ED-4DB2-BD59-A6C34878D82A}">
                    <a16:rowId xmlns:a16="http://schemas.microsoft.com/office/drawing/2014/main" val="10007"/>
                  </a:ext>
                </a:extLst>
              </a:tr>
              <a:tr h="246888">
                <a:tc>
                  <a:txBody>
                    <a:bodyPr/>
                    <a:lstStyle/>
                    <a:p>
                      <a:r>
                        <a:rPr sz="1050">
                          <a:solidFill>
                            <a:srgbClr val="222222"/>
                          </a:solidFill>
                        </a:rPr>
                        <a:t>8</a:t>
                      </a:r>
                    </a:p>
                  </a:txBody>
                  <a:tcPr marL="73152" marT="18288" marB="18288">
                    <a:solidFill>
                      <a:srgbClr val="F3F4F7"/>
                    </a:solidFill>
                  </a:tcPr>
                </a:tc>
                <a:tc>
                  <a:txBody>
                    <a:bodyPr/>
                    <a:lstStyle/>
                    <a:p>
                      <a:r>
                        <a:rPr sz="1050">
                          <a:solidFill>
                            <a:srgbClr val="222222"/>
                          </a:solidFill>
                        </a:rPr>
                        <a:t>Cambios en la base durante el desarrollo</a:t>
                      </a:r>
                    </a:p>
                  </a:txBody>
                  <a:tcPr marL="73152" marT="18288" marB="18288">
                    <a:solidFill>
                      <a:srgbClr val="F3F4F7"/>
                    </a:solidFill>
                  </a:tcPr>
                </a:tc>
                <a:tc>
                  <a:txBody>
                    <a:bodyPr/>
                    <a:lstStyle/>
                    <a:p>
                      <a:r>
                        <a:rPr sz="1050">
                          <a:solidFill>
                            <a:srgbClr val="222222"/>
                          </a:solidFill>
                        </a:rPr>
                        <a:t>02/10</a:t>
                      </a:r>
                    </a:p>
                  </a:txBody>
                  <a:tcPr marL="73152" marT="18288" marB="18288">
                    <a:solidFill>
                      <a:srgbClr val="F3F4F7"/>
                    </a:solidFill>
                  </a:tcPr>
                </a:tc>
                <a:tc>
                  <a:txBody>
                    <a:bodyPr/>
                    <a:lstStyle/>
                    <a:p>
                      <a:r>
                        <a:rPr sz="1050">
                          <a:solidFill>
                            <a:srgbClr val="222222"/>
                          </a:solidFill>
                        </a:rPr>
                        <a:t>Cerrado: cambios del S4 controlados con CC</a:t>
                      </a:r>
                    </a:p>
                  </a:txBody>
                  <a:tcPr marL="73152" marT="18288" marB="18288">
                    <a:solidFill>
                      <a:srgbClr val="F3F4F7"/>
                    </a:solidFill>
                  </a:tcPr>
                </a:tc>
                <a:extLst>
                  <a:ext uri="{0D108BD9-81ED-4DB2-BD59-A6C34878D82A}">
                    <a16:rowId xmlns:a16="http://schemas.microsoft.com/office/drawing/2014/main" val="10008"/>
                  </a:ext>
                </a:extLst>
              </a:tr>
              <a:tr h="246888">
                <a:tc>
                  <a:txBody>
                    <a:bodyPr/>
                    <a:lstStyle/>
                    <a:p>
                      <a:r>
                        <a:rPr sz="1050">
                          <a:solidFill>
                            <a:srgbClr val="222222"/>
                          </a:solidFill>
                        </a:rPr>
                        <a:t>9</a:t>
                      </a:r>
                    </a:p>
                  </a:txBody>
                  <a:tcPr marL="73152" marT="18288" marB="18288">
                    <a:solidFill>
                      <a:srgbClr val="FFFFFF"/>
                    </a:solidFill>
                  </a:tcPr>
                </a:tc>
                <a:tc>
                  <a:txBody>
                    <a:bodyPr/>
                    <a:lstStyle/>
                    <a:p>
                      <a:r>
                        <a:rPr sz="1050">
                          <a:solidFill>
                            <a:srgbClr val="222222"/>
                          </a:solidFill>
                        </a:rPr>
                        <a:t>Poco tiempo para pantallas e integración</a:t>
                      </a:r>
                    </a:p>
                  </a:txBody>
                  <a:tcPr marL="73152" marT="18288" marB="18288">
                    <a:solidFill>
                      <a:srgbClr val="FFFFFF"/>
                    </a:solidFill>
                  </a:tcPr>
                </a:tc>
                <a:tc>
                  <a:txBody>
                    <a:bodyPr/>
                    <a:lstStyle/>
                    <a:p>
                      <a:r>
                        <a:rPr sz="1050">
                          <a:solidFill>
                            <a:srgbClr val="222222"/>
                          </a:solidFill>
                        </a:rPr>
                        <a:t>09/10</a:t>
                      </a:r>
                    </a:p>
                  </a:txBody>
                  <a:tcPr marL="73152" marT="18288" marB="18288">
                    <a:solidFill>
                      <a:srgbClr val="FFFFFF"/>
                    </a:solidFill>
                  </a:tcPr>
                </a:tc>
                <a:tc>
                  <a:txBody>
                    <a:bodyPr/>
                    <a:lstStyle/>
                    <a:p>
                      <a:r>
                        <a:rPr sz="1050">
                          <a:solidFill>
                            <a:srgbClr val="222222"/>
                          </a:solidFill>
                        </a:rPr>
                        <a:t>Cerrado: Sprint 3 terminado a tiempo</a:t>
                      </a:r>
                    </a:p>
                  </a:txBody>
                  <a:tcPr marL="73152" marT="18288" marB="18288">
                    <a:solidFill>
                      <a:srgbClr val="FFFFFF"/>
                    </a:solidFill>
                  </a:tcPr>
                </a:tc>
                <a:extLst>
                  <a:ext uri="{0D108BD9-81ED-4DB2-BD59-A6C34878D82A}">
                    <a16:rowId xmlns:a16="http://schemas.microsoft.com/office/drawing/2014/main" val="10009"/>
                  </a:ext>
                </a:extLst>
              </a:tr>
              <a:tr h="246888">
                <a:tc>
                  <a:txBody>
                    <a:bodyPr/>
                    <a:lstStyle/>
                    <a:p>
                      <a:r>
                        <a:rPr sz="1050">
                          <a:solidFill>
                            <a:srgbClr val="222222"/>
                          </a:solidFill>
                        </a:rPr>
                        <a:t>10</a:t>
                      </a:r>
                    </a:p>
                  </a:txBody>
                  <a:tcPr marL="73152" marT="18288" marB="18288">
                    <a:solidFill>
                      <a:srgbClr val="FFF4E0"/>
                    </a:solidFill>
                  </a:tcPr>
                </a:tc>
                <a:tc>
                  <a:txBody>
                    <a:bodyPr/>
                    <a:lstStyle/>
                    <a:p>
                      <a:r>
                        <a:rPr sz="1050">
                          <a:solidFill>
                            <a:srgbClr val="222222"/>
                          </a:solidFill>
                        </a:rPr>
                        <a:t>Power BI: publicar e incrustar el informe</a:t>
                      </a:r>
                    </a:p>
                  </a:txBody>
                  <a:tcPr marL="73152" marT="18288" marB="18288">
                    <a:solidFill>
                      <a:srgbClr val="FFF4E0"/>
                    </a:solidFill>
                  </a:tcPr>
                </a:tc>
                <a:tc>
                  <a:txBody>
                    <a:bodyPr/>
                    <a:lstStyle/>
                    <a:p>
                      <a:r>
                        <a:rPr sz="1050">
                          <a:solidFill>
                            <a:srgbClr val="222222"/>
                          </a:solidFill>
                        </a:rPr>
                        <a:t>09/10</a:t>
                      </a:r>
                    </a:p>
                  </a:txBody>
                  <a:tcPr marL="73152" marT="18288" marB="18288">
                    <a:solidFill>
                      <a:srgbClr val="FFF4E0"/>
                    </a:solidFill>
                  </a:tcPr>
                </a:tc>
                <a:tc>
                  <a:txBody>
                    <a:bodyPr/>
                    <a:lstStyle/>
                    <a:p>
                      <a:r>
                        <a:rPr sz="1050" b="1">
                          <a:solidFill>
                            <a:srgbClr val="222222"/>
                          </a:solidFill>
                        </a:rPr>
                        <a:t>Materializado: reemplazado por CC-24</a:t>
                      </a:r>
                    </a:p>
                  </a:txBody>
                  <a:tcPr marL="73152" marT="18288" marB="18288">
                    <a:solidFill>
                      <a:srgbClr val="FFF4E0"/>
                    </a:solidFill>
                  </a:tcPr>
                </a:tc>
                <a:extLst>
                  <a:ext uri="{0D108BD9-81ED-4DB2-BD59-A6C34878D82A}">
                    <a16:rowId xmlns:a16="http://schemas.microsoft.com/office/drawing/2014/main" val="10010"/>
                  </a:ext>
                </a:extLst>
              </a:tr>
              <a:tr h="246888">
                <a:tc>
                  <a:txBody>
                    <a:bodyPr/>
                    <a:lstStyle/>
                    <a:p>
                      <a:r>
                        <a:rPr sz="1050">
                          <a:solidFill>
                            <a:srgbClr val="222222"/>
                          </a:solidFill>
                        </a:rPr>
                        <a:t>11</a:t>
                      </a:r>
                    </a:p>
                  </a:txBody>
                  <a:tcPr marL="73152" marT="18288" marB="18288">
                    <a:solidFill>
                      <a:srgbClr val="FFFFFF"/>
                    </a:solidFill>
                  </a:tcPr>
                </a:tc>
                <a:tc>
                  <a:txBody>
                    <a:bodyPr/>
                    <a:lstStyle/>
                    <a:p>
                      <a:r>
                        <a:rPr sz="1050">
                          <a:solidFill>
                            <a:srgbClr val="222222"/>
                          </a:solidFill>
                        </a:rPr>
                        <a:t>Defectos abiertos DEF-03 y DEF-04</a:t>
                      </a:r>
                    </a:p>
                  </a:txBody>
                  <a:tcPr marL="73152" marT="18288" marB="18288">
                    <a:solidFill>
                      <a:srgbClr val="FFFFFF"/>
                    </a:solidFill>
                  </a:tcPr>
                </a:tc>
                <a:tc>
                  <a:txBody>
                    <a:bodyPr/>
                    <a:lstStyle/>
                    <a:p>
                      <a:r>
                        <a:rPr sz="1050">
                          <a:solidFill>
                            <a:srgbClr val="222222"/>
                          </a:solidFill>
                        </a:rPr>
                        <a:t>09/10</a:t>
                      </a:r>
                    </a:p>
                  </a:txBody>
                  <a:tcPr marL="73152" marT="18288" marB="18288">
                    <a:solidFill>
                      <a:srgbClr val="FFFFFF"/>
                    </a:solidFill>
                  </a:tcPr>
                </a:tc>
                <a:tc>
                  <a:txBody>
                    <a:bodyPr/>
                    <a:lstStyle/>
                    <a:p>
                      <a:r>
                        <a:rPr sz="1050">
                          <a:solidFill>
                            <a:srgbClr val="222222"/>
                          </a:solidFill>
                        </a:rPr>
                        <a:t>Cerrado: corregidos el 11/10</a:t>
                      </a:r>
                    </a:p>
                  </a:txBody>
                  <a:tcPr marL="73152" marT="18288" marB="18288">
                    <a:solidFill>
                      <a:srgbClr val="FFFFFF"/>
                    </a:solidFill>
                  </a:tcPr>
                </a:tc>
                <a:extLst>
                  <a:ext uri="{0D108BD9-81ED-4DB2-BD59-A6C34878D82A}">
                    <a16:rowId xmlns:a16="http://schemas.microsoft.com/office/drawing/2014/main" val="10011"/>
                  </a:ext>
                </a:extLst>
              </a:tr>
              <a:tr h="246888">
                <a:tc>
                  <a:txBody>
                    <a:bodyPr/>
                    <a:lstStyle/>
                    <a:p>
                      <a:r>
                        <a:rPr sz="1050">
                          <a:solidFill>
                            <a:srgbClr val="222222"/>
                          </a:solidFill>
                        </a:rPr>
                        <a:t>12</a:t>
                      </a:r>
                    </a:p>
                  </a:txBody>
                  <a:tcPr marL="73152" marT="18288" marB="18288">
                    <a:solidFill>
                      <a:srgbClr val="FFF4E0"/>
                    </a:solidFill>
                  </a:tcPr>
                </a:tc>
                <a:tc>
                  <a:txBody>
                    <a:bodyPr/>
                    <a:lstStyle/>
                    <a:p>
                      <a:r>
                        <a:rPr sz="1050">
                          <a:solidFill>
                            <a:srgbClr val="222222"/>
                          </a:solidFill>
                        </a:rPr>
                        <a:t>Código incompleto en GitHub</a:t>
                      </a:r>
                    </a:p>
                  </a:txBody>
                  <a:tcPr marL="73152" marT="18288" marB="18288">
                    <a:solidFill>
                      <a:srgbClr val="FFF4E0"/>
                    </a:solidFill>
                  </a:tcPr>
                </a:tc>
                <a:tc>
                  <a:txBody>
                    <a:bodyPr/>
                    <a:lstStyle/>
                    <a:p>
                      <a:r>
                        <a:rPr sz="1050">
                          <a:solidFill>
                            <a:srgbClr val="222222"/>
                          </a:solidFill>
                        </a:rPr>
                        <a:t>09/10</a:t>
                      </a:r>
                    </a:p>
                  </a:txBody>
                  <a:tcPr marL="73152" marT="18288" marB="18288">
                    <a:solidFill>
                      <a:srgbClr val="FFF4E0"/>
                    </a:solidFill>
                  </a:tcPr>
                </a:tc>
                <a:tc>
                  <a:txBody>
                    <a:bodyPr/>
                    <a:lstStyle/>
                    <a:p>
                      <a:r>
                        <a:rPr sz="1050" b="1">
                          <a:solidFill>
                            <a:srgbClr val="222222"/>
                          </a:solidFill>
                        </a:rPr>
                        <a:t>Abierto (alto)</a:t>
                      </a:r>
                    </a:p>
                  </a:txBody>
                  <a:tcPr marL="73152" marT="18288" marB="18288">
                    <a:solidFill>
                      <a:srgbClr val="FFF4E0"/>
                    </a:solidFill>
                  </a:tcPr>
                </a:tc>
                <a:extLst>
                  <a:ext uri="{0D108BD9-81ED-4DB2-BD59-A6C34878D82A}">
                    <a16:rowId xmlns:a16="http://schemas.microsoft.com/office/drawing/2014/main" val="10012"/>
                  </a:ext>
                </a:extLst>
              </a:tr>
              <a:tr h="246888">
                <a:tc>
                  <a:txBody>
                    <a:bodyPr/>
                    <a:lstStyle/>
                    <a:p>
                      <a:r>
                        <a:rPr sz="1050">
                          <a:solidFill>
                            <a:srgbClr val="222222"/>
                          </a:solidFill>
                        </a:rPr>
                        <a:t>13</a:t>
                      </a:r>
                    </a:p>
                  </a:txBody>
                  <a:tcPr marL="73152" marT="18288" marB="18288">
                    <a:solidFill>
                      <a:srgbClr val="FFFFFF"/>
                    </a:solidFill>
                  </a:tcPr>
                </a:tc>
                <a:tc>
                  <a:txBody>
                    <a:bodyPr/>
                    <a:lstStyle/>
                    <a:p>
                      <a:r>
                        <a:rPr sz="1050">
                          <a:solidFill>
                            <a:srgbClr val="222222"/>
                          </a:solidFill>
                        </a:rPr>
                        <a:t>Ventana de reserva sin definir</a:t>
                      </a:r>
                    </a:p>
                  </a:txBody>
                  <a:tcPr marL="73152" marT="18288" marB="18288">
                    <a:solidFill>
                      <a:srgbClr val="FFFFFF"/>
                    </a:solidFill>
                  </a:tcPr>
                </a:tc>
                <a:tc>
                  <a:txBody>
                    <a:bodyPr/>
                    <a:lstStyle/>
                    <a:p>
                      <a:r>
                        <a:rPr sz="1050">
                          <a:solidFill>
                            <a:srgbClr val="222222"/>
                          </a:solidFill>
                        </a:rPr>
                        <a:t>09/10</a:t>
                      </a:r>
                    </a:p>
                  </a:txBody>
                  <a:tcPr marL="73152" marT="18288" marB="18288">
                    <a:solidFill>
                      <a:srgbClr val="FFFFFF"/>
                    </a:solidFill>
                  </a:tcPr>
                </a:tc>
                <a:tc>
                  <a:txBody>
                    <a:bodyPr/>
                    <a:lstStyle/>
                    <a:p>
                      <a:r>
                        <a:rPr sz="1050">
                          <a:solidFill>
                            <a:srgbClr val="222222"/>
                          </a:solidFill>
                        </a:rPr>
                        <a:t>Cerrado: 60 min (CC-18)</a:t>
                      </a:r>
                    </a:p>
                  </a:txBody>
                  <a:tcPr marL="73152" marT="18288" marB="18288">
                    <a:solidFill>
                      <a:srgbClr val="FFFFFF"/>
                    </a:solidFill>
                  </a:tcPr>
                </a:tc>
                <a:extLst>
                  <a:ext uri="{0D108BD9-81ED-4DB2-BD59-A6C34878D82A}">
                    <a16:rowId xmlns:a16="http://schemas.microsoft.com/office/drawing/2014/main" val="10013"/>
                  </a:ext>
                </a:extLst>
              </a:tr>
              <a:tr h="246888">
                <a:tc>
                  <a:txBody>
                    <a:bodyPr/>
                    <a:lstStyle/>
                    <a:p>
                      <a:r>
                        <a:rPr sz="1050">
                          <a:solidFill>
                            <a:srgbClr val="222222"/>
                          </a:solidFill>
                        </a:rPr>
                        <a:t>14</a:t>
                      </a:r>
                    </a:p>
                  </a:txBody>
                  <a:tcPr marL="73152" marT="18288" marB="18288">
                    <a:solidFill>
                      <a:srgbClr val="FFF4E0"/>
                    </a:solidFill>
                  </a:tcPr>
                </a:tc>
                <a:tc>
                  <a:txBody>
                    <a:bodyPr/>
                    <a:lstStyle/>
                    <a:p>
                      <a:r>
                        <a:rPr sz="1050">
                          <a:solidFill>
                            <a:srgbClr val="222222"/>
                          </a:solidFill>
                        </a:rPr>
                        <a:t>Sprint 4 corto</a:t>
                      </a:r>
                    </a:p>
                  </a:txBody>
                  <a:tcPr marL="73152" marT="18288" marB="18288">
                    <a:solidFill>
                      <a:srgbClr val="FFF4E0"/>
                    </a:solidFill>
                  </a:tcPr>
                </a:tc>
                <a:tc>
                  <a:txBody>
                    <a:bodyPr/>
                    <a:lstStyle/>
                    <a:p>
                      <a:r>
                        <a:rPr sz="1050">
                          <a:solidFill>
                            <a:srgbClr val="222222"/>
                          </a:solidFill>
                        </a:rPr>
                        <a:t>16/10</a:t>
                      </a:r>
                    </a:p>
                  </a:txBody>
                  <a:tcPr marL="73152" marT="18288" marB="18288">
                    <a:solidFill>
                      <a:srgbClr val="FFF4E0"/>
                    </a:solidFill>
                  </a:tcPr>
                </a:tc>
                <a:tc>
                  <a:txBody>
                    <a:bodyPr/>
                    <a:lstStyle/>
                    <a:p>
                      <a:r>
                        <a:rPr sz="1050" b="1">
                          <a:solidFill>
                            <a:srgbClr val="222222"/>
                          </a:solidFill>
                        </a:rPr>
                        <a:t>Abierto (alto)</a:t>
                      </a:r>
                    </a:p>
                  </a:txBody>
                  <a:tcPr marL="73152" marT="18288" marB="18288">
                    <a:solidFill>
                      <a:srgbClr val="FFF4E0"/>
                    </a:solidFill>
                  </a:tcPr>
                </a:tc>
                <a:extLst>
                  <a:ext uri="{0D108BD9-81ED-4DB2-BD59-A6C34878D82A}">
                    <a16:rowId xmlns:a16="http://schemas.microsoft.com/office/drawing/2014/main" val="10014"/>
                  </a:ext>
                </a:extLst>
              </a:tr>
              <a:tr h="246888">
                <a:tc>
                  <a:txBody>
                    <a:bodyPr/>
                    <a:lstStyle/>
                    <a:p>
                      <a:r>
                        <a:rPr sz="1050">
                          <a:solidFill>
                            <a:srgbClr val="222222"/>
                          </a:solidFill>
                        </a:rPr>
                        <a:t>15</a:t>
                      </a:r>
                    </a:p>
                  </a:txBody>
                  <a:tcPr marL="73152" marT="18288" marB="18288">
                    <a:solidFill>
                      <a:srgbClr val="FFF4E0"/>
                    </a:solidFill>
                  </a:tcPr>
                </a:tc>
                <a:tc>
                  <a:txBody>
                    <a:bodyPr/>
                    <a:lstStyle/>
                    <a:p>
                      <a:r>
                        <a:rPr sz="1050">
                          <a:solidFill>
                            <a:srgbClr val="222222"/>
                          </a:solidFill>
                        </a:rPr>
                        <a:t>Jira se mueve tarde</a:t>
                      </a:r>
                    </a:p>
                  </a:txBody>
                  <a:tcPr marL="73152" marT="18288" marB="18288">
                    <a:solidFill>
                      <a:srgbClr val="FFF4E0"/>
                    </a:solidFill>
                  </a:tcPr>
                </a:tc>
                <a:tc>
                  <a:txBody>
                    <a:bodyPr/>
                    <a:lstStyle/>
                    <a:p>
                      <a:r>
                        <a:rPr sz="1050">
                          <a:solidFill>
                            <a:srgbClr val="222222"/>
                          </a:solidFill>
                        </a:rPr>
                        <a:t>16/10</a:t>
                      </a:r>
                    </a:p>
                  </a:txBody>
                  <a:tcPr marL="73152" marT="18288" marB="18288">
                    <a:solidFill>
                      <a:srgbClr val="FFF4E0"/>
                    </a:solidFill>
                  </a:tcPr>
                </a:tc>
                <a:tc>
                  <a:txBody>
                    <a:bodyPr/>
                    <a:lstStyle/>
                    <a:p>
                      <a:r>
                        <a:rPr sz="1050" b="1">
                          <a:solidFill>
                            <a:srgbClr val="222222"/>
                          </a:solidFill>
                        </a:rPr>
                        <a:t>Abierto (bajo)</a:t>
                      </a:r>
                    </a:p>
                  </a:txBody>
                  <a:tcPr marL="73152" marT="18288" marB="18288">
                    <a:solidFill>
                      <a:srgbClr val="FFF4E0"/>
                    </a:solidFill>
                  </a:tcPr>
                </a:tc>
                <a:extLst>
                  <a:ext uri="{0D108BD9-81ED-4DB2-BD59-A6C34878D82A}">
                    <a16:rowId xmlns:a16="http://schemas.microsoft.com/office/drawing/2014/main" val="10015"/>
                  </a:ext>
                </a:extLst>
              </a:tr>
              <a:tr h="246888">
                <a:tc>
                  <a:txBody>
                    <a:bodyPr/>
                    <a:lstStyle/>
                    <a:p>
                      <a:r>
                        <a:rPr sz="1050">
                          <a:solidFill>
                            <a:srgbClr val="222222"/>
                          </a:solidFill>
                        </a:rPr>
                        <a:t>16</a:t>
                      </a:r>
                    </a:p>
                  </a:txBody>
                  <a:tcPr marL="73152" marT="18288" marB="18288">
                    <a:solidFill>
                      <a:srgbClr val="F3F4F7"/>
                    </a:solidFill>
                  </a:tcPr>
                </a:tc>
                <a:tc>
                  <a:txBody>
                    <a:bodyPr/>
                    <a:lstStyle/>
                    <a:p>
                      <a:r>
                        <a:rPr sz="1050">
                          <a:solidFill>
                            <a:srgbClr val="222222"/>
                          </a:solidFill>
                        </a:rPr>
                        <a:t>KPI de tiempo sin medir con usuarios reales</a:t>
                      </a:r>
                    </a:p>
                  </a:txBody>
                  <a:tcPr marL="73152" marT="18288" marB="18288">
                    <a:solidFill>
                      <a:srgbClr val="F3F4F7"/>
                    </a:solidFill>
                  </a:tcPr>
                </a:tc>
                <a:tc>
                  <a:txBody>
                    <a:bodyPr/>
                    <a:lstStyle/>
                    <a:p>
                      <a:r>
                        <a:rPr sz="1050">
                          <a:solidFill>
                            <a:srgbClr val="222222"/>
                          </a:solidFill>
                        </a:rPr>
                        <a:t>23/10</a:t>
                      </a:r>
                    </a:p>
                  </a:txBody>
                  <a:tcPr marL="73152" marT="18288" marB="18288">
                    <a:solidFill>
                      <a:srgbClr val="F3F4F7"/>
                    </a:solidFill>
                  </a:tcPr>
                </a:tc>
                <a:tc>
                  <a:txBody>
                    <a:bodyPr/>
                    <a:lstStyle/>
                    <a:p>
                      <a:r>
                        <a:rPr sz="1050">
                          <a:solidFill>
                            <a:srgbClr val="222222"/>
                          </a:solidFill>
                        </a:rPr>
                        <a:t>Aceptado: se estima con el historial</a:t>
                      </a:r>
                    </a:p>
                  </a:txBody>
                  <a:tcPr marL="73152" marT="18288" marB="18288">
                    <a:solidFill>
                      <a:srgbClr val="F3F4F7"/>
                    </a:solidFill>
                  </a:tcPr>
                </a:tc>
                <a:extLst>
                  <a:ext uri="{0D108BD9-81ED-4DB2-BD59-A6C34878D82A}">
                    <a16:rowId xmlns:a16="http://schemas.microsoft.com/office/drawing/2014/main" val="10016"/>
                  </a:ext>
                </a:extLst>
              </a:tr>
              <a:tr h="246888">
                <a:tc>
                  <a:txBody>
                    <a:bodyPr/>
                    <a:lstStyle/>
                    <a:p>
                      <a:r>
                        <a:rPr sz="1050">
                          <a:solidFill>
                            <a:srgbClr val="222222"/>
                          </a:solidFill>
                        </a:rPr>
                        <a:t>17</a:t>
                      </a:r>
                    </a:p>
                  </a:txBody>
                  <a:tcPr marL="73152" marT="18288" marB="18288">
                    <a:solidFill>
                      <a:srgbClr val="FFF4E0"/>
                    </a:solidFill>
                  </a:tcPr>
                </a:tc>
                <a:tc>
                  <a:txBody>
                    <a:bodyPr/>
                    <a:lstStyle/>
                    <a:p>
                      <a:r>
                        <a:rPr sz="1050">
                          <a:solidFill>
                            <a:srgbClr val="222222"/>
                          </a:solidFill>
                        </a:rPr>
                        <a:t>Pruebas del Sprint 4 sin ejecutar</a:t>
                      </a:r>
                    </a:p>
                  </a:txBody>
                  <a:tcPr marL="73152" marT="18288" marB="18288">
                    <a:solidFill>
                      <a:srgbClr val="FFF4E0"/>
                    </a:solidFill>
                  </a:tcPr>
                </a:tc>
                <a:tc>
                  <a:txBody>
                    <a:bodyPr/>
                    <a:lstStyle/>
                    <a:p>
                      <a:r>
                        <a:rPr sz="1050">
                          <a:solidFill>
                            <a:srgbClr val="222222"/>
                          </a:solidFill>
                        </a:rPr>
                        <a:t>30/10</a:t>
                      </a:r>
                    </a:p>
                  </a:txBody>
                  <a:tcPr marL="73152" marT="18288" marB="18288">
                    <a:solidFill>
                      <a:srgbClr val="FFF4E0"/>
                    </a:solidFill>
                  </a:tcPr>
                </a:tc>
                <a:tc>
                  <a:txBody>
                    <a:bodyPr/>
                    <a:lstStyle/>
                    <a:p>
                      <a:r>
                        <a:rPr sz="1050" b="1">
                          <a:solidFill>
                            <a:srgbClr val="222222"/>
                          </a:solidFill>
                        </a:rPr>
                        <a:t>Abierto (alto)</a:t>
                      </a:r>
                    </a:p>
                  </a:txBody>
                  <a:tcPr marL="73152" marT="18288" marB="18288">
                    <a:solidFill>
                      <a:srgbClr val="FFF4E0"/>
                    </a:solidFill>
                  </a:tcPr>
                </a:tc>
                <a:extLst>
                  <a:ext uri="{0D108BD9-81ED-4DB2-BD59-A6C34878D82A}">
                    <a16:rowId xmlns:a16="http://schemas.microsoft.com/office/drawing/2014/main" val="10017"/>
                  </a:ext>
                </a:extLst>
              </a:tr>
              <a:tr h="246888">
                <a:tc>
                  <a:txBody>
                    <a:bodyPr/>
                    <a:lstStyle/>
                    <a:p>
                      <a:r>
                        <a:rPr sz="1050">
                          <a:solidFill>
                            <a:srgbClr val="222222"/>
                          </a:solidFill>
                        </a:rPr>
                        <a:t>18</a:t>
                      </a:r>
                    </a:p>
                  </a:txBody>
                  <a:tcPr marL="73152" marT="18288" marB="18288">
                    <a:solidFill>
                      <a:srgbClr val="FFF4E0"/>
                    </a:solidFill>
                  </a:tcPr>
                </a:tc>
                <a:tc>
                  <a:txBody>
                    <a:bodyPr/>
                    <a:lstStyle/>
                    <a:p>
                      <a:r>
                        <a:rPr sz="1050">
                          <a:solidFill>
                            <a:srgbClr val="222222"/>
                          </a:solidFill>
                        </a:rPr>
                        <a:t>Tiempo de respuesta sobre 2 s</a:t>
                      </a:r>
                    </a:p>
                  </a:txBody>
                  <a:tcPr marL="73152" marT="18288" marB="18288">
                    <a:solidFill>
                      <a:srgbClr val="FFF4E0"/>
                    </a:solidFill>
                  </a:tcPr>
                </a:tc>
                <a:tc>
                  <a:txBody>
                    <a:bodyPr/>
                    <a:lstStyle/>
                    <a:p>
                      <a:r>
                        <a:rPr sz="1050">
                          <a:solidFill>
                            <a:srgbClr val="222222"/>
                          </a:solidFill>
                        </a:rPr>
                        <a:t>30/10</a:t>
                      </a:r>
                    </a:p>
                  </a:txBody>
                  <a:tcPr marL="73152" marT="18288" marB="18288">
                    <a:solidFill>
                      <a:srgbClr val="FFF4E0"/>
                    </a:solidFill>
                  </a:tcPr>
                </a:tc>
                <a:tc>
                  <a:txBody>
                    <a:bodyPr/>
                    <a:lstStyle/>
                    <a:p>
                      <a:r>
                        <a:rPr sz="1050" b="1">
                          <a:solidFill>
                            <a:srgbClr val="222222"/>
                          </a:solidFill>
                        </a:rPr>
                        <a:t>Abierto (bajo)</a:t>
                      </a:r>
                    </a:p>
                  </a:txBody>
                  <a:tcPr marL="73152" marT="18288" marB="18288">
                    <a:solidFill>
                      <a:srgbClr val="FFF4E0"/>
                    </a:solidFill>
                  </a:tcPr>
                </a:tc>
                <a:extLst>
                  <a:ext uri="{0D108BD9-81ED-4DB2-BD59-A6C34878D82A}">
                    <a16:rowId xmlns:a16="http://schemas.microsoft.com/office/drawing/2014/main" val="10018"/>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Shape 192"/>
        <p:cNvGrpSpPr/>
        <p:nvPr/>
      </p:nvGrpSpPr>
      <p:grpSpPr>
        <a:xfrm>
          <a:off x="0" y="0"/>
          <a:ext cx="0" cy="0"/>
          <a:chOff x="0" y="0"/>
          <a:chExt cx="0" cy="0"/>
        </a:xfrm>
      </p:grpSpPr>
      <p:sp>
        <p:nvSpPr>
          <p:cNvPr id="193" name="Google Shape;193;p8"/>
          <p:cNvSpPr txBox="1">
            <a:spLocks noGrp="1"/>
          </p:cNvSpPr>
          <p:nvPr>
            <p:ph type="title"/>
          </p:nvPr>
        </p:nvSpPr>
        <p:spPr>
          <a:xfrm>
            <a:off x="812800" y="812800"/>
            <a:ext cx="10883392" cy="472380"/>
          </a:xfrm>
          <a:prstGeom prst="rect">
            <a:avLst/>
          </a:prstGeom>
          <a:noFill/>
          <a:ln>
            <a:noFill/>
          </a:ln>
        </p:spPr>
        <p:txBody>
          <a:bodyPr spcFirstLastPara="1" wrap="square" lIns="0" tIns="0" rIns="0" bIns="0" anchor="t" anchorCtr="0">
            <a:normAutofit fontScale="90000"/>
          </a:bodyPr>
          <a:lstStyle/>
          <a:p>
            <a:pPr marL="0" lvl="0" indent="0" algn="l" rtl="0">
              <a:lnSpc>
                <a:spcPct val="110000"/>
              </a:lnSpc>
              <a:spcBef>
                <a:spcPts val="0"/>
              </a:spcBef>
              <a:spcAft>
                <a:spcPts val="0"/>
              </a:spcAft>
              <a:buClr>
                <a:srgbClr val="F7F6F2"/>
              </a:buClr>
              <a:buSzPts val="3200"/>
              <a:buFont typeface="DM Sans"/>
              <a:buNone/>
            </a:pPr>
            <a:r>
              <a:rPr lang="en-US" sz="3200" b="1" i="0">
                <a:solidFill>
                  <a:srgbClr val="F7F6F2"/>
                </a:solidFill>
                <a:latin typeface="DM Sans"/>
                <a:ea typeface="DM Sans"/>
                <a:cs typeface="DM Sans"/>
                <a:sym typeface="DM Sans"/>
              </a:rPr>
              <a:t>Próximos pasos</a:t>
            </a:r>
            <a:endParaRPr sz="3200"/>
          </a:p>
        </p:txBody>
      </p:sp>
      <p:cxnSp>
        <p:nvCxnSpPr>
          <p:cNvPr id="194" name="Google Shape;194;p8"/>
          <p:cNvCxnSpPr/>
          <p:nvPr/>
        </p:nvCxnSpPr>
        <p:spPr>
          <a:xfrm>
            <a:off x="812800" y="1520130"/>
            <a:ext cx="10566400" cy="0"/>
          </a:xfrm>
          <a:prstGeom prst="straightConnector1">
            <a:avLst/>
          </a:prstGeom>
          <a:noFill/>
          <a:ln w="12700" cap="flat" cmpd="sng">
            <a:solidFill>
              <a:srgbClr val="3A4766"/>
            </a:solidFill>
            <a:prstDash val="solid"/>
            <a:round/>
            <a:headEnd type="none" w="sm" len="sm"/>
            <a:tailEnd type="none" w="sm" len="sm"/>
          </a:ln>
        </p:spPr>
      </p:cxnSp>
      <p:sp>
        <p:nvSpPr>
          <p:cNvPr id="195" name="Google Shape;195;p8"/>
          <p:cNvSpPr/>
          <p:nvPr/>
        </p:nvSpPr>
        <p:spPr>
          <a:xfrm>
            <a:off x="812800" y="1678880"/>
            <a:ext cx="1962150" cy="30986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7FB3F0"/>
              </a:buClr>
              <a:buSzPts val="1600"/>
              <a:buFont typeface="DM Sans"/>
              <a:buNone/>
            </a:pPr>
            <a:r>
              <a:rPr lang="en-US" sz="1600" b="1" i="0" u="none" strike="noStrike" cap="none">
                <a:solidFill>
                  <a:srgbClr val="7FB3F0"/>
                </a:solidFill>
                <a:latin typeface="DM Sans"/>
                <a:ea typeface="DM Sans"/>
                <a:cs typeface="DM Sans"/>
                <a:sym typeface="DM Sans"/>
              </a:rPr>
              <a:t>30/10</a:t>
            </a:r>
            <a:endParaRPr sz="1600" b="0" i="0" u="none" strike="noStrike" cap="none">
              <a:solidFill>
                <a:schemeClr val="dk1"/>
              </a:solidFill>
              <a:latin typeface="DM Sans"/>
              <a:ea typeface="DM Sans"/>
              <a:cs typeface="DM Sans"/>
              <a:sym typeface="DM Sans"/>
            </a:endParaRPr>
          </a:p>
        </p:txBody>
      </p:sp>
      <p:sp>
        <p:nvSpPr>
          <p:cNvPr id="196" name="Google Shape;196;p8"/>
          <p:cNvSpPr/>
          <p:nvPr/>
        </p:nvSpPr>
        <p:spPr>
          <a:xfrm>
            <a:off x="2971800" y="1678880"/>
            <a:ext cx="8659622" cy="309860"/>
          </a:xfrm>
          <a:prstGeom prst="rect">
            <a:avLst/>
          </a:prstGeom>
          <a:noFill/>
          <a:ln>
            <a:noFill/>
          </a:ln>
        </p:spPr>
        <p:txBody>
          <a:bodyPr spcFirstLastPara="1" wrap="square" lIns="0" tIns="0" rIns="0" bIns="0" anchor="t" anchorCtr="0">
            <a:normAutofit lnSpcReduction="10000"/>
          </a:bodyPr>
          <a:lstStyle/>
          <a:p>
            <a:pPr marL="0" marR="0" lvl="0" indent="0" algn="l" rtl="0">
              <a:lnSpc>
                <a:spcPct val="135000"/>
              </a:lnSpc>
              <a:spcBef>
                <a:spcPts val="0"/>
              </a:spcBef>
              <a:spcAft>
                <a:spcPts val="0"/>
              </a:spcAft>
              <a:buClr>
                <a:srgbClr val="F7F6F2"/>
              </a:buClr>
              <a:buSzPts val="1600"/>
              <a:buFont typeface="DM Sans"/>
              <a:buNone/>
            </a:pPr>
            <a:r>
              <a:rPr lang="en-US" sz="1600" b="0" i="0" u="none" strike="noStrike" cap="none">
                <a:solidFill>
                  <a:srgbClr val="F7F6F2"/>
                </a:solidFill>
                <a:latin typeface="DM Sans"/>
                <a:ea typeface="DM Sans"/>
                <a:cs typeface="DM Sans"/>
                <a:sym typeface="DM Sans"/>
              </a:rPr>
              <a:t>Casos de pantallas del Sprint 4 y commit del código del sprint</a:t>
            </a:r>
            <a:endParaRPr sz="1600" b="0" i="0" u="none" strike="noStrike" cap="none">
              <a:solidFill>
                <a:schemeClr val="dk1"/>
              </a:solidFill>
              <a:latin typeface="DM Sans"/>
              <a:ea typeface="DM Sans"/>
              <a:cs typeface="DM Sans"/>
              <a:sym typeface="DM Sans"/>
            </a:endParaRPr>
          </a:p>
        </p:txBody>
      </p:sp>
      <p:cxnSp>
        <p:nvCxnSpPr>
          <p:cNvPr id="197" name="Google Shape;197;p8"/>
          <p:cNvCxnSpPr/>
          <p:nvPr/>
        </p:nvCxnSpPr>
        <p:spPr>
          <a:xfrm>
            <a:off x="812800" y="2122091"/>
            <a:ext cx="10566400" cy="0"/>
          </a:xfrm>
          <a:prstGeom prst="straightConnector1">
            <a:avLst/>
          </a:prstGeom>
          <a:noFill/>
          <a:ln w="12700" cap="flat" cmpd="sng">
            <a:solidFill>
              <a:srgbClr val="3A4766"/>
            </a:solidFill>
            <a:prstDash val="solid"/>
            <a:round/>
            <a:headEnd type="none" w="sm" len="sm"/>
            <a:tailEnd type="none" w="sm" len="sm"/>
          </a:ln>
        </p:spPr>
      </p:cxnSp>
      <p:sp>
        <p:nvSpPr>
          <p:cNvPr id="198" name="Google Shape;198;p8"/>
          <p:cNvSpPr/>
          <p:nvPr/>
        </p:nvSpPr>
        <p:spPr>
          <a:xfrm>
            <a:off x="812800" y="2280841"/>
            <a:ext cx="1962150" cy="30986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7FB3F0"/>
              </a:buClr>
              <a:buSzPts val="1600"/>
              <a:buFont typeface="DM Sans"/>
              <a:buNone/>
            </a:pPr>
            <a:r>
              <a:rPr lang="en-US" sz="1600" b="1" i="0" u="none" strike="noStrike" cap="none">
                <a:solidFill>
                  <a:srgbClr val="7FB3F0"/>
                </a:solidFill>
                <a:latin typeface="DM Sans"/>
                <a:ea typeface="DM Sans"/>
                <a:cs typeface="DM Sans"/>
                <a:sym typeface="DM Sans"/>
              </a:rPr>
              <a:t>31/10</a:t>
            </a:r>
            <a:endParaRPr sz="1600" b="0" i="0" u="none" strike="noStrike" cap="none">
              <a:solidFill>
                <a:schemeClr val="dk1"/>
              </a:solidFill>
              <a:latin typeface="DM Sans"/>
              <a:ea typeface="DM Sans"/>
              <a:cs typeface="DM Sans"/>
              <a:sym typeface="DM Sans"/>
            </a:endParaRPr>
          </a:p>
        </p:txBody>
      </p:sp>
      <p:sp>
        <p:nvSpPr>
          <p:cNvPr id="199" name="Google Shape;199;p8"/>
          <p:cNvSpPr/>
          <p:nvPr/>
        </p:nvSpPr>
        <p:spPr>
          <a:xfrm>
            <a:off x="2971800" y="2280841"/>
            <a:ext cx="8659622" cy="309860"/>
          </a:xfrm>
          <a:prstGeom prst="rect">
            <a:avLst/>
          </a:prstGeom>
          <a:noFill/>
          <a:ln>
            <a:noFill/>
          </a:ln>
        </p:spPr>
        <p:txBody>
          <a:bodyPr spcFirstLastPara="1" wrap="square" lIns="0" tIns="0" rIns="0" bIns="0" anchor="t" anchorCtr="0">
            <a:normAutofit lnSpcReduction="10000"/>
          </a:bodyPr>
          <a:lstStyle/>
          <a:p>
            <a:pPr marL="0" marR="0" lvl="0" indent="0" algn="l" rtl="0">
              <a:lnSpc>
                <a:spcPct val="135000"/>
              </a:lnSpc>
              <a:spcBef>
                <a:spcPts val="0"/>
              </a:spcBef>
              <a:spcAft>
                <a:spcPts val="0"/>
              </a:spcAft>
              <a:buClr>
                <a:srgbClr val="F7F6F2"/>
              </a:buClr>
              <a:buSzPts val="1600"/>
              <a:buFont typeface="DM Sans"/>
              <a:buNone/>
            </a:pPr>
            <a:r>
              <a:rPr lang="en-US" sz="1600" b="0" i="0" u="none" strike="noStrike" cap="none">
                <a:solidFill>
                  <a:srgbClr val="F7F6F2"/>
                </a:solidFill>
                <a:latin typeface="DM Sans"/>
                <a:ea typeface="DM Sans"/>
                <a:cs typeface="DM Sans"/>
                <a:sym typeface="DM Sans"/>
              </a:rPr>
              <a:t>Power BI Desktop con las vistas nuevas, prueba de carga y empaquetado (APK, web, jar y scripts)</a:t>
            </a:r>
            <a:endParaRPr sz="1600" b="0" i="0" u="none" strike="noStrike" cap="none">
              <a:solidFill>
                <a:schemeClr val="dk1"/>
              </a:solidFill>
              <a:latin typeface="DM Sans"/>
              <a:ea typeface="DM Sans"/>
              <a:cs typeface="DM Sans"/>
              <a:sym typeface="DM Sans"/>
            </a:endParaRPr>
          </a:p>
        </p:txBody>
      </p:sp>
      <p:cxnSp>
        <p:nvCxnSpPr>
          <p:cNvPr id="200" name="Google Shape;200;p8"/>
          <p:cNvCxnSpPr/>
          <p:nvPr/>
        </p:nvCxnSpPr>
        <p:spPr>
          <a:xfrm>
            <a:off x="812800" y="2724051"/>
            <a:ext cx="10566400" cy="0"/>
          </a:xfrm>
          <a:prstGeom prst="straightConnector1">
            <a:avLst/>
          </a:prstGeom>
          <a:noFill/>
          <a:ln w="12700" cap="flat" cmpd="sng">
            <a:solidFill>
              <a:srgbClr val="3A4766"/>
            </a:solidFill>
            <a:prstDash val="solid"/>
            <a:round/>
            <a:headEnd type="none" w="sm" len="sm"/>
            <a:tailEnd type="none" w="sm" len="sm"/>
          </a:ln>
        </p:spPr>
      </p:cxnSp>
      <p:sp>
        <p:nvSpPr>
          <p:cNvPr id="201" name="Google Shape;201;p8"/>
          <p:cNvSpPr/>
          <p:nvPr/>
        </p:nvSpPr>
        <p:spPr>
          <a:xfrm>
            <a:off x="812800" y="2882801"/>
            <a:ext cx="1962150" cy="30986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7FB3F0"/>
              </a:buClr>
              <a:buSzPts val="1600"/>
              <a:buFont typeface="DM Sans"/>
              <a:buNone/>
            </a:pPr>
            <a:r>
              <a:rPr lang="en-US" sz="1600" b="1" i="0" u="none" strike="noStrike" cap="none">
                <a:solidFill>
                  <a:srgbClr val="7FB3F0"/>
                </a:solidFill>
                <a:latin typeface="DM Sans"/>
                <a:ea typeface="DM Sans"/>
                <a:cs typeface="DM Sans"/>
                <a:sym typeface="DM Sans"/>
              </a:rPr>
              <a:t>01/11</a:t>
            </a:r>
            <a:endParaRPr sz="1600" b="0" i="0" u="none" strike="noStrike" cap="none">
              <a:solidFill>
                <a:schemeClr val="dk1"/>
              </a:solidFill>
              <a:latin typeface="DM Sans"/>
              <a:ea typeface="DM Sans"/>
              <a:cs typeface="DM Sans"/>
              <a:sym typeface="DM Sans"/>
            </a:endParaRPr>
          </a:p>
        </p:txBody>
      </p:sp>
      <p:sp>
        <p:nvSpPr>
          <p:cNvPr id="202" name="Google Shape;202;p8"/>
          <p:cNvSpPr/>
          <p:nvPr/>
        </p:nvSpPr>
        <p:spPr>
          <a:xfrm>
            <a:off x="2971800" y="2882801"/>
            <a:ext cx="8659622" cy="309860"/>
          </a:xfrm>
          <a:prstGeom prst="rect">
            <a:avLst/>
          </a:prstGeom>
          <a:noFill/>
          <a:ln>
            <a:noFill/>
          </a:ln>
        </p:spPr>
        <p:txBody>
          <a:bodyPr spcFirstLastPara="1" wrap="square" lIns="0" tIns="0" rIns="0" bIns="0" anchor="t" anchorCtr="0">
            <a:normAutofit lnSpcReduction="10000"/>
          </a:bodyPr>
          <a:lstStyle/>
          <a:p>
            <a:pPr marL="0" marR="0" lvl="0" indent="0" algn="l" rtl="0">
              <a:lnSpc>
                <a:spcPct val="135000"/>
              </a:lnSpc>
              <a:spcBef>
                <a:spcPts val="0"/>
              </a:spcBef>
              <a:spcAft>
                <a:spcPts val="0"/>
              </a:spcAft>
              <a:buClr>
                <a:srgbClr val="F7F6F2"/>
              </a:buClr>
              <a:buSzPts val="1600"/>
              <a:buFont typeface="DM Sans"/>
              <a:buNone/>
            </a:pPr>
            <a:r>
              <a:rPr lang="en-US" sz="1600" b="0" i="0" u="none" strike="noStrike" cap="none">
                <a:solidFill>
                  <a:srgbClr val="F7F6F2"/>
                </a:solidFill>
                <a:latin typeface="DM Sans"/>
                <a:ea typeface="DM Sans"/>
                <a:cs typeface="DM Sans"/>
                <a:sym typeface="DM Sans"/>
              </a:rPr>
              <a:t>Cierre del Sprint 4: Jira y burndown final, retrospectiva y push a GitHub</a:t>
            </a:r>
            <a:endParaRPr sz="1600" b="0" i="0" u="none" strike="noStrike" cap="none">
              <a:solidFill>
                <a:schemeClr val="dk1"/>
              </a:solidFill>
              <a:latin typeface="DM Sans"/>
              <a:ea typeface="DM Sans"/>
              <a:cs typeface="DM Sans"/>
              <a:sym typeface="DM Sans"/>
            </a:endParaRPr>
          </a:p>
        </p:txBody>
      </p:sp>
      <p:cxnSp>
        <p:nvCxnSpPr>
          <p:cNvPr id="203" name="Google Shape;203;p8"/>
          <p:cNvCxnSpPr/>
          <p:nvPr/>
        </p:nvCxnSpPr>
        <p:spPr>
          <a:xfrm>
            <a:off x="812800" y="3326011"/>
            <a:ext cx="10566400" cy="0"/>
          </a:xfrm>
          <a:prstGeom prst="straightConnector1">
            <a:avLst/>
          </a:prstGeom>
          <a:noFill/>
          <a:ln w="12700" cap="flat" cmpd="sng">
            <a:solidFill>
              <a:srgbClr val="3A4766"/>
            </a:solidFill>
            <a:prstDash val="solid"/>
            <a:round/>
            <a:headEnd type="none" w="sm" len="sm"/>
            <a:tailEnd type="none" w="sm" len="sm"/>
          </a:ln>
        </p:spPr>
      </p:cxnSp>
      <p:sp>
        <p:nvSpPr>
          <p:cNvPr id="204" name="Google Shape;204;p8"/>
          <p:cNvSpPr/>
          <p:nvPr/>
        </p:nvSpPr>
        <p:spPr>
          <a:xfrm>
            <a:off x="812800" y="3484761"/>
            <a:ext cx="1962150" cy="30986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7FB3F0"/>
              </a:buClr>
              <a:buSzPts val="1600"/>
              <a:buFont typeface="DM Sans"/>
              <a:buNone/>
            </a:pPr>
            <a:r>
              <a:rPr lang="en-US" sz="1600" b="1" i="0" u="none" strike="noStrike" cap="none">
                <a:solidFill>
                  <a:srgbClr val="7FB3F0"/>
                </a:solidFill>
                <a:latin typeface="DM Sans"/>
                <a:ea typeface="DM Sans"/>
                <a:cs typeface="DM Sans"/>
                <a:sym typeface="DM Sans"/>
              </a:rPr>
              <a:t>Noviembre</a:t>
            </a:r>
            <a:endParaRPr sz="1600" b="0" i="0" u="none" strike="noStrike" cap="none">
              <a:solidFill>
                <a:schemeClr val="dk1"/>
              </a:solidFill>
              <a:latin typeface="DM Sans"/>
              <a:ea typeface="DM Sans"/>
              <a:cs typeface="DM Sans"/>
              <a:sym typeface="DM Sans"/>
            </a:endParaRPr>
          </a:p>
        </p:txBody>
      </p:sp>
      <p:sp>
        <p:nvSpPr>
          <p:cNvPr id="205" name="Google Shape;205;p8"/>
          <p:cNvSpPr/>
          <p:nvPr/>
        </p:nvSpPr>
        <p:spPr>
          <a:xfrm>
            <a:off x="2971800" y="3484761"/>
            <a:ext cx="8659622" cy="309860"/>
          </a:xfrm>
          <a:prstGeom prst="rect">
            <a:avLst/>
          </a:prstGeom>
          <a:noFill/>
          <a:ln>
            <a:noFill/>
          </a:ln>
        </p:spPr>
        <p:txBody>
          <a:bodyPr spcFirstLastPara="1" wrap="square" lIns="0" tIns="0" rIns="0" bIns="0" anchor="t" anchorCtr="0">
            <a:normAutofit lnSpcReduction="10000"/>
          </a:bodyPr>
          <a:lstStyle/>
          <a:p>
            <a:pPr marL="0" marR="0" lvl="0" indent="0" algn="l" rtl="0">
              <a:lnSpc>
                <a:spcPct val="135000"/>
              </a:lnSpc>
              <a:spcBef>
                <a:spcPts val="0"/>
              </a:spcBef>
              <a:spcAft>
                <a:spcPts val="0"/>
              </a:spcAft>
              <a:buClr>
                <a:srgbClr val="F7F6F2"/>
              </a:buClr>
              <a:buSzPts val="1600"/>
              <a:buFont typeface="DM Sans"/>
              <a:buNone/>
            </a:pPr>
            <a:r>
              <a:rPr lang="en-US" sz="1600" b="0" i="0" u="none" strike="noStrike" cap="none">
                <a:solidFill>
                  <a:srgbClr val="F7F6F2"/>
                </a:solidFill>
                <a:latin typeface="DM Sans"/>
                <a:ea typeface="DM Sans"/>
                <a:cs typeface="DM Sans"/>
                <a:sym typeface="DM Sans"/>
              </a:rPr>
              <a:t>Ajustes finales y preparación de la defensa</a:t>
            </a:r>
            <a:endParaRPr sz="1600" b="0" i="0" u="none" strike="noStrike" cap="none">
              <a:solidFill>
                <a:schemeClr val="dk1"/>
              </a:solidFill>
              <a:latin typeface="DM Sans"/>
              <a:ea typeface="DM Sans"/>
              <a:cs typeface="DM Sans"/>
              <a:sym typeface="DM Sans"/>
            </a:endParaRPr>
          </a:p>
        </p:txBody>
      </p:sp>
      <p:cxnSp>
        <p:nvCxnSpPr>
          <p:cNvPr id="206" name="Google Shape;206;p8"/>
          <p:cNvCxnSpPr/>
          <p:nvPr/>
        </p:nvCxnSpPr>
        <p:spPr>
          <a:xfrm>
            <a:off x="812800" y="3927971"/>
            <a:ext cx="10566400" cy="0"/>
          </a:xfrm>
          <a:prstGeom prst="straightConnector1">
            <a:avLst/>
          </a:prstGeom>
          <a:noFill/>
          <a:ln w="12700" cap="flat" cmpd="sng">
            <a:solidFill>
              <a:srgbClr val="3A4766"/>
            </a:solidFill>
            <a:prstDash val="solid"/>
            <a:round/>
            <a:headEnd type="none" w="sm" len="sm"/>
            <a:tailEnd type="none" w="sm" len="sm"/>
          </a:ln>
        </p:spPr>
      </p:cxnSp>
      <p:cxnSp>
        <p:nvCxnSpPr>
          <p:cNvPr id="207" name="Google Shape;207;p8"/>
          <p:cNvCxnSpPr/>
          <p:nvPr/>
        </p:nvCxnSpPr>
        <p:spPr>
          <a:xfrm>
            <a:off x="812800" y="4793952"/>
            <a:ext cx="10566400" cy="0"/>
          </a:xfrm>
          <a:prstGeom prst="straightConnector1">
            <a:avLst/>
          </a:prstGeom>
          <a:noFill/>
          <a:ln w="12700" cap="flat" cmpd="sng">
            <a:solidFill>
              <a:srgbClr val="3A4766"/>
            </a:solidFill>
            <a:prstDash val="solid"/>
            <a:round/>
            <a:headEnd type="none" w="sm" len="sm"/>
            <a:tailEnd type="none" w="sm" len="sm"/>
          </a:ln>
        </p:spPr>
      </p:cxnSp>
      <p:sp>
        <p:nvSpPr>
          <p:cNvPr id="208" name="Google Shape;208;p8"/>
          <p:cNvSpPr/>
          <p:nvPr/>
        </p:nvSpPr>
        <p:spPr>
          <a:xfrm>
            <a:off x="812800" y="4086721"/>
            <a:ext cx="1962150" cy="573881"/>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7FB3F0"/>
              </a:buClr>
              <a:buSzPts val="1600"/>
              <a:buFont typeface="DM Sans"/>
              <a:buNone/>
            </a:pPr>
            <a:r>
              <a:rPr lang="en-US" sz="1600" b="1" i="0" u="none" strike="noStrike" cap="none">
                <a:solidFill>
                  <a:srgbClr val="7FB3F0"/>
                </a:solidFill>
                <a:latin typeface="DM Sans"/>
                <a:ea typeface="DM Sans"/>
                <a:cs typeface="DM Sans"/>
                <a:sym typeface="DM Sans"/>
              </a:rPr>
              <a:t>Si alcanza</a:t>
            </a:r>
            <a:endParaRPr sz="1600" b="0" i="0" u="none" strike="noStrike" cap="none">
              <a:solidFill>
                <a:schemeClr val="dk1"/>
              </a:solidFill>
              <a:latin typeface="DM Sans"/>
              <a:ea typeface="DM Sans"/>
              <a:cs typeface="DM Sans"/>
              <a:sym typeface="DM Sans"/>
            </a:endParaRPr>
          </a:p>
        </p:txBody>
      </p:sp>
      <p:sp>
        <p:nvSpPr>
          <p:cNvPr id="209" name="Google Shape;209;p8"/>
          <p:cNvSpPr/>
          <p:nvPr/>
        </p:nvSpPr>
        <p:spPr>
          <a:xfrm>
            <a:off x="2971800" y="4086721"/>
            <a:ext cx="8659622" cy="573881"/>
          </a:xfrm>
          <a:prstGeom prst="rect">
            <a:avLst/>
          </a:prstGeom>
          <a:noFill/>
          <a:ln>
            <a:noFill/>
          </a:ln>
        </p:spPr>
        <p:txBody>
          <a:bodyPr spcFirstLastPara="1" wrap="square" lIns="0" tIns="0" rIns="0" bIns="0" anchor="t" anchorCtr="0">
            <a:normAutofit fontScale="92500"/>
          </a:bodyPr>
          <a:lstStyle/>
          <a:p>
            <a:pPr marL="0" marR="0" lvl="0" indent="0" algn="l" rtl="0">
              <a:lnSpc>
                <a:spcPct val="135000"/>
              </a:lnSpc>
              <a:spcBef>
                <a:spcPts val="0"/>
              </a:spcBef>
              <a:spcAft>
                <a:spcPts val="0"/>
              </a:spcAft>
              <a:buClr>
                <a:srgbClr val="F7F6F2"/>
              </a:buClr>
              <a:buSzPts val="1600"/>
              <a:buFont typeface="DM Sans"/>
              <a:buNone/>
            </a:pPr>
            <a:r>
              <a:rPr lang="en-US" sz="1600" b="0" i="0" u="none" strike="noStrike" cap="none">
                <a:solidFill>
                  <a:srgbClr val="F7F6F2"/>
                </a:solidFill>
                <a:latin typeface="DM Sans"/>
                <a:ea typeface="DM Sans"/>
                <a:cs typeface="DM Sans"/>
                <a:sym typeface="DM Sans"/>
              </a:rPr>
              <a:t>Maqueta IoT con ESP32 conectada al backend en la nube</a:t>
            </a:r>
            <a:endParaRPr sz="1600" b="0" i="0" u="none" strike="noStrike" cap="none">
              <a:solidFill>
                <a:schemeClr val="dk1"/>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name="OmniDock — Avance semanal Sprint 3">
  <a:themeElements>
    <a:clrScheme name="OmniDock — Avance semanal Sprint 3">
      <a:dk1>
        <a:srgbClr val="14213D"/>
      </a:dk1>
      <a:lt1>
        <a:srgbClr val="F7F6F2"/>
      </a:lt1>
      <a:dk2>
        <a:srgbClr val="4D566A"/>
      </a:dk2>
      <a:lt2>
        <a:srgbClr val="E0E1E0"/>
      </a:lt2>
      <a:accent1>
        <a:srgbClr val="2A78D6"/>
      </a:accent1>
      <a:accent2>
        <a:srgbClr val="7FB3F0"/>
      </a:accent2>
      <a:accent3>
        <a:srgbClr val="F2CF4A"/>
      </a:accent3>
      <a:accent4>
        <a:srgbClr val="E5675C"/>
      </a:accent4>
      <a:accent5>
        <a:srgbClr val="7BC67E"/>
      </a:accent5>
      <a:accent6>
        <a:srgbClr val="1B4F8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mniDock — Avance semanal Sprint 3">
  <a:themeElements>
    <a:clrScheme name="OmniDock — Avance semanal Sprint 3">
      <a:dk1>
        <a:srgbClr val="14213D"/>
      </a:dk1>
      <a:lt1>
        <a:srgbClr val="F7F6F2"/>
      </a:lt1>
      <a:dk2>
        <a:srgbClr val="4D566A"/>
      </a:dk2>
      <a:lt2>
        <a:srgbClr val="E0E1E0"/>
      </a:lt2>
      <a:accent1>
        <a:srgbClr val="2A78D6"/>
      </a:accent1>
      <a:accent2>
        <a:srgbClr val="7FB3F0"/>
      </a:accent2>
      <a:accent3>
        <a:srgbClr val="F2CF4A"/>
      </a:accent3>
      <a:accent4>
        <a:srgbClr val="E5675C"/>
      </a:accent4>
      <a:accent5>
        <a:srgbClr val="7BC67E"/>
      </a:accent5>
      <a:accent6>
        <a:srgbClr val="1B4F8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2176</Words>
  <Application>Microsoft Office PowerPoint</Application>
  <PresentationFormat>Panorámica</PresentationFormat>
  <Paragraphs>254</Paragraphs>
  <Slides>10</Slides>
  <Notes>10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10</vt:i4>
      </vt:variant>
    </vt:vector>
  </HeadingPairs>
  <TitlesOfParts>
    <vt:vector size="13" baseType="lpstr">
      <vt:lpstr>DM Sans</vt:lpstr>
      <vt:lpstr>Arial</vt:lpstr>
      <vt:lpstr>OmniDock — Avance semanal Sprint 3</vt:lpstr>
      <vt:lpstr>OmniDock</vt:lpstr>
      <vt:lpstr>Dónde estamos</vt:lpstr>
      <vt:lpstr>Cambios pedidos en la presentación del 23/10</vt:lpstr>
      <vt:lpstr>Roadmap del proyecto</vt:lpstr>
      <vt:lpstr>Burndown del proyecto</vt:lpstr>
      <vt:lpstr>Sprint 4: burndown y pruebas</vt:lpstr>
      <vt:lpstr>Sprint 4: lo que hizo cada uno</vt:lpstr>
      <vt:lpstr>Riesgos y qué hacemos</vt:lpstr>
      <vt:lpstr>Registro acumulado de riesgos</vt:lpstr>
      <vt:lpstr>Próximos pasos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Carlos</dc:creator>
  <cp:lastModifiedBy>CARLOS FELIPE ROMAN SEPULVEDA</cp:lastModifiedBy>
  <cp:revision>1</cp:revision>
  <dcterms:created xsi:type="dcterms:W3CDTF">2026-10-09T20:04:40Z</dcterms:created>
  <dcterms:modified xsi:type="dcterms:W3CDTF">2026-10-30T22:56:30Z</dcterms:modified>
</cp:coreProperties>
</file>