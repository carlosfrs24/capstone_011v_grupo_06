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5" r:id="rId9"/>
    <p:sldId id="266" r:id="rId10"/>
    <p:sldId id="260" r:id="rId11"/>
    <p:sldId id="261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4" roundtripDataSignature="AMtx7mi5D10j7B+DGeqpvvpWvVZ5ycK6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F6B519B-2569-4E28-8358-FEF741C9C880}">
  <a:tblStyle styleId="{AF6B519B-2569-4E28-8358-FEF741C9C88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tcBdr/>
        <a:fill>
          <a:solidFill>
            <a:srgbClr val="CFD7E7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FD7E7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654" y="1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4" name="Google Shape;14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2" name="Google Shape;19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4" name="Google Shape;20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9" name="Google Shape;21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3344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 descr="image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78440" y="320040"/>
            <a:ext cx="1234440" cy="1234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" descr="image2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8368" y="1097280"/>
            <a:ext cx="36576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4617720" y="1481328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12B5E0"/>
                </a:solidFill>
                <a:latin typeface="Arial"/>
                <a:ea typeface="Arial"/>
                <a:cs typeface="Arial"/>
                <a:sym typeface="Arial"/>
              </a:rPr>
              <a:t>SEGUIMIENTO SEMANAL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4617720" y="1938528"/>
            <a:ext cx="64008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-US" sz="4200" b="1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OmniDock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4617720" y="2834640"/>
            <a:ext cx="6217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0" i="0" u="none" strike="noStrike" cap="non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Estado de avance · Roadmap · Riesgos · Compromisos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4617720" y="3730752"/>
            <a:ext cx="914400" cy="54864"/>
          </a:xfrm>
          <a:prstGeom prst="rect">
            <a:avLst/>
          </a:prstGeom>
          <a:solidFill>
            <a:srgbClr val="1E6E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5577840" y="3730752"/>
            <a:ext cx="320040" cy="54864"/>
          </a:xfrm>
          <a:prstGeom prst="rect">
            <a:avLst/>
          </a:prstGeom>
          <a:solidFill>
            <a:srgbClr val="A6E523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4617720" y="4617720"/>
            <a:ext cx="6217800" cy="2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F5F7FA"/>
                </a:solidFill>
              </a:rPr>
              <a:t>02 de octubre</a:t>
            </a:r>
            <a:r>
              <a:rPr lang="en-US" sz="1300" b="1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 de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4617720" y="4965192"/>
            <a:ext cx="6217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Sprint 2: Core Backend y Seguridad · revisión semanal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658368" y="6181344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Plataforma transaccional de gestión de micromovilidad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3344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/>
          <p:nvPr/>
        </p:nvSpPr>
        <p:spPr>
          <a:xfrm>
            <a:off x="502920" y="32004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12B5E0"/>
                </a:solidFill>
                <a:latin typeface="Arial"/>
                <a:ea typeface="Arial"/>
                <a:cs typeface="Arial"/>
                <a:sym typeface="Arial"/>
              </a:rPr>
              <a:t>01 · ESTADO GENERAL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502920" y="640080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Avance general del proyecto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502920" y="1161288"/>
            <a:ext cx="10789800" cy="2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"/>
              <a:buFont typeface="Arial"/>
              <a:buNone/>
            </a:pPr>
            <a:r>
              <a:rPr lang="en-US" sz="1120" b="0" i="0" u="none" strike="noStrike" cap="non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Sprint 1 finalizado y Sprint 2 ya está en ejecución. El foco cambia desde fundamentos  hacía construcción del producto.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502920" y="1618488"/>
            <a:ext cx="594360" cy="41148"/>
          </a:xfrm>
          <a:prstGeom prst="rect">
            <a:avLst/>
          </a:prstGeom>
          <a:solidFill>
            <a:srgbClr val="1E6E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1124712" y="1618488"/>
            <a:ext cx="201168" cy="41148"/>
          </a:xfrm>
          <a:prstGeom prst="rect">
            <a:avLst/>
          </a:prstGeom>
          <a:solidFill>
            <a:srgbClr val="A6E523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502920" y="6510528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 b="0" i="0" u="none" strike="noStrike" cap="non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OmniDock · Seguimiento semanal · 25 sep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11018520" y="6492240"/>
            <a:ext cx="6858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502920" y="1874519"/>
            <a:ext cx="6995160" cy="4279392"/>
          </a:xfrm>
          <a:prstGeom prst="roundRect">
            <a:avLst>
              <a:gd name="adj" fmla="val 16667"/>
            </a:avLst>
          </a:prstGeom>
          <a:solidFill>
            <a:srgbClr val="313D4D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777240" y="214884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12B5E0"/>
                </a:solidFill>
                <a:latin typeface="Arial"/>
                <a:ea typeface="Arial"/>
                <a:cs typeface="Arial"/>
                <a:sym typeface="Arial"/>
              </a:rPr>
              <a:t>ESTADO ACTUAL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777240" y="251460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EN CURSO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5212080" y="2523744"/>
            <a:ext cx="1572768" cy="274320"/>
          </a:xfrm>
          <a:prstGeom prst="roundRect">
            <a:avLst>
              <a:gd name="adj" fmla="val 16667"/>
            </a:avLst>
          </a:prstGeom>
          <a:solidFill>
            <a:srgbClr val="A6E523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5212080" y="2560320"/>
            <a:ext cx="157276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273344"/>
                </a:solidFill>
                <a:latin typeface="Arial"/>
                <a:ea typeface="Arial"/>
                <a:cs typeface="Arial"/>
                <a:sym typeface="Arial"/>
              </a:rPr>
              <a:t>SPRINT 2 / 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777240" y="3182112"/>
            <a:ext cx="62178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Sprint 1 cerrado: ERS, Modelo Oracle y contratos API finalizados.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777240" y="3703320"/>
            <a:ext cx="6080700" cy="4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Sprint 2 está orientado a CRUD Java, seguridad JWT, estructuración de BD y diseño UI.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777240" y="4882896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12B5E0"/>
                </a:solidFill>
                <a:latin typeface="Arial"/>
                <a:ea typeface="Arial"/>
                <a:cs typeface="Arial"/>
                <a:sym typeface="Arial"/>
              </a:rPr>
              <a:t>Roadmap de sprints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777240" y="5285232"/>
            <a:ext cx="210312" cy="210312"/>
          </a:xfrm>
          <a:prstGeom prst="ellipse">
            <a:avLst/>
          </a:prstGeom>
          <a:solidFill>
            <a:srgbClr val="4FBF8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987552" y="5376672"/>
            <a:ext cx="1243584" cy="22860"/>
          </a:xfrm>
          <a:prstGeom prst="rect">
            <a:avLst/>
          </a:prstGeom>
          <a:solidFill>
            <a:srgbClr val="4FBF8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758952" y="5577840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9"/>
              <a:buFont typeface="Arial"/>
              <a:buNone/>
            </a:pPr>
            <a:r>
              <a:rPr lang="en-US" sz="840" b="1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S1 · Fundamentos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2286000" y="5285232"/>
            <a:ext cx="210312" cy="210312"/>
          </a:xfrm>
          <a:prstGeom prst="ellipse">
            <a:avLst/>
          </a:prstGeom>
          <a:solidFill>
            <a:srgbClr val="A6E523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2496312" y="5376672"/>
            <a:ext cx="1243584" cy="22860"/>
          </a:xfrm>
          <a:prstGeom prst="rect">
            <a:avLst/>
          </a:prstGeom>
          <a:solidFill>
            <a:srgbClr val="525F7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2267712" y="5577840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9"/>
              <a:buFont typeface="Arial"/>
              <a:buNone/>
            </a:pPr>
            <a:r>
              <a:rPr lang="en-US" sz="840" b="1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S2 · Backend + Seguridad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"/>
          <p:cNvSpPr/>
          <p:nvPr/>
        </p:nvSpPr>
        <p:spPr>
          <a:xfrm>
            <a:off x="3794759" y="5285232"/>
            <a:ext cx="210312" cy="210312"/>
          </a:xfrm>
          <a:prstGeom prst="ellipse">
            <a:avLst/>
          </a:prstGeom>
          <a:solidFill>
            <a:srgbClr val="525F7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"/>
          <p:cNvSpPr/>
          <p:nvPr/>
        </p:nvSpPr>
        <p:spPr>
          <a:xfrm>
            <a:off x="4005072" y="5376672"/>
            <a:ext cx="1243584" cy="22860"/>
          </a:xfrm>
          <a:prstGeom prst="rect">
            <a:avLst/>
          </a:prstGeom>
          <a:solidFill>
            <a:srgbClr val="525F7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3776472" y="5577840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9"/>
              <a:buFont typeface="Arial"/>
              <a:buNone/>
            </a:pPr>
            <a:r>
              <a:rPr lang="en-US" sz="840" b="0" i="0" u="none" strike="noStrike" cap="non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S3 · Integración + UI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"/>
          <p:cNvSpPr/>
          <p:nvPr/>
        </p:nvSpPr>
        <p:spPr>
          <a:xfrm>
            <a:off x="5303519" y="5285232"/>
            <a:ext cx="210312" cy="210312"/>
          </a:xfrm>
          <a:prstGeom prst="ellipse">
            <a:avLst/>
          </a:prstGeom>
          <a:solidFill>
            <a:srgbClr val="525F7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5285231" y="5577840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9"/>
              <a:buFont typeface="Arial"/>
              <a:buNone/>
            </a:pPr>
            <a:r>
              <a:rPr lang="en-US" sz="840" b="0" i="0" u="none" strike="noStrike" cap="non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S4 · Analítica + Cierre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"/>
          <p:cNvSpPr/>
          <p:nvPr/>
        </p:nvSpPr>
        <p:spPr>
          <a:xfrm>
            <a:off x="7726679" y="1874519"/>
            <a:ext cx="3950208" cy="4279392"/>
          </a:xfrm>
          <a:prstGeom prst="roundRect">
            <a:avLst>
              <a:gd name="adj" fmla="val 16667"/>
            </a:avLst>
          </a:prstGeom>
          <a:solidFill>
            <a:srgbClr val="1D283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"/>
          <p:cNvSpPr txBox="1"/>
          <p:nvPr/>
        </p:nvSpPr>
        <p:spPr>
          <a:xfrm>
            <a:off x="8028431" y="2148840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12B5E0"/>
                </a:solidFill>
                <a:latin typeface="Arial"/>
                <a:ea typeface="Arial"/>
                <a:cs typeface="Arial"/>
                <a:sym typeface="Arial"/>
              </a:rPr>
              <a:t>HITOS DE ESTA SEMANA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"/>
          <p:cNvSpPr/>
          <p:nvPr/>
        </p:nvSpPr>
        <p:spPr>
          <a:xfrm>
            <a:off x="8028431" y="2615184"/>
            <a:ext cx="329184" cy="329184"/>
          </a:xfrm>
          <a:prstGeom prst="ellipse">
            <a:avLst/>
          </a:prstGeom>
          <a:solidFill>
            <a:srgbClr val="4FBF8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8028431" y="2670048"/>
            <a:ext cx="329184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273344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"/>
          <p:cNvSpPr txBox="1"/>
          <p:nvPr/>
        </p:nvSpPr>
        <p:spPr>
          <a:xfrm>
            <a:off x="8503920" y="2606040"/>
            <a:ext cx="27888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1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ERS + modelo Oracle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"/>
          <p:cNvSpPr txBox="1"/>
          <p:nvPr/>
        </p:nvSpPr>
        <p:spPr>
          <a:xfrm>
            <a:off x="8503920" y="2871215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8"/>
              <a:buFont typeface="Arial"/>
              <a:buNone/>
            </a:pPr>
            <a:r>
              <a:rPr lang="en-US" sz="919" b="0" i="0" u="none" strike="noStrike" cap="non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Finalizados en Sprint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"/>
          <p:cNvSpPr/>
          <p:nvPr/>
        </p:nvSpPr>
        <p:spPr>
          <a:xfrm>
            <a:off x="8028431" y="3401568"/>
            <a:ext cx="329184" cy="329184"/>
          </a:xfrm>
          <a:prstGeom prst="ellipse">
            <a:avLst/>
          </a:prstGeom>
          <a:solidFill>
            <a:srgbClr val="4FBF8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"/>
          <p:cNvSpPr txBox="1"/>
          <p:nvPr/>
        </p:nvSpPr>
        <p:spPr>
          <a:xfrm>
            <a:off x="8028431" y="3456432"/>
            <a:ext cx="329100" cy="1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"/>
          <p:cNvSpPr txBox="1"/>
          <p:nvPr/>
        </p:nvSpPr>
        <p:spPr>
          <a:xfrm>
            <a:off x="8503920" y="3392424"/>
            <a:ext cx="2788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1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Contratos API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"/>
          <p:cNvSpPr txBox="1"/>
          <p:nvPr/>
        </p:nvSpPr>
        <p:spPr>
          <a:xfrm>
            <a:off x="8503920" y="3682650"/>
            <a:ext cx="2743200" cy="1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8"/>
              <a:buFont typeface="Arial"/>
              <a:buNone/>
            </a:pPr>
            <a:r>
              <a:rPr lang="en-US" sz="919" b="0" i="0" u="none" strike="noStrike" cap="non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Finalizado en Sprint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"/>
          <p:cNvSpPr/>
          <p:nvPr/>
        </p:nvSpPr>
        <p:spPr>
          <a:xfrm>
            <a:off x="8028431" y="4187952"/>
            <a:ext cx="329184" cy="329184"/>
          </a:xfrm>
          <a:prstGeom prst="ellipse">
            <a:avLst/>
          </a:prstGeom>
          <a:solidFill>
            <a:srgbClr val="12B5E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"/>
          <p:cNvSpPr txBox="1"/>
          <p:nvPr/>
        </p:nvSpPr>
        <p:spPr>
          <a:xfrm>
            <a:off x="8028431" y="4242816"/>
            <a:ext cx="329184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273344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"/>
          <p:cNvSpPr txBox="1"/>
          <p:nvPr/>
        </p:nvSpPr>
        <p:spPr>
          <a:xfrm>
            <a:off x="8503920" y="4178808"/>
            <a:ext cx="2788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1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Estructuración BD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"/>
          <p:cNvSpPr txBox="1"/>
          <p:nvPr/>
        </p:nvSpPr>
        <p:spPr>
          <a:xfrm>
            <a:off x="8503920" y="4443984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8"/>
              <a:buFont typeface="Arial"/>
              <a:buNone/>
            </a:pPr>
            <a:r>
              <a:rPr lang="en-US" sz="919" b="0" i="0" u="none" strike="noStrike" cap="non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En curso en Sprint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"/>
          <p:cNvSpPr/>
          <p:nvPr/>
        </p:nvSpPr>
        <p:spPr>
          <a:xfrm>
            <a:off x="8028431" y="4974336"/>
            <a:ext cx="329184" cy="329184"/>
          </a:xfrm>
          <a:prstGeom prst="ellipse">
            <a:avLst/>
          </a:prstGeom>
          <a:solidFill>
            <a:srgbClr val="12B5E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"/>
          <p:cNvSpPr txBox="1"/>
          <p:nvPr/>
        </p:nvSpPr>
        <p:spPr>
          <a:xfrm>
            <a:off x="8028431" y="5029200"/>
            <a:ext cx="329184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273344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"/>
          <p:cNvSpPr txBox="1"/>
          <p:nvPr/>
        </p:nvSpPr>
        <p:spPr>
          <a:xfrm>
            <a:off x="8503920" y="4965192"/>
            <a:ext cx="2788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1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Diseño UI Web +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"/>
          <p:cNvSpPr txBox="1"/>
          <p:nvPr/>
        </p:nvSpPr>
        <p:spPr>
          <a:xfrm>
            <a:off x="8503920" y="523036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8"/>
              <a:buFont typeface="Arial"/>
              <a:buNone/>
            </a:pPr>
            <a:r>
              <a:rPr lang="en-US" sz="919" b="0" i="0" u="none" strike="noStrike" cap="non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En curso en Sprint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3344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"/>
          <p:cNvSpPr txBox="1"/>
          <p:nvPr/>
        </p:nvSpPr>
        <p:spPr>
          <a:xfrm>
            <a:off x="502920" y="32004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12B5E0"/>
                </a:solidFill>
                <a:latin typeface="Arial"/>
                <a:ea typeface="Arial"/>
                <a:cs typeface="Arial"/>
                <a:sym typeface="Arial"/>
              </a:rPr>
              <a:t>02 · SPRINT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"/>
          <p:cNvSpPr txBox="1"/>
          <p:nvPr/>
        </p:nvSpPr>
        <p:spPr>
          <a:xfrm>
            <a:off x="502920" y="640080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Avance del sprint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"/>
          <p:cNvSpPr txBox="1"/>
          <p:nvPr/>
        </p:nvSpPr>
        <p:spPr>
          <a:xfrm>
            <a:off x="502920" y="1161288"/>
            <a:ext cx="10789800" cy="2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"/>
              <a:buFont typeface="Arial"/>
              <a:buNone/>
            </a:pPr>
            <a:r>
              <a:rPr lang="en-US" sz="1120" b="0" i="0" u="none" strike="noStrike" cap="non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Sprint 1 se considera finalizado. El seguimiento actual se concentra en las 4 actividades activas del Sprint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3"/>
          <p:cNvSpPr/>
          <p:nvPr/>
        </p:nvSpPr>
        <p:spPr>
          <a:xfrm>
            <a:off x="502920" y="1618488"/>
            <a:ext cx="594360" cy="41148"/>
          </a:xfrm>
          <a:prstGeom prst="rect">
            <a:avLst/>
          </a:prstGeom>
          <a:solidFill>
            <a:srgbClr val="1E6E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1124712" y="1618488"/>
            <a:ext cx="201168" cy="41148"/>
          </a:xfrm>
          <a:prstGeom prst="rect">
            <a:avLst/>
          </a:prstGeom>
          <a:solidFill>
            <a:srgbClr val="A6E523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 txBox="1"/>
          <p:nvPr/>
        </p:nvSpPr>
        <p:spPr>
          <a:xfrm>
            <a:off x="502920" y="6510528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 b="0" i="0" u="none" strike="noStrike" cap="non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OmniDock · Seguimiento semanal · 25 sep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3"/>
          <p:cNvSpPr txBox="1"/>
          <p:nvPr/>
        </p:nvSpPr>
        <p:spPr>
          <a:xfrm>
            <a:off x="11018520" y="6492240"/>
            <a:ext cx="6858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3"/>
          <p:cNvSpPr/>
          <p:nvPr/>
        </p:nvSpPr>
        <p:spPr>
          <a:xfrm>
            <a:off x="502920" y="1874519"/>
            <a:ext cx="2633472" cy="1005840"/>
          </a:xfrm>
          <a:prstGeom prst="roundRect">
            <a:avLst>
              <a:gd name="adj" fmla="val 16667"/>
            </a:avLst>
          </a:prstGeom>
          <a:solidFill>
            <a:srgbClr val="313D4D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3"/>
          <p:cNvSpPr/>
          <p:nvPr/>
        </p:nvSpPr>
        <p:spPr>
          <a:xfrm>
            <a:off x="502920" y="1874519"/>
            <a:ext cx="64008" cy="1005840"/>
          </a:xfrm>
          <a:prstGeom prst="roundRect">
            <a:avLst>
              <a:gd name="adj" fmla="val 16667"/>
            </a:avLst>
          </a:prstGeom>
          <a:solidFill>
            <a:srgbClr val="4FBF8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3"/>
          <p:cNvSpPr txBox="1"/>
          <p:nvPr/>
        </p:nvSpPr>
        <p:spPr>
          <a:xfrm>
            <a:off x="704088" y="2029968"/>
            <a:ext cx="2103000" cy="4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"/>
          <p:cNvSpPr txBox="1"/>
          <p:nvPr/>
        </p:nvSpPr>
        <p:spPr>
          <a:xfrm>
            <a:off x="704088" y="2459736"/>
            <a:ext cx="21031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Finalizadas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3"/>
          <p:cNvSpPr/>
          <p:nvPr/>
        </p:nvSpPr>
        <p:spPr>
          <a:xfrm>
            <a:off x="3246120" y="1874519"/>
            <a:ext cx="2633472" cy="1005840"/>
          </a:xfrm>
          <a:prstGeom prst="roundRect">
            <a:avLst>
              <a:gd name="adj" fmla="val 16667"/>
            </a:avLst>
          </a:prstGeom>
          <a:solidFill>
            <a:srgbClr val="313D4D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"/>
          <p:cNvSpPr/>
          <p:nvPr/>
        </p:nvSpPr>
        <p:spPr>
          <a:xfrm>
            <a:off x="3246120" y="1874519"/>
            <a:ext cx="64008" cy="1005840"/>
          </a:xfrm>
          <a:prstGeom prst="roundRect">
            <a:avLst>
              <a:gd name="adj" fmla="val 16667"/>
            </a:avLst>
          </a:prstGeom>
          <a:solidFill>
            <a:srgbClr val="1E6E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3"/>
          <p:cNvSpPr txBox="1"/>
          <p:nvPr/>
        </p:nvSpPr>
        <p:spPr>
          <a:xfrm>
            <a:off x="3447288" y="2029968"/>
            <a:ext cx="2103000" cy="4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"/>
          <p:cNvSpPr txBox="1"/>
          <p:nvPr/>
        </p:nvSpPr>
        <p:spPr>
          <a:xfrm>
            <a:off x="3447288" y="2459736"/>
            <a:ext cx="21031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Por hacer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3"/>
          <p:cNvSpPr/>
          <p:nvPr/>
        </p:nvSpPr>
        <p:spPr>
          <a:xfrm>
            <a:off x="5989320" y="1874519"/>
            <a:ext cx="2633472" cy="1005840"/>
          </a:xfrm>
          <a:prstGeom prst="roundRect">
            <a:avLst>
              <a:gd name="adj" fmla="val 16667"/>
            </a:avLst>
          </a:prstGeom>
          <a:solidFill>
            <a:srgbClr val="313D4D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5989320" y="1874519"/>
            <a:ext cx="64008" cy="1005840"/>
          </a:xfrm>
          <a:prstGeom prst="roundRect">
            <a:avLst>
              <a:gd name="adj" fmla="val 16667"/>
            </a:avLst>
          </a:prstGeom>
          <a:solidFill>
            <a:srgbClr val="12B5E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3"/>
          <p:cNvSpPr txBox="1"/>
          <p:nvPr/>
        </p:nvSpPr>
        <p:spPr>
          <a:xfrm>
            <a:off x="6190488" y="2029968"/>
            <a:ext cx="2103000" cy="4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"/>
          <p:cNvSpPr txBox="1"/>
          <p:nvPr/>
        </p:nvSpPr>
        <p:spPr>
          <a:xfrm>
            <a:off x="6190488" y="2459736"/>
            <a:ext cx="21031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En curso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"/>
          <p:cNvSpPr/>
          <p:nvPr/>
        </p:nvSpPr>
        <p:spPr>
          <a:xfrm>
            <a:off x="8732520" y="1874519"/>
            <a:ext cx="2633472" cy="1005840"/>
          </a:xfrm>
          <a:prstGeom prst="roundRect">
            <a:avLst>
              <a:gd name="adj" fmla="val 16667"/>
            </a:avLst>
          </a:prstGeom>
          <a:solidFill>
            <a:srgbClr val="313D4D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3"/>
          <p:cNvSpPr/>
          <p:nvPr/>
        </p:nvSpPr>
        <p:spPr>
          <a:xfrm>
            <a:off x="8732520" y="1874519"/>
            <a:ext cx="64008" cy="1005840"/>
          </a:xfrm>
          <a:prstGeom prst="roundRect">
            <a:avLst>
              <a:gd name="adj" fmla="val 16667"/>
            </a:avLst>
          </a:prstGeom>
          <a:solidFill>
            <a:srgbClr val="EA5454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3"/>
          <p:cNvSpPr txBox="1"/>
          <p:nvPr/>
        </p:nvSpPr>
        <p:spPr>
          <a:xfrm>
            <a:off x="8933688" y="2029968"/>
            <a:ext cx="2103000" cy="4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3"/>
          <p:cNvSpPr txBox="1"/>
          <p:nvPr/>
        </p:nvSpPr>
        <p:spPr>
          <a:xfrm>
            <a:off x="8933688" y="2459736"/>
            <a:ext cx="21031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Atrasada*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"/>
          <p:cNvSpPr txBox="1"/>
          <p:nvPr/>
        </p:nvSpPr>
        <p:spPr>
          <a:xfrm>
            <a:off x="749808" y="3310128"/>
            <a:ext cx="5029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12B5E0"/>
                </a:solidFill>
                <a:latin typeface="Arial"/>
                <a:ea typeface="Arial"/>
                <a:cs typeface="Arial"/>
                <a:sym typeface="Arial"/>
              </a:rPr>
              <a:t>TRABAJO VISIBLE EN TABLERO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"/>
          <p:cNvSpPr/>
          <p:nvPr/>
        </p:nvSpPr>
        <p:spPr>
          <a:xfrm>
            <a:off x="749808" y="3685032"/>
            <a:ext cx="5321808" cy="347472"/>
          </a:xfrm>
          <a:prstGeom prst="roundRect">
            <a:avLst>
              <a:gd name="adj" fmla="val 16667"/>
            </a:avLst>
          </a:prstGeom>
          <a:solidFill>
            <a:srgbClr val="2B3746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3"/>
          <p:cNvSpPr txBox="1"/>
          <p:nvPr/>
        </p:nvSpPr>
        <p:spPr>
          <a:xfrm>
            <a:off x="868680" y="3758184"/>
            <a:ext cx="804600" cy="1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r>
              <a:rPr lang="en-US" sz="819" b="1" i="0" u="none" strike="noStrike" cap="none">
                <a:solidFill>
                  <a:srgbClr val="12B5E0"/>
                </a:solidFill>
                <a:latin typeface="Arial"/>
                <a:ea typeface="Arial"/>
                <a:cs typeface="Arial"/>
                <a:sym typeface="Arial"/>
              </a:rPr>
              <a:t>KAN-12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3"/>
          <p:cNvSpPr txBox="1"/>
          <p:nvPr/>
        </p:nvSpPr>
        <p:spPr>
          <a:xfrm>
            <a:off x="1673352" y="3749040"/>
            <a:ext cx="2697600" cy="1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8"/>
              <a:buFont typeface="Arial"/>
              <a:buNone/>
            </a:pPr>
            <a:r>
              <a:rPr lang="en-US" sz="869" b="1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Programación de CRUD en Java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3"/>
          <p:cNvSpPr txBox="1"/>
          <p:nvPr/>
        </p:nvSpPr>
        <p:spPr>
          <a:xfrm>
            <a:off x="4443984" y="3749040"/>
            <a:ext cx="1481400" cy="1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lang="en-US" sz="780" b="1" i="0" u="none" strike="noStrike" cap="none">
                <a:solidFill>
                  <a:srgbClr val="12B5E0"/>
                </a:solidFill>
                <a:latin typeface="Arial"/>
                <a:ea typeface="Arial"/>
                <a:cs typeface="Arial"/>
                <a:sym typeface="Arial"/>
              </a:rPr>
              <a:t>		En curso</a:t>
            </a:r>
            <a:endParaRPr sz="780" b="1" i="0" u="none" strike="noStrike" cap="none">
              <a:solidFill>
                <a:srgbClr val="12B5E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3"/>
          <p:cNvSpPr/>
          <p:nvPr/>
        </p:nvSpPr>
        <p:spPr>
          <a:xfrm>
            <a:off x="749808" y="4078224"/>
            <a:ext cx="5321808" cy="347472"/>
          </a:xfrm>
          <a:prstGeom prst="roundRect">
            <a:avLst>
              <a:gd name="adj" fmla="val 16667"/>
            </a:avLst>
          </a:prstGeom>
          <a:solidFill>
            <a:srgbClr val="2B3746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3"/>
          <p:cNvSpPr txBox="1"/>
          <p:nvPr/>
        </p:nvSpPr>
        <p:spPr>
          <a:xfrm>
            <a:off x="868680" y="4151376"/>
            <a:ext cx="804600" cy="1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r>
              <a:rPr lang="en-US" sz="819" b="1" i="0" u="none" strike="noStrike" cap="none">
                <a:solidFill>
                  <a:srgbClr val="12B5E0"/>
                </a:solidFill>
                <a:latin typeface="Arial"/>
                <a:ea typeface="Arial"/>
                <a:cs typeface="Arial"/>
                <a:sym typeface="Arial"/>
              </a:rPr>
              <a:t>KAN-13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3"/>
          <p:cNvSpPr txBox="1"/>
          <p:nvPr/>
        </p:nvSpPr>
        <p:spPr>
          <a:xfrm>
            <a:off x="1673352" y="4142232"/>
            <a:ext cx="2697600" cy="1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8"/>
              <a:buFont typeface="Arial"/>
              <a:buNone/>
            </a:pPr>
            <a:r>
              <a:rPr lang="en-US" sz="869" b="1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Implementación de seguridad JWT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"/>
          <p:cNvSpPr txBox="1"/>
          <p:nvPr/>
        </p:nvSpPr>
        <p:spPr>
          <a:xfrm>
            <a:off x="4443984" y="4142232"/>
            <a:ext cx="1481400" cy="1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lang="en-US" sz="780" b="1" i="0" u="none" strike="noStrike" cap="none">
                <a:solidFill>
                  <a:srgbClr val="12B5E0"/>
                </a:solidFill>
                <a:latin typeface="Arial"/>
                <a:ea typeface="Arial"/>
                <a:cs typeface="Arial"/>
                <a:sym typeface="Arial"/>
              </a:rPr>
              <a:t>En curso</a:t>
            </a:r>
            <a:endParaRPr sz="1400" b="0" i="0" u="none" strike="noStrike" cap="none">
              <a:solidFill>
                <a:srgbClr val="12B5E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3"/>
          <p:cNvSpPr/>
          <p:nvPr/>
        </p:nvSpPr>
        <p:spPr>
          <a:xfrm>
            <a:off x="749808" y="4455299"/>
            <a:ext cx="5321700" cy="347400"/>
          </a:xfrm>
          <a:prstGeom prst="roundRect">
            <a:avLst>
              <a:gd name="adj" fmla="val 16667"/>
            </a:avLst>
          </a:prstGeom>
          <a:solidFill>
            <a:srgbClr val="2B3746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3"/>
          <p:cNvSpPr txBox="1"/>
          <p:nvPr/>
        </p:nvSpPr>
        <p:spPr>
          <a:xfrm>
            <a:off x="868680" y="4528451"/>
            <a:ext cx="804600" cy="1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r>
              <a:rPr lang="en-US" sz="819" b="1" i="0" u="none" strike="noStrike" cap="none">
                <a:solidFill>
                  <a:srgbClr val="12B5E0"/>
                </a:solidFill>
                <a:latin typeface="Arial"/>
                <a:ea typeface="Arial"/>
                <a:cs typeface="Arial"/>
                <a:sym typeface="Arial"/>
              </a:rPr>
              <a:t>KAN-14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"/>
          <p:cNvSpPr txBox="1"/>
          <p:nvPr/>
        </p:nvSpPr>
        <p:spPr>
          <a:xfrm>
            <a:off x="1673352" y="4519308"/>
            <a:ext cx="2697600" cy="1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8"/>
              <a:buFont typeface="Arial"/>
              <a:buNone/>
            </a:pPr>
            <a:r>
              <a:rPr lang="en-US" sz="869" b="1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Estructuración BD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3"/>
          <p:cNvSpPr txBox="1"/>
          <p:nvPr/>
        </p:nvSpPr>
        <p:spPr>
          <a:xfrm>
            <a:off x="4443984" y="4519308"/>
            <a:ext cx="1481400" cy="1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lang="en-US" sz="780" b="1" i="0" u="none" strike="noStrike" cap="none">
                <a:solidFill>
                  <a:srgbClr val="12B5E0"/>
                </a:solidFill>
                <a:latin typeface="Arial"/>
                <a:ea typeface="Arial"/>
                <a:cs typeface="Arial"/>
                <a:sym typeface="Arial"/>
              </a:rPr>
              <a:t>En curso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3"/>
          <p:cNvSpPr/>
          <p:nvPr/>
        </p:nvSpPr>
        <p:spPr>
          <a:xfrm>
            <a:off x="749808" y="4848491"/>
            <a:ext cx="5321700" cy="347400"/>
          </a:xfrm>
          <a:prstGeom prst="roundRect">
            <a:avLst>
              <a:gd name="adj" fmla="val 16667"/>
            </a:avLst>
          </a:prstGeom>
          <a:solidFill>
            <a:srgbClr val="2B3746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3"/>
          <p:cNvSpPr txBox="1"/>
          <p:nvPr/>
        </p:nvSpPr>
        <p:spPr>
          <a:xfrm>
            <a:off x="868680" y="4921643"/>
            <a:ext cx="804600" cy="1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r>
              <a:rPr lang="en-US" sz="819" b="1" i="0" u="none" strike="noStrike" cap="none">
                <a:solidFill>
                  <a:srgbClr val="12B5E0"/>
                </a:solidFill>
                <a:latin typeface="Arial"/>
                <a:ea typeface="Arial"/>
                <a:cs typeface="Arial"/>
                <a:sym typeface="Arial"/>
              </a:rPr>
              <a:t>KAN-34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3"/>
          <p:cNvSpPr txBox="1"/>
          <p:nvPr/>
        </p:nvSpPr>
        <p:spPr>
          <a:xfrm>
            <a:off x="1673352" y="4912499"/>
            <a:ext cx="2697600" cy="1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8"/>
              <a:buFont typeface="Arial"/>
              <a:buNone/>
            </a:pPr>
            <a:r>
              <a:rPr lang="en-US" sz="869" b="1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Diseño UI (Web y Móvil)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3"/>
          <p:cNvSpPr txBox="1"/>
          <p:nvPr/>
        </p:nvSpPr>
        <p:spPr>
          <a:xfrm>
            <a:off x="4443984" y="4912499"/>
            <a:ext cx="1481400" cy="1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lang="en-US" sz="780" b="1" i="0" u="none" strike="noStrike" cap="none">
                <a:solidFill>
                  <a:srgbClr val="12B5E0"/>
                </a:solidFill>
                <a:latin typeface="Arial"/>
                <a:ea typeface="Arial"/>
                <a:cs typeface="Arial"/>
                <a:sym typeface="Arial"/>
              </a:rPr>
              <a:t>En curso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3"/>
          <p:cNvSpPr/>
          <p:nvPr/>
        </p:nvSpPr>
        <p:spPr>
          <a:xfrm>
            <a:off x="6537960" y="3081528"/>
            <a:ext cx="5138928" cy="3035808"/>
          </a:xfrm>
          <a:prstGeom prst="roundRect">
            <a:avLst>
              <a:gd name="adj" fmla="val 16667"/>
            </a:avLst>
          </a:prstGeom>
          <a:solidFill>
            <a:srgbClr val="1D283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3"/>
          <p:cNvSpPr txBox="1"/>
          <p:nvPr/>
        </p:nvSpPr>
        <p:spPr>
          <a:xfrm>
            <a:off x="6812280" y="3310128"/>
            <a:ext cx="29260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12B5E0"/>
                </a:solidFill>
                <a:latin typeface="Arial"/>
                <a:ea typeface="Arial"/>
                <a:cs typeface="Arial"/>
                <a:sym typeface="Arial"/>
              </a:rPr>
              <a:t>EVIDENCIA JIRA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"/>
          <p:cNvSpPr txBox="1"/>
          <p:nvPr/>
        </p:nvSpPr>
        <p:spPr>
          <a:xfrm>
            <a:off x="6812280" y="5458968"/>
            <a:ext cx="45264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"/>
              <a:buFont typeface="Arial"/>
              <a:buNone/>
            </a:pPr>
            <a:r>
              <a:rPr lang="en-US" sz="860" b="0" i="0" u="none" strike="noStrike" cap="non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El tablero muestra las 4 tareas en curso del Sprint 2.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9" name="Google Shape;18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81125" y="3529187"/>
            <a:ext cx="4852600" cy="1900951"/>
          </a:xfrm>
          <a:prstGeom prst="rect">
            <a:avLst/>
          </a:prstGeom>
          <a:solidFill>
            <a:srgbClr val="1D283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3344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"/>
          <p:cNvSpPr txBox="1"/>
          <p:nvPr/>
        </p:nvSpPr>
        <p:spPr>
          <a:xfrm>
            <a:off x="502920" y="32004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12B5E0"/>
                </a:solidFill>
                <a:latin typeface="Arial"/>
                <a:ea typeface="Arial"/>
                <a:cs typeface="Arial"/>
                <a:sym typeface="Arial"/>
              </a:rPr>
              <a:t>03 · ROADMAP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4"/>
          <p:cNvSpPr txBox="1"/>
          <p:nvPr/>
        </p:nvSpPr>
        <p:spPr>
          <a:xfrm>
            <a:off x="502920" y="640080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Roadmap semanal del proyecto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"/>
          <p:cNvSpPr/>
          <p:nvPr/>
        </p:nvSpPr>
        <p:spPr>
          <a:xfrm>
            <a:off x="530345" y="1200813"/>
            <a:ext cx="594300" cy="41100"/>
          </a:xfrm>
          <a:prstGeom prst="rect">
            <a:avLst/>
          </a:prstGeom>
          <a:solidFill>
            <a:srgbClr val="1E6E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4"/>
          <p:cNvSpPr/>
          <p:nvPr/>
        </p:nvSpPr>
        <p:spPr>
          <a:xfrm>
            <a:off x="1124712" y="1200827"/>
            <a:ext cx="201300" cy="41100"/>
          </a:xfrm>
          <a:prstGeom prst="rect">
            <a:avLst/>
          </a:prstGeom>
          <a:solidFill>
            <a:srgbClr val="A6E523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4"/>
          <p:cNvSpPr txBox="1"/>
          <p:nvPr/>
        </p:nvSpPr>
        <p:spPr>
          <a:xfrm>
            <a:off x="502920" y="6510528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 b="0" i="0" u="none" strike="noStrike" cap="non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OmniDock · Seguimiento semanal · 25 sep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4"/>
          <p:cNvSpPr txBox="1"/>
          <p:nvPr/>
        </p:nvSpPr>
        <p:spPr>
          <a:xfrm>
            <a:off x="11018520" y="6492240"/>
            <a:ext cx="6858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0" name="Google Shape;200;p4"/>
          <p:cNvGraphicFramePr/>
          <p:nvPr/>
        </p:nvGraphicFramePr>
        <p:xfrm>
          <a:off x="1150695" y="1340215"/>
          <a:ext cx="9311025" cy="4806150"/>
        </p:xfrm>
        <a:graphic>
          <a:graphicData uri="http://schemas.openxmlformats.org/drawingml/2006/table">
            <a:tbl>
              <a:tblPr firstRow="1" bandRow="1">
                <a:noFill/>
                <a:tableStyleId>{AF6B519B-2569-4E28-8358-FEF741C9C880}</a:tableStyleId>
              </a:tblPr>
              <a:tblGrid>
                <a:gridCol w="1105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9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9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9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97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97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297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378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801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18"/>
                        <a:buFont typeface="Arial"/>
                        <a:buNone/>
                      </a:pPr>
                      <a:r>
                        <a:rPr lang="en-US" sz="819" b="1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Sprint / Entregable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18"/>
                        <a:buFont typeface="Arial"/>
                        <a:buNone/>
                      </a:pPr>
                      <a:r>
                        <a:rPr lang="en-US" sz="819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24-30 Ago</a:t>
                      </a:r>
                      <a:endParaRPr sz="819" b="1" u="none" strike="noStrike" cap="none">
                        <a:solidFill>
                          <a:srgbClr val="F5F7F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18"/>
                        <a:buFont typeface="Arial"/>
                        <a:buNone/>
                      </a:pPr>
                      <a:r>
                        <a:rPr lang="en-US" sz="819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31 Ago-6 Sep</a:t>
                      </a:r>
                      <a:endParaRPr sz="819" b="1" u="none" strike="noStrike" cap="none">
                        <a:solidFill>
                          <a:srgbClr val="F5F7F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18"/>
                        <a:buFont typeface="Arial"/>
                        <a:buNone/>
                      </a:pPr>
                      <a:r>
                        <a:rPr lang="en-US" sz="819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7-13 Sep</a:t>
                      </a:r>
                      <a:endParaRPr sz="819" b="1" u="none" strike="noStrike" cap="none">
                        <a:solidFill>
                          <a:srgbClr val="F5F7F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18"/>
                        <a:buFont typeface="Arial"/>
                        <a:buNone/>
                      </a:pPr>
                      <a:r>
                        <a:rPr lang="en-US" sz="819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14-20 Sep</a:t>
                      </a:r>
                      <a:endParaRPr sz="819" b="1" u="none" strike="noStrike" cap="none">
                        <a:solidFill>
                          <a:srgbClr val="F5F7F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18"/>
                        <a:buFont typeface="Arial"/>
                        <a:buNone/>
                      </a:pPr>
                      <a:r>
                        <a:rPr lang="en-US" sz="819" b="1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21–27 Sep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18"/>
                        <a:buFont typeface="Arial"/>
                        <a:buNone/>
                      </a:pPr>
                      <a:r>
                        <a:rPr lang="en-US" sz="819" b="1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28 Sep–4 Oct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18"/>
                        <a:buFont typeface="Arial"/>
                        <a:buNone/>
                      </a:pPr>
                      <a:r>
                        <a:rPr lang="en-US" sz="819" b="1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5–11 Oct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18"/>
                        <a:buFont typeface="Arial"/>
                        <a:buNone/>
                      </a:pPr>
                      <a:r>
                        <a:rPr lang="en-US" sz="819" b="1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12–18 Oct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18"/>
                        <a:buFont typeface="Arial"/>
                        <a:buNone/>
                      </a:pPr>
                      <a:r>
                        <a:rPr lang="en-US" sz="819" b="1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19–25 Oct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18"/>
                        <a:buFont typeface="Arial"/>
                        <a:buNone/>
                      </a:pPr>
                      <a:r>
                        <a:rPr lang="en-US" sz="819" b="1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26 Oct–1 Nov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28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1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18"/>
                        <a:buFont typeface="Arial"/>
                        <a:buNone/>
                      </a:pPr>
                      <a:r>
                        <a:rPr lang="en-US" sz="819" b="1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S0 · Kick-</a:t>
                      </a:r>
                      <a:r>
                        <a:rPr lang="en-US" sz="819" b="1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Off</a:t>
                      </a:r>
                      <a:endParaRPr sz="819" b="1" u="none" strike="noStrike" cap="none">
                        <a:solidFill>
                          <a:srgbClr val="F5F7F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BF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18"/>
                        <a:buFont typeface="Arial"/>
                        <a:buNone/>
                      </a:pPr>
                      <a:r>
                        <a:rPr lang="en-US" sz="819" b="1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Kick-Off</a:t>
                      </a:r>
                      <a:endParaRPr sz="819" b="1" u="none" strike="noStrike" cap="none">
                        <a:solidFill>
                          <a:srgbClr val="F5F7F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BF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18"/>
                        <a:buFont typeface="Arial"/>
                        <a:buNone/>
                      </a:pPr>
                      <a:r>
                        <a:rPr lang="en-US" sz="819" b="1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Alcances</a:t>
                      </a:r>
                      <a:endParaRPr sz="819" b="1" u="none" strike="noStrike" cap="none">
                        <a:solidFill>
                          <a:srgbClr val="F5F7F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BF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19"/>
                        <a:buFont typeface="Arial"/>
                        <a:buNone/>
                      </a:pPr>
                      <a:endParaRPr sz="819" u="none" strike="noStrike" cap="none">
                        <a:solidFill>
                          <a:srgbClr val="F5F7F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19"/>
                        <a:buFont typeface="Arial"/>
                        <a:buNone/>
                      </a:pPr>
                      <a:endParaRPr sz="819" u="none" strike="noStrike" cap="none">
                        <a:solidFill>
                          <a:srgbClr val="F5F7F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19"/>
                        <a:buFont typeface="Arial"/>
                        <a:buNone/>
                      </a:pPr>
                      <a:endParaRPr sz="819" b="1" u="none" strike="noStrike" cap="none">
                        <a:solidFill>
                          <a:srgbClr val="F5F7F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19"/>
                        <a:buFont typeface="Arial"/>
                        <a:buNone/>
                      </a:pPr>
                      <a:endParaRPr sz="819" b="1" u="none" strike="noStrike" cap="none">
                        <a:solidFill>
                          <a:srgbClr val="F5F7F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19"/>
                        <a:buFont typeface="Arial"/>
                        <a:buNone/>
                      </a:pPr>
                      <a:endParaRPr sz="819" b="1" u="none" strike="noStrike" cap="none">
                        <a:solidFill>
                          <a:srgbClr val="F5F7F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19"/>
                        <a:buFont typeface="Arial"/>
                        <a:buNone/>
                      </a:pPr>
                      <a:endParaRPr sz="819" b="1" u="none" strike="noStrike" cap="none">
                        <a:solidFill>
                          <a:srgbClr val="F5F7F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19"/>
                        <a:buFont typeface="Arial"/>
                        <a:buNone/>
                      </a:pPr>
                      <a:endParaRPr sz="819" b="1" u="none" strike="noStrike" cap="none">
                        <a:solidFill>
                          <a:srgbClr val="F5F7F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19"/>
                        <a:buFont typeface="Arial"/>
                        <a:buNone/>
                      </a:pPr>
                      <a:endParaRPr sz="819" b="1" u="none" strike="noStrike" cap="none">
                        <a:solidFill>
                          <a:srgbClr val="F5F7F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28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1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18"/>
                        <a:buFont typeface="Arial"/>
                        <a:buNone/>
                      </a:pPr>
                      <a:r>
                        <a:rPr lang="en-US" sz="819" b="1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S1 · Fundamentos</a:t>
                      </a:r>
                      <a:br>
                        <a:rPr lang="en-US" sz="819" b="1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-US" sz="819" b="1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Estado: Finalizado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BF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19"/>
                        <a:buFont typeface="Arial"/>
                        <a:buNone/>
                      </a:pPr>
                      <a:endParaRPr sz="819" b="1" u="none" strike="noStrike" cap="none">
                        <a:solidFill>
                          <a:srgbClr val="F5F7F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733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19"/>
                        <a:buFont typeface="Arial"/>
                        <a:buNone/>
                      </a:pPr>
                      <a:endParaRPr sz="819" b="1" u="none" strike="noStrike" cap="none">
                        <a:solidFill>
                          <a:srgbClr val="F5F7F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733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18"/>
                        <a:buFont typeface="Arial"/>
                        <a:buNone/>
                      </a:pPr>
                      <a:r>
                        <a:rPr lang="en-US" sz="819" b="1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Desarrollo ERS</a:t>
                      </a:r>
                      <a:endParaRPr sz="819" b="1" u="none" strike="noStrike" cap="none">
                        <a:solidFill>
                          <a:srgbClr val="F5F7F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BF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18"/>
                        <a:buFont typeface="Arial"/>
                        <a:buNone/>
                      </a:pPr>
                      <a:r>
                        <a:rPr lang="en-US" sz="819" b="1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BD Oracle + Contratos API</a:t>
                      </a:r>
                      <a:endParaRPr sz="819" b="1" u="none" strike="noStrike" cap="none">
                        <a:solidFill>
                          <a:srgbClr val="F5F7F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BF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70"/>
                        <a:buFont typeface="Arial"/>
                        <a:buNone/>
                      </a:pPr>
                      <a:r>
                        <a:rPr lang="en-US" sz="770" b="1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Cierre completo</a:t>
                      </a:r>
                      <a:endParaRPr sz="770" b="1" u="none" strike="noStrike" cap="none">
                        <a:solidFill>
                          <a:srgbClr val="F5F7F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70"/>
                        <a:buFont typeface="Arial"/>
                        <a:buNone/>
                      </a:pPr>
                      <a:r>
                        <a:rPr lang="en-US" sz="770" b="1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ERS + Modelo BD + API</a:t>
                      </a:r>
                      <a:endParaRPr sz="770" b="1" u="none" strike="noStrike" cap="none">
                        <a:solidFill>
                          <a:srgbClr val="F5F7F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BF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28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1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18"/>
                        <a:buFont typeface="Arial"/>
                        <a:buNone/>
                      </a:pPr>
                      <a:r>
                        <a:rPr lang="en-US" sz="819" b="1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S2 · Core Backend</a:t>
                      </a:r>
                      <a:br>
                        <a:rPr lang="en-US" sz="819" b="1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-US" sz="819" b="1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 Seguridad</a:t>
                      </a:r>
                      <a:endParaRPr sz="819" b="1" u="none" strike="noStrike" cap="none">
                        <a:solidFill>
                          <a:srgbClr val="F5F7F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18"/>
                        <a:buFont typeface="Arial"/>
                        <a:buNone/>
                      </a:pPr>
                      <a:r>
                        <a:rPr lang="en-US" sz="819" b="1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Estado: En Curso</a:t>
                      </a:r>
                      <a:endParaRPr sz="819" b="1" u="none" strike="noStrike" cap="none">
                        <a:solidFill>
                          <a:srgbClr val="F5F7F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B37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19"/>
                        <a:buFont typeface="Arial"/>
                        <a:buNone/>
                      </a:pPr>
                      <a:endParaRPr sz="819" b="1" u="none" strike="noStrike" cap="none">
                        <a:solidFill>
                          <a:srgbClr val="F5F7F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B37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19"/>
                        <a:buFont typeface="Arial"/>
                        <a:buNone/>
                      </a:pPr>
                      <a:endParaRPr sz="819" b="1" u="none" strike="noStrike" cap="none">
                        <a:solidFill>
                          <a:srgbClr val="F5F7F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B37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19"/>
                        <a:buFont typeface="Arial"/>
                        <a:buNone/>
                      </a:pPr>
                      <a:endParaRPr sz="819" b="1" u="none" strike="noStrike" cap="none">
                        <a:solidFill>
                          <a:srgbClr val="F5F7F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B37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19"/>
                        <a:buFont typeface="Arial"/>
                        <a:buNone/>
                      </a:pPr>
                      <a:endParaRPr sz="819" b="1" u="none" strike="noStrike" cap="none">
                        <a:solidFill>
                          <a:srgbClr val="F5F7F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B37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70"/>
                        <a:buFont typeface="Arial"/>
                        <a:buNone/>
                      </a:pPr>
                      <a:r>
                        <a:rPr lang="en-US" sz="770" b="1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Estructuración BD + Diseño UI</a:t>
                      </a:r>
                      <a:br>
                        <a:rPr lang="en-US" sz="770" b="1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-US" sz="770" b="1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(en curso)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6E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70"/>
                        <a:buFont typeface="Arial"/>
                        <a:buNone/>
                      </a:pPr>
                      <a:r>
                        <a:rPr lang="en-US" sz="770" b="1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CRUD Java + JWT</a:t>
                      </a:r>
                      <a:br>
                        <a:rPr lang="en-US" sz="770" b="1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-US" sz="770" b="1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 funcionalidades</a:t>
                      </a:r>
                      <a:br>
                        <a:rPr lang="en-US" sz="770" b="1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-US" sz="770" b="1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App/Web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6E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B374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B374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28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1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18"/>
                        <a:buFont typeface="Arial"/>
                        <a:buNone/>
                      </a:pPr>
                      <a:r>
                        <a:rPr lang="en-US" sz="819" b="1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S3 · Integración IoT</a:t>
                      </a:r>
                      <a:br>
                        <a:rPr lang="en-US" sz="819" b="1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-US" sz="819" b="1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 UI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B37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19"/>
                        <a:buFont typeface="Arial"/>
                        <a:buNone/>
                      </a:pPr>
                      <a:endParaRPr sz="819" b="1" u="none" strike="noStrike" cap="none">
                        <a:solidFill>
                          <a:srgbClr val="F5F7F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B37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19"/>
                        <a:buFont typeface="Arial"/>
                        <a:buNone/>
                      </a:pPr>
                      <a:endParaRPr sz="819" b="1" u="none" strike="noStrike" cap="none">
                        <a:solidFill>
                          <a:srgbClr val="F5F7F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B37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19"/>
                        <a:buFont typeface="Arial"/>
                        <a:buNone/>
                      </a:pPr>
                      <a:endParaRPr sz="819" b="1" u="none" strike="noStrike" cap="none">
                        <a:solidFill>
                          <a:srgbClr val="F5F7F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B37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19"/>
                        <a:buFont typeface="Arial"/>
                        <a:buNone/>
                      </a:pPr>
                      <a:endParaRPr sz="819" b="1" u="none" strike="noStrike" cap="none">
                        <a:solidFill>
                          <a:srgbClr val="F5F7F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B37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B374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70"/>
                        <a:buFont typeface="Arial"/>
                        <a:buNone/>
                      </a:pPr>
                      <a:r>
                        <a:rPr lang="en-US" sz="770" b="1" u="none" strike="noStrike" cap="none">
                          <a:solidFill>
                            <a:srgbClr val="2B374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Desarrollo UI</a:t>
                      </a:r>
                      <a:br>
                        <a:rPr lang="en-US" sz="770" b="1" u="none" strike="noStrike" cap="none">
                          <a:solidFill>
                            <a:srgbClr val="2B374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-US" sz="770" b="1" u="none" strike="noStrike" cap="none">
                          <a:solidFill>
                            <a:srgbClr val="2B374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Web + Móvil</a:t>
                      </a:r>
                      <a:endParaRPr sz="1400" u="none" strike="noStrike" cap="none">
                        <a:solidFill>
                          <a:srgbClr val="2B3746"/>
                        </a:solidFill>
                      </a:endParaRPr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2B374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B374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B374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B374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70"/>
                        <a:buFont typeface="Arial"/>
                        <a:buNone/>
                      </a:pPr>
                      <a:r>
                        <a:rPr lang="en-US" sz="770" b="1" u="none" strike="noStrike" cap="none">
                          <a:solidFill>
                            <a:srgbClr val="2B374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Integración</a:t>
                      </a:r>
                      <a:br>
                        <a:rPr lang="en-US" sz="770" b="1" u="none" strike="noStrike" cap="none">
                          <a:solidFill>
                            <a:srgbClr val="2B374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-US" sz="770" b="1" u="none" strike="noStrike" cap="none">
                          <a:solidFill>
                            <a:srgbClr val="2B374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Front + Back + BD</a:t>
                      </a:r>
                      <a:endParaRPr sz="1400" u="none" strike="noStrike" cap="none">
                        <a:solidFill>
                          <a:srgbClr val="2B3746"/>
                        </a:solidFill>
                      </a:endParaRPr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2B374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B374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B374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B374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2B374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28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1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18"/>
                        <a:buFont typeface="Arial"/>
                        <a:buNone/>
                      </a:pPr>
                      <a:r>
                        <a:rPr lang="en-US" sz="819" b="1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S4 · Analítica</a:t>
                      </a:r>
                      <a:br>
                        <a:rPr lang="en-US" sz="819" b="1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-US" sz="819" b="1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 Cierre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B37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19"/>
                        <a:buFont typeface="Arial"/>
                        <a:buNone/>
                      </a:pPr>
                      <a:endParaRPr sz="819" b="1" u="none" strike="noStrike" cap="none">
                        <a:solidFill>
                          <a:srgbClr val="F5F7F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B37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19"/>
                        <a:buFont typeface="Arial"/>
                        <a:buNone/>
                      </a:pPr>
                      <a:endParaRPr sz="819" b="1" u="none" strike="noStrike" cap="none">
                        <a:solidFill>
                          <a:srgbClr val="F5F7F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B37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19"/>
                        <a:buFont typeface="Arial"/>
                        <a:buNone/>
                      </a:pPr>
                      <a:endParaRPr sz="819" b="1" u="none" strike="noStrike" cap="none">
                        <a:solidFill>
                          <a:srgbClr val="F5F7F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B37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19"/>
                        <a:buFont typeface="Arial"/>
                        <a:buNone/>
                      </a:pPr>
                      <a:endParaRPr sz="819" b="1" u="none" strike="noStrike" cap="none">
                        <a:solidFill>
                          <a:srgbClr val="F5F7F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B37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B374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B374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70"/>
                        <a:buFont typeface="Arial"/>
                        <a:buNone/>
                      </a:pPr>
                      <a:r>
                        <a:rPr lang="en-US" sz="770" b="1" u="none" strike="noStrike" cap="none">
                          <a:solidFill>
                            <a:srgbClr val="27334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Pipeline Power BI</a:t>
                      </a:r>
                      <a:br>
                        <a:rPr lang="en-US" sz="770" b="1" u="none" strike="noStrike" cap="none">
                          <a:solidFill>
                            <a:srgbClr val="27334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-US" sz="770" b="1" u="none" strike="noStrike" cap="none">
                          <a:solidFill>
                            <a:srgbClr val="27334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 QA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70"/>
                        <a:buFont typeface="Arial"/>
                        <a:buNone/>
                      </a:pPr>
                      <a:r>
                        <a:rPr lang="en-US" sz="770" b="1" u="none" strike="noStrike" cap="none">
                          <a:solidFill>
                            <a:srgbClr val="27334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Pruebas integración</a:t>
                      </a:r>
                      <a:br>
                        <a:rPr lang="en-US" sz="770" b="1" u="none" strike="noStrike" cap="none">
                          <a:solidFill>
                            <a:srgbClr val="27334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-US" sz="770" b="1" u="none" strike="noStrike" cap="none">
                          <a:solidFill>
                            <a:srgbClr val="27334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 empaquetado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1" name="Google Shape;201;p4"/>
          <p:cNvSpPr txBox="1"/>
          <p:nvPr/>
        </p:nvSpPr>
        <p:spPr>
          <a:xfrm>
            <a:off x="1402168" y="6247004"/>
            <a:ext cx="10789800" cy="1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r>
              <a:rPr lang="en-US" sz="819" b="0" i="0" u="none" strike="noStrike" cap="non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Entregables parciales: S1 = ERS + modelo Oracle + contratos API · S2 = core backend seguro + base estructurada + diseño UI · S3 = integración funcional · S4 = analítica, QA y prototipo final.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3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338328"/>
            <a:ext cx="4297680" cy="219456"/>
          </a:xfrm>
          <a:prstGeom prst="rect">
            <a:avLst/>
          </a:prstGeom>
          <a:noFill/>
        </p:spPr>
        <p:txBody>
          <a:bodyPr wrap="square" lIns="32004" tIns="18288" rIns="32004" bIns="18288" anchor="t">
            <a:spAutoFit/>
          </a:bodyPr>
          <a:lstStyle/>
          <a:p>
            <a:pPr algn="l"/>
            <a:r>
              <a:rPr sz="1000" b="1" dirty="0">
                <a:solidFill>
                  <a:srgbClr val="12B5E0"/>
                </a:solidFill>
                <a:latin typeface="Aptos"/>
              </a:rPr>
              <a:t>04 · ARQUITECTURA 4+1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972800" cy="452432"/>
          </a:xfrm>
          <a:prstGeom prst="rect">
            <a:avLst/>
          </a:prstGeom>
          <a:noFill/>
        </p:spPr>
        <p:txBody>
          <a:bodyPr wrap="square" lIns="32004" tIns="18288" rIns="32004" bIns="18288" anchor="t">
            <a:spAutoFit/>
          </a:bodyPr>
          <a:lstStyle/>
          <a:p>
            <a:pPr algn="l"/>
            <a:r>
              <a:rPr sz="2700" b="1" dirty="0">
                <a:solidFill>
                  <a:srgbClr val="F5F7FA"/>
                </a:solidFill>
                <a:latin typeface="Aptos"/>
              </a:rPr>
              <a:t>Vista </a:t>
            </a:r>
            <a:r>
              <a:rPr sz="2700" b="1" dirty="0" err="1">
                <a:solidFill>
                  <a:srgbClr val="F5F7FA"/>
                </a:solidFill>
                <a:latin typeface="Aptos"/>
              </a:rPr>
              <a:t>lógica</a:t>
            </a:r>
            <a:endParaRPr sz="2700" b="1" dirty="0">
              <a:solidFill>
                <a:srgbClr val="F5F7FA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2648" y="1202436"/>
            <a:ext cx="10972800" cy="347472"/>
          </a:xfrm>
          <a:prstGeom prst="rect">
            <a:avLst/>
          </a:prstGeom>
          <a:noFill/>
        </p:spPr>
        <p:txBody>
          <a:bodyPr wrap="square" lIns="32004" tIns="18288" rIns="32004" bIns="18288" anchor="t">
            <a:spAutoFit/>
          </a:bodyPr>
          <a:lstStyle/>
          <a:p>
            <a:pPr algn="l"/>
            <a:r>
              <a:rPr sz="1120" b="0" dirty="0">
                <a:solidFill>
                  <a:srgbClr val="B7C2CF"/>
                </a:solidFill>
                <a:latin typeface="Aptos"/>
              </a:rPr>
              <a:t>Organización de </a:t>
            </a:r>
            <a:r>
              <a:rPr sz="1120" b="0" dirty="0" err="1">
                <a:solidFill>
                  <a:srgbClr val="B7C2CF"/>
                </a:solidFill>
                <a:latin typeface="Aptos"/>
              </a:rPr>
              <a:t>OmniDock</a:t>
            </a:r>
            <a:r>
              <a:rPr sz="1120" b="0" dirty="0">
                <a:solidFill>
                  <a:srgbClr val="B7C2CF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B7C2CF"/>
                </a:solidFill>
                <a:latin typeface="Aptos"/>
              </a:rPr>
              <a:t>por</a:t>
            </a:r>
            <a:r>
              <a:rPr sz="1120" b="0" dirty="0">
                <a:solidFill>
                  <a:srgbClr val="B7C2CF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B7C2CF"/>
                </a:solidFill>
                <a:latin typeface="Aptos"/>
              </a:rPr>
              <a:t>capas</a:t>
            </a:r>
            <a:r>
              <a:rPr sz="1120" b="0" dirty="0">
                <a:solidFill>
                  <a:srgbClr val="B7C2CF"/>
                </a:solidFill>
                <a:latin typeface="Aptos"/>
              </a:rPr>
              <a:t> y </a:t>
            </a:r>
            <a:r>
              <a:rPr sz="1120" b="0" dirty="0" err="1">
                <a:solidFill>
                  <a:srgbClr val="B7C2CF"/>
                </a:solidFill>
                <a:latin typeface="Aptos"/>
              </a:rPr>
              <a:t>componentes</a:t>
            </a:r>
            <a:r>
              <a:rPr sz="1120" b="0" dirty="0">
                <a:solidFill>
                  <a:srgbClr val="B7C2CF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B7C2CF"/>
                </a:solidFill>
                <a:latin typeface="Aptos"/>
              </a:rPr>
              <a:t>principales</a:t>
            </a:r>
            <a:r>
              <a:rPr sz="1120" b="0" dirty="0">
                <a:solidFill>
                  <a:srgbClr val="B7C2CF"/>
                </a:solidFill>
                <a:latin typeface="Aptos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627632"/>
            <a:ext cx="594360" cy="36576"/>
          </a:xfrm>
          <a:prstGeom prst="rect">
            <a:avLst/>
          </a:prstGeom>
          <a:solidFill>
            <a:srgbClr val="27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61288" y="1627632"/>
            <a:ext cx="201168" cy="36576"/>
          </a:xfrm>
          <a:prstGeom prst="rect">
            <a:avLst/>
          </a:prstGeom>
          <a:solidFill>
            <a:srgbClr val="A6E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80060" y="1664208"/>
            <a:ext cx="11018520" cy="4306824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diagrama compone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7850" y="1719744"/>
            <a:ext cx="3168256" cy="415984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8" y="6062472"/>
            <a:ext cx="10652760" cy="310896"/>
          </a:xfrm>
          <a:prstGeom prst="roundRect">
            <a:avLst/>
          </a:prstGeom>
          <a:solidFill>
            <a:srgbClr val="2B3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6135624"/>
            <a:ext cx="10332720" cy="164592"/>
          </a:xfrm>
          <a:prstGeom prst="rect">
            <a:avLst/>
          </a:prstGeom>
          <a:noFill/>
        </p:spPr>
        <p:txBody>
          <a:bodyPr wrap="square" lIns="32004" tIns="18288" rIns="32004" bIns="18288" anchor="t">
            <a:spAutoFit/>
          </a:bodyPr>
          <a:lstStyle/>
          <a:p>
            <a:pPr algn="ctr"/>
            <a:r>
              <a:rPr sz="850" b="1">
                <a:solidFill>
                  <a:srgbClr val="B7C2CF"/>
                </a:solidFill>
                <a:latin typeface="Aptos"/>
              </a:rPr>
              <a:t>Presentación → API REST → servicios de autenticación, reservas y hardware → Oracle Database.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6400800" cy="164592"/>
          </a:xfrm>
          <a:prstGeom prst="rect">
            <a:avLst/>
          </a:prstGeom>
          <a:noFill/>
        </p:spPr>
        <p:txBody>
          <a:bodyPr wrap="square" lIns="32004" tIns="18288" rIns="32004" bIns="18288" anchor="t">
            <a:spAutoFit/>
          </a:bodyPr>
          <a:lstStyle/>
          <a:p>
            <a:pPr algn="l"/>
            <a:r>
              <a:rPr sz="850" b="0">
                <a:solidFill>
                  <a:srgbClr val="B7C2CF"/>
                </a:solidFill>
                <a:latin typeface="Aptos"/>
              </a:rPr>
              <a:t>OmniDock · Seguimiento semanal · 02 oct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92240"/>
            <a:ext cx="411480" cy="182880"/>
          </a:xfrm>
          <a:prstGeom prst="rect">
            <a:avLst/>
          </a:prstGeom>
          <a:noFill/>
        </p:spPr>
        <p:txBody>
          <a:bodyPr wrap="square" lIns="32004" tIns="18288" rIns="32004" bIns="18288" anchor="t">
            <a:spAutoFit/>
          </a:bodyPr>
          <a:lstStyle/>
          <a:p>
            <a:pPr algn="r"/>
            <a:r>
              <a:rPr sz="900" b="1">
                <a:solidFill>
                  <a:srgbClr val="B7C2CF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3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30352" y="310896"/>
            <a:ext cx="4297680" cy="219456"/>
          </a:xfrm>
          <a:prstGeom prst="rect">
            <a:avLst/>
          </a:prstGeom>
          <a:noFill/>
        </p:spPr>
        <p:txBody>
          <a:bodyPr wrap="square" lIns="32004" tIns="18288" rIns="32004" bIns="18288" anchor="t">
            <a:spAutoFit/>
          </a:bodyPr>
          <a:lstStyle/>
          <a:p>
            <a:pPr algn="l"/>
            <a:r>
              <a:rPr sz="1000" b="1">
                <a:solidFill>
                  <a:srgbClr val="12B5E0"/>
                </a:solidFill>
                <a:latin typeface="Aptos"/>
              </a:rPr>
              <a:t>04 · ARQUITECTURA 4+1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686"/>
            <a:ext cx="10972800" cy="502920"/>
          </a:xfrm>
          <a:prstGeom prst="rect">
            <a:avLst/>
          </a:prstGeom>
          <a:noFill/>
        </p:spPr>
        <p:txBody>
          <a:bodyPr wrap="square" lIns="32004" tIns="18288" rIns="32004" bIns="18288" anchor="t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Aptos"/>
              </a:rPr>
              <a:t>Vista de procesos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8474"/>
            <a:ext cx="10972800" cy="347472"/>
          </a:xfrm>
          <a:prstGeom prst="rect">
            <a:avLst/>
          </a:prstGeom>
          <a:noFill/>
        </p:spPr>
        <p:txBody>
          <a:bodyPr wrap="square" lIns="32004" tIns="18288" rIns="32004" bIns="18288" anchor="t">
            <a:spAutoFit/>
          </a:bodyPr>
          <a:lstStyle/>
          <a:p>
            <a:pPr algn="l"/>
            <a:r>
              <a:rPr sz="1120" b="0" dirty="0" err="1">
                <a:solidFill>
                  <a:srgbClr val="B7C2CF"/>
                </a:solidFill>
                <a:latin typeface="Aptos"/>
              </a:rPr>
              <a:t>Secuencia</a:t>
            </a:r>
            <a:r>
              <a:rPr sz="1120" b="0" dirty="0">
                <a:solidFill>
                  <a:srgbClr val="B7C2CF"/>
                </a:solidFill>
                <a:latin typeface="Aptos"/>
              </a:rPr>
              <a:t> principal de consulta, </a:t>
            </a:r>
            <a:r>
              <a:rPr sz="1120" b="0" dirty="0" err="1">
                <a:solidFill>
                  <a:srgbClr val="B7C2CF"/>
                </a:solidFill>
                <a:latin typeface="Aptos"/>
              </a:rPr>
              <a:t>reserva</a:t>
            </a:r>
            <a:r>
              <a:rPr sz="1120" b="0" dirty="0">
                <a:solidFill>
                  <a:srgbClr val="B7C2CF"/>
                </a:solidFill>
                <a:latin typeface="Aptos"/>
              </a:rPr>
              <a:t> y check-in </a:t>
            </a:r>
            <a:r>
              <a:rPr sz="1120" b="0" dirty="0" err="1">
                <a:solidFill>
                  <a:srgbClr val="B7C2CF"/>
                </a:solidFill>
                <a:latin typeface="Aptos"/>
              </a:rPr>
              <a:t>mediante</a:t>
            </a:r>
            <a:r>
              <a:rPr sz="1120" b="0" dirty="0">
                <a:solidFill>
                  <a:srgbClr val="B7C2CF"/>
                </a:solidFill>
                <a:latin typeface="Aptos"/>
              </a:rPr>
              <a:t> QR/NFC.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627632"/>
            <a:ext cx="594360" cy="36576"/>
          </a:xfrm>
          <a:prstGeom prst="rect">
            <a:avLst/>
          </a:prstGeom>
          <a:solidFill>
            <a:srgbClr val="27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61288" y="1627632"/>
            <a:ext cx="201168" cy="36576"/>
          </a:xfrm>
          <a:prstGeom prst="rect">
            <a:avLst/>
          </a:prstGeom>
          <a:solidFill>
            <a:srgbClr val="A6E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901952"/>
            <a:ext cx="11018520" cy="40690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Diagrama Secue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266" y="1993392"/>
            <a:ext cx="7329843" cy="38862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8" y="6062472"/>
            <a:ext cx="10652760" cy="310896"/>
          </a:xfrm>
          <a:prstGeom prst="roundRect">
            <a:avLst/>
          </a:prstGeom>
          <a:solidFill>
            <a:srgbClr val="2B3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6135624"/>
            <a:ext cx="10332720" cy="164592"/>
          </a:xfrm>
          <a:prstGeom prst="rect">
            <a:avLst/>
          </a:prstGeom>
          <a:noFill/>
        </p:spPr>
        <p:txBody>
          <a:bodyPr wrap="square" lIns="32004" tIns="18288" rIns="32004" bIns="18288" anchor="t">
            <a:spAutoFit/>
          </a:bodyPr>
          <a:lstStyle/>
          <a:p>
            <a:pPr algn="ctr"/>
            <a:r>
              <a:rPr sz="850" b="1">
                <a:solidFill>
                  <a:srgbClr val="B7C2CF"/>
                </a:solidFill>
                <a:latin typeface="Aptos"/>
              </a:rPr>
              <a:t>El flujo conecta App Móvil, Backend Java, Oracle SQL y el simulador de hardware IoT.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6400800" cy="164592"/>
          </a:xfrm>
          <a:prstGeom prst="rect">
            <a:avLst/>
          </a:prstGeom>
          <a:noFill/>
        </p:spPr>
        <p:txBody>
          <a:bodyPr wrap="square" lIns="32004" tIns="18288" rIns="32004" bIns="18288" anchor="t">
            <a:spAutoFit/>
          </a:bodyPr>
          <a:lstStyle/>
          <a:p>
            <a:pPr algn="l"/>
            <a:r>
              <a:rPr sz="850" b="0">
                <a:solidFill>
                  <a:srgbClr val="B7C2CF"/>
                </a:solidFill>
                <a:latin typeface="Aptos"/>
              </a:rPr>
              <a:t>OmniDock · Seguimiento semanal · 02 oct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92240"/>
            <a:ext cx="411480" cy="182880"/>
          </a:xfrm>
          <a:prstGeom prst="rect">
            <a:avLst/>
          </a:prstGeom>
          <a:noFill/>
        </p:spPr>
        <p:txBody>
          <a:bodyPr wrap="square" lIns="32004" tIns="18288" rIns="32004" bIns="18288" anchor="t">
            <a:spAutoFit/>
          </a:bodyPr>
          <a:lstStyle/>
          <a:p>
            <a:pPr algn="r"/>
            <a:r>
              <a:rPr sz="900" b="1">
                <a:solidFill>
                  <a:srgbClr val="B7C2CF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3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30352" y="310896"/>
            <a:ext cx="4297680" cy="219456"/>
          </a:xfrm>
          <a:prstGeom prst="rect">
            <a:avLst/>
          </a:prstGeom>
          <a:noFill/>
        </p:spPr>
        <p:txBody>
          <a:bodyPr wrap="square" lIns="32004" tIns="18288" rIns="32004" bIns="18288" anchor="t">
            <a:spAutoFit/>
          </a:bodyPr>
          <a:lstStyle/>
          <a:p>
            <a:pPr algn="l"/>
            <a:r>
              <a:rPr sz="1000" b="1">
                <a:solidFill>
                  <a:srgbClr val="12B5E0"/>
                </a:solidFill>
                <a:latin typeface="Aptos"/>
              </a:rPr>
              <a:t>04 · ARQUITECTURA 4+1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81228"/>
            <a:ext cx="10972800" cy="452432"/>
          </a:xfrm>
          <a:prstGeom prst="rect">
            <a:avLst/>
          </a:prstGeom>
          <a:noFill/>
        </p:spPr>
        <p:txBody>
          <a:bodyPr wrap="square" lIns="32004" tIns="18288" rIns="32004" bIns="18288" anchor="t">
            <a:spAutoFit/>
          </a:bodyPr>
          <a:lstStyle/>
          <a:p>
            <a:pPr algn="l"/>
            <a:r>
              <a:rPr sz="2700" b="1" dirty="0">
                <a:solidFill>
                  <a:srgbClr val="F5F7FA"/>
                </a:solidFill>
                <a:latin typeface="Aptos"/>
              </a:rPr>
              <a:t>Vista </a:t>
            </a:r>
            <a:r>
              <a:rPr sz="2700" b="1" dirty="0" err="1">
                <a:solidFill>
                  <a:srgbClr val="F5F7FA"/>
                </a:solidFill>
                <a:latin typeface="Aptos"/>
              </a:rPr>
              <a:t>física</a:t>
            </a:r>
            <a:endParaRPr sz="2700" b="1" dirty="0">
              <a:solidFill>
                <a:srgbClr val="F5F7FA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170432"/>
            <a:ext cx="10972800" cy="347472"/>
          </a:xfrm>
          <a:prstGeom prst="rect">
            <a:avLst/>
          </a:prstGeom>
          <a:noFill/>
        </p:spPr>
        <p:txBody>
          <a:bodyPr wrap="square" lIns="32004" tIns="18288" rIns="32004" bIns="18288" anchor="t">
            <a:spAutoFit/>
          </a:bodyPr>
          <a:lstStyle/>
          <a:p>
            <a:pPr algn="l"/>
            <a:r>
              <a:rPr sz="1120" b="0">
                <a:solidFill>
                  <a:srgbClr val="B7C2CF"/>
                </a:solidFill>
                <a:latin typeface="Aptos"/>
              </a:rPr>
              <a:t>Distribución de clientes, servicios, analítica, simulador IoT y capa transaccional.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627632"/>
            <a:ext cx="594360" cy="36576"/>
          </a:xfrm>
          <a:prstGeom prst="rect">
            <a:avLst/>
          </a:prstGeom>
          <a:solidFill>
            <a:srgbClr val="27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61288" y="1627632"/>
            <a:ext cx="201168" cy="36576"/>
          </a:xfrm>
          <a:prstGeom prst="rect">
            <a:avLst/>
          </a:prstGeom>
          <a:solidFill>
            <a:srgbClr val="A6E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901952"/>
            <a:ext cx="11018520" cy="40690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Diagrama desplieg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1724" y="1993392"/>
            <a:ext cx="2128926" cy="38862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8" y="6062472"/>
            <a:ext cx="10652760" cy="310896"/>
          </a:xfrm>
          <a:prstGeom prst="roundRect">
            <a:avLst/>
          </a:prstGeom>
          <a:solidFill>
            <a:srgbClr val="2B3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6135624"/>
            <a:ext cx="10332720" cy="164592"/>
          </a:xfrm>
          <a:prstGeom prst="rect">
            <a:avLst/>
          </a:prstGeom>
          <a:noFill/>
        </p:spPr>
        <p:txBody>
          <a:bodyPr wrap="square" lIns="32004" tIns="18288" rIns="32004" bIns="18288" anchor="t">
            <a:spAutoFit/>
          </a:bodyPr>
          <a:lstStyle/>
          <a:p>
            <a:pPr algn="ctr"/>
            <a:r>
              <a:rPr sz="850" b="1">
                <a:solidFill>
                  <a:srgbClr val="B7C2CF"/>
                </a:solidFill>
                <a:latin typeface="Aptos"/>
              </a:rPr>
              <a:t>Los clientes consumen servicios HTTPS/JSON; el backend se conecta a Oracle y al servicio Mock IoT.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6400800" cy="164592"/>
          </a:xfrm>
          <a:prstGeom prst="rect">
            <a:avLst/>
          </a:prstGeom>
          <a:noFill/>
        </p:spPr>
        <p:txBody>
          <a:bodyPr wrap="square" lIns="32004" tIns="18288" rIns="32004" bIns="18288" anchor="t">
            <a:spAutoFit/>
          </a:bodyPr>
          <a:lstStyle/>
          <a:p>
            <a:pPr algn="l"/>
            <a:r>
              <a:rPr sz="850" b="0">
                <a:solidFill>
                  <a:srgbClr val="B7C2CF"/>
                </a:solidFill>
                <a:latin typeface="Aptos"/>
              </a:rPr>
              <a:t>OmniDock · Seguimiento semanal · 02 oct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92240"/>
            <a:ext cx="411480" cy="182880"/>
          </a:xfrm>
          <a:prstGeom prst="rect">
            <a:avLst/>
          </a:prstGeom>
          <a:noFill/>
        </p:spPr>
        <p:txBody>
          <a:bodyPr wrap="square" lIns="32004" tIns="18288" rIns="32004" bIns="18288" anchor="t">
            <a:spAutoFit/>
          </a:bodyPr>
          <a:lstStyle/>
          <a:p>
            <a:pPr algn="r"/>
            <a:r>
              <a:rPr sz="900" b="1">
                <a:solidFill>
                  <a:srgbClr val="B7C2CF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3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30352" y="310896"/>
            <a:ext cx="4297680" cy="219456"/>
          </a:xfrm>
          <a:prstGeom prst="rect">
            <a:avLst/>
          </a:prstGeom>
          <a:noFill/>
        </p:spPr>
        <p:txBody>
          <a:bodyPr wrap="square" lIns="32004" tIns="18288" rIns="32004" bIns="18288" anchor="t">
            <a:spAutoFit/>
          </a:bodyPr>
          <a:lstStyle/>
          <a:p>
            <a:pPr algn="l"/>
            <a:r>
              <a:rPr sz="1000" b="1">
                <a:solidFill>
                  <a:srgbClr val="12B5E0"/>
                </a:solidFill>
                <a:latin typeface="Aptos"/>
              </a:rPr>
              <a:t>04 · ARQUITECTURA 4+1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0080"/>
            <a:ext cx="10972800" cy="502920"/>
          </a:xfrm>
          <a:prstGeom prst="rect">
            <a:avLst/>
          </a:prstGeom>
          <a:noFill/>
        </p:spPr>
        <p:txBody>
          <a:bodyPr wrap="square" lIns="32004" tIns="18288" rIns="32004" bIns="18288" anchor="t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Aptos"/>
              </a:rPr>
              <a:t>+1 · Escenarios y casos de uso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70432"/>
            <a:ext cx="10972800" cy="347472"/>
          </a:xfrm>
          <a:prstGeom prst="rect">
            <a:avLst/>
          </a:prstGeom>
          <a:noFill/>
        </p:spPr>
        <p:txBody>
          <a:bodyPr wrap="square" lIns="32004" tIns="18288" rIns="32004" bIns="18288" anchor="t">
            <a:spAutoFit/>
          </a:bodyPr>
          <a:lstStyle/>
          <a:p>
            <a:pPr algn="l"/>
            <a:r>
              <a:rPr sz="1120" b="0">
                <a:solidFill>
                  <a:srgbClr val="B7C2CF"/>
                </a:solidFill>
                <a:latin typeface="Aptos"/>
              </a:rPr>
              <a:t>Casos de uso que validan la arquitectura desde la perspectiva de los actores del sistema.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627632"/>
            <a:ext cx="594360" cy="36576"/>
          </a:xfrm>
          <a:prstGeom prst="rect">
            <a:avLst/>
          </a:prstGeom>
          <a:solidFill>
            <a:srgbClr val="27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61288" y="1627632"/>
            <a:ext cx="201168" cy="36576"/>
          </a:xfrm>
          <a:prstGeom prst="rect">
            <a:avLst/>
          </a:prstGeom>
          <a:solidFill>
            <a:srgbClr val="A6E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49808" y="6062472"/>
            <a:ext cx="10652760" cy="310896"/>
          </a:xfrm>
          <a:prstGeom prst="roundRect">
            <a:avLst/>
          </a:prstGeom>
          <a:solidFill>
            <a:srgbClr val="2B3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6135624"/>
            <a:ext cx="10332720" cy="164592"/>
          </a:xfrm>
          <a:prstGeom prst="rect">
            <a:avLst/>
          </a:prstGeom>
          <a:noFill/>
        </p:spPr>
        <p:txBody>
          <a:bodyPr wrap="square" lIns="32004" tIns="18288" rIns="32004" bIns="18288" anchor="t">
            <a:spAutoFit/>
          </a:bodyPr>
          <a:lstStyle/>
          <a:p>
            <a:pPr algn="ctr"/>
            <a:r>
              <a:rPr sz="850" b="1">
                <a:solidFill>
                  <a:srgbClr val="B7C2CF"/>
                </a:solidFill>
                <a:latin typeface="Aptos"/>
              </a:rPr>
              <a:t>Se distinguen Autogestión Móvil, Gestión Web Admin y funciones Core/IoT/Auditoría.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6400800" cy="164592"/>
          </a:xfrm>
          <a:prstGeom prst="rect">
            <a:avLst/>
          </a:prstGeom>
          <a:noFill/>
        </p:spPr>
        <p:txBody>
          <a:bodyPr wrap="square" lIns="32004" tIns="18288" rIns="32004" bIns="18288" anchor="t">
            <a:spAutoFit/>
          </a:bodyPr>
          <a:lstStyle/>
          <a:p>
            <a:pPr algn="l"/>
            <a:r>
              <a:rPr sz="850" b="0">
                <a:solidFill>
                  <a:srgbClr val="B7C2CF"/>
                </a:solidFill>
                <a:latin typeface="Aptos"/>
              </a:rPr>
              <a:t>OmniDock · Seguimiento semanal · 02 oct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92240"/>
            <a:ext cx="411480" cy="182880"/>
          </a:xfrm>
          <a:prstGeom prst="rect">
            <a:avLst/>
          </a:prstGeom>
          <a:noFill/>
        </p:spPr>
        <p:txBody>
          <a:bodyPr wrap="square" lIns="32004" tIns="18288" rIns="32004" bIns="18288" anchor="t">
            <a:spAutoFit/>
          </a:bodyPr>
          <a:lstStyle/>
          <a:p>
            <a:pPr algn="r"/>
            <a:r>
              <a:rPr sz="900" b="1">
                <a:solidFill>
                  <a:srgbClr val="B7C2CF"/>
                </a:solidFill>
                <a:latin typeface="Aptos"/>
              </a:rPr>
              <a:t>08</a:t>
            </a:r>
          </a:p>
        </p:txBody>
      </p:sp>
      <p:sp>
        <p:nvSpPr>
          <p:cNvPr id="15" name="Rounded Rectangle 7">
            <a:extLst>
              <a:ext uri="{FF2B5EF4-FFF2-40B4-BE49-F238E27FC236}">
                <a16:creationId xmlns:a16="http://schemas.microsoft.com/office/drawing/2014/main" id="{28A3CCD3-BB03-C8E1-A666-C017EA2C9864}"/>
              </a:ext>
            </a:extLst>
          </p:cNvPr>
          <p:cNvSpPr/>
          <p:nvPr/>
        </p:nvSpPr>
        <p:spPr>
          <a:xfrm>
            <a:off x="566928" y="1901952"/>
            <a:ext cx="11018520" cy="40690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Diagrama de Casos de U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3952" y="1901952"/>
            <a:ext cx="1387347" cy="40175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3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30352" y="310896"/>
            <a:ext cx="4297680" cy="219456"/>
          </a:xfrm>
          <a:prstGeom prst="rect">
            <a:avLst/>
          </a:prstGeom>
          <a:noFill/>
        </p:spPr>
        <p:txBody>
          <a:bodyPr wrap="square" lIns="32004" tIns="18288" rIns="32004" bIns="18288" anchor="t">
            <a:spAutoFit/>
          </a:bodyPr>
          <a:lstStyle/>
          <a:p>
            <a:pPr algn="l"/>
            <a:r>
              <a:rPr sz="1000" b="1">
                <a:solidFill>
                  <a:srgbClr val="12B5E0"/>
                </a:solidFill>
                <a:latin typeface="Aptos"/>
              </a:rPr>
              <a:t>05 · MODELO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0080"/>
            <a:ext cx="10972800" cy="502920"/>
          </a:xfrm>
          <a:prstGeom prst="rect">
            <a:avLst/>
          </a:prstGeom>
          <a:noFill/>
        </p:spPr>
        <p:txBody>
          <a:bodyPr wrap="square" lIns="32004" tIns="18288" rIns="32004" bIns="18288" anchor="t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Aptos"/>
              </a:rPr>
              <a:t>Modelo de datos transaccional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70432"/>
            <a:ext cx="10972800" cy="347472"/>
          </a:xfrm>
          <a:prstGeom prst="rect">
            <a:avLst/>
          </a:prstGeom>
          <a:noFill/>
        </p:spPr>
        <p:txBody>
          <a:bodyPr wrap="square" lIns="32004" tIns="18288" rIns="32004" bIns="18288" anchor="t">
            <a:spAutoFit/>
          </a:bodyPr>
          <a:lstStyle/>
          <a:p>
            <a:pPr algn="l"/>
            <a:r>
              <a:rPr sz="1120" b="0">
                <a:solidFill>
                  <a:srgbClr val="B7C2CF"/>
                </a:solidFill>
                <a:latin typeface="Aptos"/>
              </a:rPr>
              <a:t>Modelo entidad-relación de OmniDock implementado sobre Oracle SQL.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627632"/>
            <a:ext cx="594360" cy="36576"/>
          </a:xfrm>
          <a:prstGeom prst="rect">
            <a:avLst/>
          </a:prstGeom>
          <a:solidFill>
            <a:srgbClr val="27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61288" y="1627632"/>
            <a:ext cx="201168" cy="36576"/>
          </a:xfrm>
          <a:prstGeom prst="rect">
            <a:avLst/>
          </a:prstGeom>
          <a:solidFill>
            <a:srgbClr val="A6E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11480" y="1874519"/>
            <a:ext cx="11384280" cy="418795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MER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317" y="1947672"/>
            <a:ext cx="7686605" cy="404164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8" y="6108192"/>
            <a:ext cx="10652760" cy="265176"/>
          </a:xfrm>
          <a:prstGeom prst="roundRect">
            <a:avLst/>
          </a:prstGeom>
          <a:solidFill>
            <a:srgbClr val="2B3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6163056"/>
            <a:ext cx="10332720" cy="146304"/>
          </a:xfrm>
          <a:prstGeom prst="rect">
            <a:avLst/>
          </a:prstGeom>
          <a:noFill/>
        </p:spPr>
        <p:txBody>
          <a:bodyPr wrap="square" lIns="32004" tIns="18288" rIns="32004" bIns="18288" anchor="t">
            <a:spAutoFit/>
          </a:bodyPr>
          <a:lstStyle/>
          <a:p>
            <a:pPr algn="ctr"/>
            <a:r>
              <a:rPr sz="810" b="1">
                <a:solidFill>
                  <a:srgbClr val="B7C2CF"/>
                </a:solidFill>
                <a:latin typeface="Aptos"/>
              </a:rPr>
              <a:t>Entidades centrales: Usuario, Rol, Vehículo, Bahía, Reserva y Transacción de Uso; incluye soporte IoT y tickets de mantenimiento.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6400800" cy="164592"/>
          </a:xfrm>
          <a:prstGeom prst="rect">
            <a:avLst/>
          </a:prstGeom>
          <a:noFill/>
        </p:spPr>
        <p:txBody>
          <a:bodyPr wrap="square" lIns="32004" tIns="18288" rIns="32004" bIns="18288" anchor="t">
            <a:spAutoFit/>
          </a:bodyPr>
          <a:lstStyle/>
          <a:p>
            <a:pPr algn="l"/>
            <a:r>
              <a:rPr sz="850" b="0">
                <a:solidFill>
                  <a:srgbClr val="B7C2CF"/>
                </a:solidFill>
                <a:latin typeface="Aptos"/>
              </a:rPr>
              <a:t>OmniDock · Seguimiento semanal · 02 oct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92240"/>
            <a:ext cx="411480" cy="182880"/>
          </a:xfrm>
          <a:prstGeom prst="rect">
            <a:avLst/>
          </a:prstGeom>
          <a:noFill/>
        </p:spPr>
        <p:txBody>
          <a:bodyPr wrap="square" lIns="32004" tIns="18288" rIns="32004" bIns="18288" anchor="t">
            <a:spAutoFit/>
          </a:bodyPr>
          <a:lstStyle/>
          <a:p>
            <a:pPr algn="r"/>
            <a:r>
              <a:rPr sz="900" b="1">
                <a:solidFill>
                  <a:srgbClr val="B7C2CF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3344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5"/>
          <p:cNvSpPr txBox="1"/>
          <p:nvPr/>
        </p:nvSpPr>
        <p:spPr>
          <a:xfrm>
            <a:off x="502920" y="32004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12B5E0"/>
                </a:solidFill>
                <a:latin typeface="Arial"/>
                <a:ea typeface="Arial"/>
                <a:cs typeface="Arial"/>
                <a:sym typeface="Arial"/>
              </a:rPr>
              <a:t>06 · RIESGOS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5"/>
          <p:cNvSpPr txBox="1"/>
          <p:nvPr/>
        </p:nvSpPr>
        <p:spPr>
          <a:xfrm>
            <a:off x="502920" y="640080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Riesgos del proyecto OmniDock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5"/>
          <p:cNvSpPr txBox="1"/>
          <p:nvPr/>
        </p:nvSpPr>
        <p:spPr>
          <a:xfrm>
            <a:off x="502920" y="1161288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"/>
              <a:buFont typeface="Arial"/>
              <a:buNone/>
            </a:pPr>
            <a:r>
              <a:rPr lang="en-US" sz="1120" b="0" i="0" u="none" strike="noStrike" cap="non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Registro de riesgos actualizado para la revisión semanal, con mitigación y matriz probabilidad × impacto.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502920" y="1618488"/>
            <a:ext cx="594360" cy="41148"/>
          </a:xfrm>
          <a:prstGeom prst="rect">
            <a:avLst/>
          </a:prstGeom>
          <a:solidFill>
            <a:srgbClr val="1E6E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/>
          <p:nvPr/>
        </p:nvSpPr>
        <p:spPr>
          <a:xfrm>
            <a:off x="1124712" y="1618488"/>
            <a:ext cx="201168" cy="41148"/>
          </a:xfrm>
          <a:prstGeom prst="rect">
            <a:avLst/>
          </a:prstGeom>
          <a:solidFill>
            <a:srgbClr val="A6E523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5"/>
          <p:cNvSpPr txBox="1"/>
          <p:nvPr/>
        </p:nvSpPr>
        <p:spPr>
          <a:xfrm>
            <a:off x="502920" y="6510528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 b="0" i="0" u="none" strike="noStrike" cap="non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OmniDock · Seguimiento semanal · 25 sep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5"/>
          <p:cNvSpPr txBox="1"/>
          <p:nvPr/>
        </p:nvSpPr>
        <p:spPr>
          <a:xfrm>
            <a:off x="11018520" y="6492240"/>
            <a:ext cx="6858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5"/>
          <p:cNvSpPr txBox="1"/>
          <p:nvPr/>
        </p:nvSpPr>
        <p:spPr>
          <a:xfrm>
            <a:off x="713232" y="1921233"/>
            <a:ext cx="5029200" cy="1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12B5E0"/>
                </a:solidFill>
                <a:latin typeface="Arial"/>
                <a:ea typeface="Arial"/>
                <a:cs typeface="Arial"/>
                <a:sym typeface="Arial"/>
              </a:rPr>
              <a:t>REGISTRO Y PLAN DE MITIGACIÓN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4" name="Google Shape;214;p5"/>
          <p:cNvGraphicFramePr/>
          <p:nvPr/>
        </p:nvGraphicFramePr>
        <p:xfrm>
          <a:off x="502920" y="2232129"/>
          <a:ext cx="9628625" cy="3063250"/>
        </p:xfrm>
        <a:graphic>
          <a:graphicData uri="http://schemas.openxmlformats.org/drawingml/2006/table">
            <a:tbl>
              <a:tblPr firstRow="1" bandRow="1">
                <a:noFill/>
                <a:tableStyleId>{AF6B519B-2569-4E28-8358-FEF741C9C880}</a:tableStyleId>
              </a:tblPr>
              <a:tblGrid>
                <a:gridCol w="411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4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18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55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29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612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30"/>
                        <a:buFont typeface="Arial"/>
                        <a:buNone/>
                      </a:pPr>
                      <a:r>
                        <a:rPr lang="en-US" sz="730" b="1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30"/>
                        <a:buFont typeface="Arial"/>
                        <a:buNone/>
                      </a:pPr>
                      <a:r>
                        <a:rPr lang="en-US" sz="730" b="1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Frente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30"/>
                        <a:buFont typeface="Arial"/>
                        <a:buNone/>
                      </a:pPr>
                      <a:r>
                        <a:rPr lang="en-US" sz="730" b="1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Impacto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30"/>
                        <a:buFont typeface="Arial"/>
                        <a:buNone/>
                      </a:pPr>
                      <a:r>
                        <a:rPr lang="en-US" sz="730" b="1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Prob.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30"/>
                        <a:buFont typeface="Arial"/>
                        <a:buNone/>
                      </a:pPr>
                      <a:r>
                        <a:rPr lang="en-US" sz="730" b="1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Descripción del riesgo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30"/>
                        <a:buFont typeface="Arial"/>
                        <a:buNone/>
                      </a:pPr>
                      <a:r>
                        <a:rPr lang="en-US" sz="730" b="1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Plan de mitigación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30"/>
                        <a:buFont typeface="Arial"/>
                        <a:buNone/>
                      </a:pPr>
                      <a:r>
                        <a:rPr lang="en-US" sz="730" b="1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Responsable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30"/>
                        <a:buFont typeface="Arial"/>
                        <a:buNone/>
                      </a:pPr>
                      <a:r>
                        <a:rPr lang="en-US" sz="730" b="1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Revisión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30"/>
                        <a:buFont typeface="Arial"/>
                        <a:buNone/>
                      </a:pPr>
                      <a:r>
                        <a:rPr lang="en-US" sz="730" b="1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Estado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28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90"/>
                        <a:buFont typeface="Arial"/>
                        <a:buNone/>
                      </a:pPr>
                      <a:r>
                        <a:rPr lang="en-US" sz="690" b="1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B37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90"/>
                        <a:buFont typeface="Arial"/>
                        <a:buNone/>
                      </a:pPr>
                      <a:r>
                        <a:rPr lang="en-US" sz="690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Diseño UI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B37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90"/>
                        <a:buFont typeface="Arial"/>
                        <a:buNone/>
                      </a:pPr>
                      <a:r>
                        <a:rPr lang="en-US" sz="690" b="1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Medio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B37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90"/>
                        <a:buFont typeface="Arial"/>
                        <a:buNone/>
                      </a:pPr>
                      <a:r>
                        <a:rPr lang="en-US" sz="690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Media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B37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90"/>
                        <a:buFont typeface="Arial"/>
                        <a:buNone/>
                      </a:pPr>
                      <a:r>
                        <a:rPr lang="en-US" sz="690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El diseño de las interfaces podría no contemplar correctamente todos los requisitos funcionales definidos para la aplicación Web y Móvil, generando ajustes posteriores. 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B37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90"/>
                        <a:buFont typeface="Arial"/>
                        <a:buNone/>
                      </a:pPr>
                      <a:r>
                        <a:rPr lang="en-US" sz="690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Validar los prototipos contra los requisitos funcionales antes de cerrar el diseño y mantener consistencia entre las vistas Web y Móvil. 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B37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90"/>
                        <a:buFont typeface="Arial"/>
                        <a:buNone/>
                      </a:pPr>
                      <a:r>
                        <a:rPr lang="en-US" sz="690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Carlos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B37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90"/>
                        <a:buFont typeface="Arial"/>
                        <a:buNone/>
                      </a:pPr>
                      <a:r>
                        <a:rPr lang="en-US" sz="690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</a:t>
                      </a:r>
                      <a:r>
                        <a:rPr lang="en-US" sz="690" b="0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r>
                        <a:rPr lang="en-US" sz="690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B37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90"/>
                        <a:buFont typeface="Arial"/>
                        <a:buNone/>
                      </a:pPr>
                      <a:r>
                        <a:rPr lang="en-US" sz="690" b="1" u="none" strike="noStrike" cap="none">
                          <a:solidFill>
                            <a:srgbClr val="27334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Abierto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B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90"/>
                        <a:buFont typeface="Arial"/>
                        <a:buNone/>
                      </a:pPr>
                      <a:r>
                        <a:rPr lang="en-US" sz="690" b="1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90"/>
                        <a:buFont typeface="Arial"/>
                        <a:buNone/>
                      </a:pPr>
                      <a:r>
                        <a:rPr lang="en-US" sz="690" b="0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Backend 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90"/>
                        <a:buFont typeface="Arial"/>
                        <a:buNone/>
                      </a:pPr>
                      <a:r>
                        <a:rPr lang="en-US" sz="690" b="1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Alto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90"/>
                        <a:buFont typeface="Arial"/>
                        <a:buNone/>
                      </a:pPr>
                      <a:r>
                        <a:rPr lang="en-US" sz="690" b="0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Media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90"/>
                        <a:buFont typeface="Arial"/>
                        <a:buNone/>
                      </a:pPr>
                      <a:r>
                        <a:rPr lang="en-US" sz="690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El desarrollo del CRUD podría presentar dificultades al implementar correctamente las operaciones y validaciones requeridas. 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90"/>
                        <a:buFont typeface="Arial"/>
                        <a:buNone/>
                      </a:pPr>
                      <a:r>
                        <a:rPr lang="en-US" sz="690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Desarrollar y probar las operaciones CRUD de forma incremental, validando cada endpoint antes de avanzar. 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90"/>
                        <a:buFont typeface="Arial"/>
                        <a:buNone/>
                      </a:pPr>
                      <a:r>
                        <a:rPr lang="en-US" sz="690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Felipe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90"/>
                        <a:buFont typeface="Arial"/>
                        <a:buNone/>
                      </a:pPr>
                      <a:r>
                        <a:rPr lang="en-US" sz="690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02-10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90"/>
                        <a:buFont typeface="Arial"/>
                        <a:buNone/>
                      </a:pPr>
                      <a:r>
                        <a:rPr lang="en-US" sz="690" b="1" u="none" strike="noStrike" cap="none">
                          <a:solidFill>
                            <a:srgbClr val="27334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Abierto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54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90"/>
                        <a:buFont typeface="Arial"/>
                        <a:buNone/>
                      </a:pPr>
                      <a:r>
                        <a:rPr lang="en-US" sz="690" b="1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B37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90"/>
                        <a:buFont typeface="Arial"/>
                        <a:buNone/>
                      </a:pPr>
                      <a:r>
                        <a:rPr lang="en-US" sz="690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Seguridad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B37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90"/>
                        <a:buFont typeface="Arial"/>
                        <a:buNone/>
                      </a:pPr>
                      <a:r>
                        <a:rPr lang="en-US" sz="690" b="1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Alto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B37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90"/>
                        <a:buFont typeface="Arial"/>
                        <a:buNone/>
                      </a:pPr>
                      <a:r>
                        <a:rPr lang="en-US" sz="690" b="0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Media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B37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90"/>
                        <a:buFont typeface="Arial"/>
                        <a:buNone/>
                      </a:pPr>
                      <a:r>
                        <a:rPr lang="en-US" sz="690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 implementación de JWT podría presentar problemas en la autenticación, autorización o manejo de roles. 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B37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90"/>
                        <a:buFont typeface="Arial"/>
                        <a:buNone/>
                      </a:pPr>
                      <a:r>
                        <a:rPr lang="en-US" sz="690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Realizar pruebas de autenticación y acceso según rol, verificando tokens válidos, expirados y accesos no autorizados. 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B37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90"/>
                        <a:buFont typeface="Arial"/>
                        <a:buNone/>
                      </a:pPr>
                      <a:r>
                        <a:rPr lang="en-US" sz="690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Felipe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B374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90"/>
                        <a:buFont typeface="Arial"/>
                        <a:buNone/>
                      </a:pPr>
                      <a:r>
                        <a:rPr lang="en-US" sz="690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02-10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B37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90"/>
                        <a:buFont typeface="Arial"/>
                        <a:buNone/>
                      </a:pPr>
                      <a:r>
                        <a:rPr lang="en-US" sz="690" b="1" u="none" strike="noStrike" cap="none">
                          <a:solidFill>
                            <a:srgbClr val="27334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Abierto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54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90"/>
                        <a:buFont typeface="Arial"/>
                        <a:buNone/>
                      </a:pPr>
                      <a:r>
                        <a:rPr lang="en-US" sz="690" b="1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90"/>
                        <a:buFont typeface="Arial"/>
                        <a:buNone/>
                      </a:pPr>
                      <a:r>
                        <a:rPr lang="en-US" sz="690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Base de Datos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90"/>
                        <a:buFont typeface="Arial"/>
                        <a:buNone/>
                      </a:pPr>
                      <a:r>
                        <a:rPr lang="en-US" sz="690" b="1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Alto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90"/>
                        <a:buFont typeface="Arial"/>
                        <a:buNone/>
                      </a:pPr>
                      <a:r>
                        <a:rPr lang="en-US" sz="690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Baja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90"/>
                        <a:buFont typeface="Arial"/>
                        <a:buNone/>
                      </a:pPr>
                      <a:r>
                        <a:rPr lang="en-US" sz="690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Cambios en la estructuración de la BD durante el desarrollo podrían generar retrabajo en el CRUD. 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90"/>
                        <a:buFont typeface="Arial"/>
                        <a:buNone/>
                      </a:pPr>
                      <a:r>
                        <a:rPr lang="en-US" sz="690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Validar previamente tablas, relaciones y restricciones necesarias antes de conectar completamente el CRUD. 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90"/>
                        <a:buFont typeface="Arial"/>
                        <a:buNone/>
                      </a:pPr>
                      <a:r>
                        <a:rPr lang="en-US" sz="690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Crisler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90"/>
                        <a:buFont typeface="Arial"/>
                        <a:buNone/>
                      </a:pPr>
                      <a:r>
                        <a:rPr lang="en-US" sz="690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02-10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90"/>
                        <a:buFont typeface="Arial"/>
                        <a:buNone/>
                      </a:pPr>
                      <a:r>
                        <a:rPr lang="en-US" sz="690" b="1" u="none" strike="noStrike" cap="none">
                          <a:solidFill>
                            <a:srgbClr val="27334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Abierto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B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5" name="Google Shape;215;p5"/>
          <p:cNvSpPr txBox="1"/>
          <p:nvPr/>
        </p:nvSpPr>
        <p:spPr>
          <a:xfrm>
            <a:off x="713232" y="5415464"/>
            <a:ext cx="2194500" cy="1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"/>
              <a:buFont typeface="Arial"/>
              <a:buNone/>
            </a:pPr>
            <a:r>
              <a:rPr lang="en-US" sz="880" b="1" i="0" u="none" strike="noStrike" cap="none">
                <a:solidFill>
                  <a:srgbClr val="12B5E0"/>
                </a:solidFill>
                <a:latin typeface="Arial"/>
                <a:ea typeface="Arial"/>
                <a:cs typeface="Arial"/>
                <a:sym typeface="Arial"/>
              </a:rPr>
              <a:t>Matriz probabilidad × impacto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6" name="Google Shape;216;p5"/>
          <p:cNvGraphicFramePr/>
          <p:nvPr/>
        </p:nvGraphicFramePr>
        <p:xfrm>
          <a:off x="3017520" y="5405097"/>
          <a:ext cx="3785600" cy="786400"/>
        </p:xfrm>
        <a:graphic>
          <a:graphicData uri="http://schemas.openxmlformats.org/drawingml/2006/table">
            <a:tbl>
              <a:tblPr firstRow="1" bandRow="1">
                <a:noFill/>
                <a:tableStyleId>{AF6B519B-2569-4E28-8358-FEF741C9C880}</a:tableStyleId>
              </a:tblPr>
              <a:tblGrid>
                <a:gridCol w="960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1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1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6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80"/>
                        <a:buFont typeface="Arial"/>
                        <a:buNone/>
                      </a:pPr>
                      <a:r>
                        <a:rPr lang="en-US" sz="680" b="1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Impacto / Prob.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80"/>
                        <a:buFont typeface="Arial"/>
                        <a:buNone/>
                      </a:pPr>
                      <a:r>
                        <a:rPr lang="en-US" sz="680" b="1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Baja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80"/>
                        <a:buFont typeface="Arial"/>
                        <a:buNone/>
                      </a:pPr>
                      <a:r>
                        <a:rPr lang="en-US" sz="680" b="1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Media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80"/>
                        <a:buFont typeface="Arial"/>
                        <a:buNone/>
                      </a:pPr>
                      <a:r>
                        <a:rPr lang="en-US" sz="680" b="1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Alta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28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80"/>
                        <a:buFont typeface="Arial"/>
                        <a:buNone/>
                      </a:pPr>
                      <a:r>
                        <a:rPr lang="en-US" sz="680" b="1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Alto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80"/>
                        <a:buFont typeface="Arial"/>
                        <a:buNone/>
                      </a:pPr>
                      <a:r>
                        <a:rPr lang="en-US" sz="680" b="1" u="none" strike="noStrike" cap="none">
                          <a:solidFill>
                            <a:srgbClr val="27334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Medio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B34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80"/>
                        <a:buFont typeface="Arial"/>
                        <a:buNone/>
                      </a:pPr>
                      <a:r>
                        <a:rPr lang="en-US" sz="680" b="1" u="none" strike="noStrike" cap="none">
                          <a:solidFill>
                            <a:srgbClr val="27334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Grave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545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80"/>
                        <a:buFont typeface="Arial"/>
                        <a:buNone/>
                      </a:pPr>
                      <a:r>
                        <a:rPr lang="en-US" sz="680" b="1" u="none" strike="noStrike" cap="none">
                          <a:solidFill>
                            <a:srgbClr val="27334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Grave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54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80"/>
                        <a:buFont typeface="Arial"/>
                        <a:buNone/>
                      </a:pPr>
                      <a:r>
                        <a:rPr lang="en-US" sz="680" b="1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Medio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80"/>
                        <a:buFont typeface="Arial"/>
                        <a:buNone/>
                      </a:pPr>
                      <a:r>
                        <a:rPr lang="en-US" sz="680" b="1" u="none" strike="noStrike" cap="none">
                          <a:solidFill>
                            <a:srgbClr val="27334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Bajo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BF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80"/>
                        <a:buFont typeface="Arial"/>
                        <a:buNone/>
                      </a:pPr>
                      <a:r>
                        <a:rPr lang="en-US" sz="680" b="1" u="none" strike="noStrike" cap="none">
                          <a:solidFill>
                            <a:srgbClr val="27334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Medio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B34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80"/>
                        <a:buFont typeface="Arial"/>
                        <a:buNone/>
                      </a:pPr>
                      <a:r>
                        <a:rPr lang="en-US" sz="680" b="1" u="none" strike="noStrike" cap="none">
                          <a:solidFill>
                            <a:srgbClr val="27334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Grave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54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6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80"/>
                        <a:buFont typeface="Arial"/>
                        <a:buNone/>
                      </a:pPr>
                      <a:r>
                        <a:rPr lang="en-US" sz="680" b="1" u="none" strike="noStrike" cap="none">
                          <a:solidFill>
                            <a:srgbClr val="F5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Bajo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283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80"/>
                        <a:buFont typeface="Arial"/>
                        <a:buNone/>
                      </a:pPr>
                      <a:r>
                        <a:rPr lang="en-US" sz="680" b="1" u="none" strike="noStrike" cap="none">
                          <a:solidFill>
                            <a:srgbClr val="27334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Bajo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BF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80"/>
                        <a:buFont typeface="Arial"/>
                        <a:buNone/>
                      </a:pPr>
                      <a:r>
                        <a:rPr lang="en-US" sz="680" b="1" u="none" strike="noStrike" cap="none">
                          <a:solidFill>
                            <a:srgbClr val="27334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Bajo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BF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80"/>
                        <a:buFont typeface="Arial"/>
                        <a:buNone/>
                      </a:pPr>
                      <a:r>
                        <a:rPr lang="en-US" sz="680" b="1" u="none" strike="noStrike" cap="none">
                          <a:solidFill>
                            <a:srgbClr val="27334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Medio</a:t>
                      </a:r>
                      <a:endParaRPr sz="1400" u="none" strike="noStrike" cap="none"/>
                    </a:p>
                  </a:txBody>
                  <a:tcPr marL="32000" marR="32000" marT="18300" marB="18300" anchor="ctr">
                    <a:lnL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2607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B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3344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6"/>
          <p:cNvSpPr txBox="1"/>
          <p:nvPr/>
        </p:nvSpPr>
        <p:spPr>
          <a:xfrm>
            <a:off x="502920" y="32004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12B5E0"/>
                </a:solidFill>
                <a:latin typeface="Arial"/>
                <a:ea typeface="Arial"/>
                <a:cs typeface="Arial"/>
                <a:sym typeface="Arial"/>
              </a:rPr>
              <a:t>07 · PRÓXIMA REVISIÓN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6"/>
          <p:cNvSpPr txBox="1"/>
          <p:nvPr/>
        </p:nvSpPr>
        <p:spPr>
          <a:xfrm>
            <a:off x="502920" y="640080"/>
            <a:ext cx="106986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Compromisos para la próxima semana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6"/>
          <p:cNvSpPr txBox="1"/>
          <p:nvPr/>
        </p:nvSpPr>
        <p:spPr>
          <a:xfrm>
            <a:off x="502920" y="1161288"/>
            <a:ext cx="10789800" cy="2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"/>
              <a:buFont typeface="Arial"/>
              <a:buNone/>
            </a:pPr>
            <a:r>
              <a:rPr lang="en-US" sz="1120" b="0" i="0" u="none" strike="noStrike" cap="non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Objetivo: convertir el Sprint 2 en un incremento demostrable del producto.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502920" y="1618488"/>
            <a:ext cx="594300" cy="41100"/>
          </a:xfrm>
          <a:prstGeom prst="rect">
            <a:avLst/>
          </a:prstGeom>
          <a:solidFill>
            <a:srgbClr val="1E6E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1124712" y="1618488"/>
            <a:ext cx="201300" cy="41100"/>
          </a:xfrm>
          <a:prstGeom prst="rect">
            <a:avLst/>
          </a:prstGeom>
          <a:solidFill>
            <a:srgbClr val="A6E523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 txBox="1"/>
          <p:nvPr/>
        </p:nvSpPr>
        <p:spPr>
          <a:xfrm>
            <a:off x="502920" y="6510528"/>
            <a:ext cx="54864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 b="0" i="0" u="none" strike="noStrike" cap="non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OmniDock · Seguimiento semanal · 25 sep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6"/>
          <p:cNvSpPr txBox="1"/>
          <p:nvPr/>
        </p:nvSpPr>
        <p:spPr>
          <a:xfrm>
            <a:off x="11018520" y="6492240"/>
            <a:ext cx="6858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658368" y="1938528"/>
            <a:ext cx="10881300" cy="859500"/>
          </a:xfrm>
          <a:prstGeom prst="roundRect">
            <a:avLst>
              <a:gd name="adj" fmla="val 16667"/>
            </a:avLst>
          </a:prstGeom>
          <a:solidFill>
            <a:srgbClr val="313D4D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896112" y="2112264"/>
            <a:ext cx="475500" cy="475500"/>
          </a:xfrm>
          <a:prstGeom prst="ellipse">
            <a:avLst/>
          </a:prstGeom>
          <a:solidFill>
            <a:srgbClr val="1E6E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 txBox="1"/>
          <p:nvPr/>
        </p:nvSpPr>
        <p:spPr>
          <a:xfrm>
            <a:off x="896112" y="2212848"/>
            <a:ext cx="4755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"/>
              <a:buFont typeface="Arial"/>
              <a:buNone/>
            </a:pPr>
            <a:r>
              <a:rPr lang="en-US" sz="880" b="1" i="0" u="none" strike="noStrike" cap="none">
                <a:solidFill>
                  <a:srgbClr val="273344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6"/>
          <p:cNvSpPr txBox="1"/>
          <p:nvPr/>
        </p:nvSpPr>
        <p:spPr>
          <a:xfrm>
            <a:off x="1554480" y="2084832"/>
            <a:ext cx="4114800" cy="2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Completar el Diseño UI Web y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6"/>
          <p:cNvSpPr txBox="1"/>
          <p:nvPr/>
        </p:nvSpPr>
        <p:spPr>
          <a:xfrm>
            <a:off x="1554480" y="2377440"/>
            <a:ext cx="9052500" cy="1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8"/>
              <a:buFont typeface="Arial"/>
              <a:buNone/>
            </a:pPr>
            <a:r>
              <a:rPr lang="en-US" sz="969" b="0" i="0" u="none" strike="noStrike" cap="non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Prototipos principales definidos y validados según los requisitos de OmniDock.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658368" y="2898648"/>
            <a:ext cx="10881300" cy="859500"/>
          </a:xfrm>
          <a:prstGeom prst="roundRect">
            <a:avLst>
              <a:gd name="adj" fmla="val 16667"/>
            </a:avLst>
          </a:prstGeom>
          <a:solidFill>
            <a:srgbClr val="313D4D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896112" y="3072384"/>
            <a:ext cx="475500" cy="475500"/>
          </a:xfrm>
          <a:prstGeom prst="ellipse">
            <a:avLst/>
          </a:prstGeom>
          <a:solidFill>
            <a:srgbClr val="1E6E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 txBox="1"/>
          <p:nvPr/>
        </p:nvSpPr>
        <p:spPr>
          <a:xfrm>
            <a:off x="896112" y="3172968"/>
            <a:ext cx="4755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"/>
              <a:buFont typeface="Arial"/>
              <a:buNone/>
            </a:pPr>
            <a:r>
              <a:rPr lang="en-US" sz="880" b="1" i="0" u="none" strike="noStrike" cap="none">
                <a:solidFill>
                  <a:srgbClr val="273344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6"/>
          <p:cNvSpPr txBox="1"/>
          <p:nvPr/>
        </p:nvSpPr>
        <p:spPr>
          <a:xfrm>
            <a:off x="1554480" y="3044952"/>
            <a:ext cx="4114800" cy="2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Avanzar en la implementación del CRUD en Java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6"/>
          <p:cNvSpPr txBox="1"/>
          <p:nvPr/>
        </p:nvSpPr>
        <p:spPr>
          <a:xfrm>
            <a:off x="1554480" y="3337560"/>
            <a:ext cx="9052500" cy="1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8"/>
              <a:buFont typeface="Arial"/>
              <a:buNone/>
            </a:pPr>
            <a:r>
              <a:rPr lang="en-US" sz="969" b="0" i="0" u="none" strike="noStrike" cap="non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Operaciones principales desarrolladas y conectadas con la estructura de datos definida.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658368" y="3858768"/>
            <a:ext cx="10881300" cy="859500"/>
          </a:xfrm>
          <a:prstGeom prst="roundRect">
            <a:avLst>
              <a:gd name="adj" fmla="val 16667"/>
            </a:avLst>
          </a:prstGeom>
          <a:solidFill>
            <a:srgbClr val="313D4D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896112" y="4032504"/>
            <a:ext cx="475500" cy="475500"/>
          </a:xfrm>
          <a:prstGeom prst="ellipse">
            <a:avLst/>
          </a:prstGeom>
          <a:solidFill>
            <a:srgbClr val="A6E523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 txBox="1"/>
          <p:nvPr/>
        </p:nvSpPr>
        <p:spPr>
          <a:xfrm>
            <a:off x="896112" y="4133087"/>
            <a:ext cx="4755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"/>
              <a:buFont typeface="Arial"/>
              <a:buNone/>
            </a:pPr>
            <a:r>
              <a:rPr lang="en-US" sz="880" b="1" i="0" u="none" strike="noStrike" cap="none">
                <a:solidFill>
                  <a:srgbClr val="273344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6"/>
          <p:cNvSpPr txBox="1"/>
          <p:nvPr/>
        </p:nvSpPr>
        <p:spPr>
          <a:xfrm>
            <a:off x="1554480" y="4005072"/>
            <a:ext cx="4114800" cy="2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Implementar la base de seguridad con JWT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6"/>
          <p:cNvSpPr txBox="1"/>
          <p:nvPr/>
        </p:nvSpPr>
        <p:spPr>
          <a:xfrm>
            <a:off x="1554480" y="4297679"/>
            <a:ext cx="9052500" cy="1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8"/>
              <a:buFont typeface="Arial"/>
              <a:buNone/>
            </a:pPr>
            <a:r>
              <a:rPr lang="en-US" sz="969" b="0" i="0" u="none" strike="noStrike" cap="non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Flujo inicial de autenticación y autorización funcionando para continuar con las pruebas.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658368" y="4818888"/>
            <a:ext cx="10881300" cy="859500"/>
          </a:xfrm>
          <a:prstGeom prst="roundRect">
            <a:avLst>
              <a:gd name="adj" fmla="val 16667"/>
            </a:avLst>
          </a:prstGeom>
          <a:solidFill>
            <a:srgbClr val="313D4D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896112" y="4992624"/>
            <a:ext cx="475500" cy="475500"/>
          </a:xfrm>
          <a:prstGeom prst="ellipse">
            <a:avLst/>
          </a:prstGeom>
          <a:solidFill>
            <a:srgbClr val="A6E523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 txBox="1"/>
          <p:nvPr/>
        </p:nvSpPr>
        <p:spPr>
          <a:xfrm>
            <a:off x="896112" y="5093207"/>
            <a:ext cx="4755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"/>
              <a:buFont typeface="Arial"/>
              <a:buNone/>
            </a:pPr>
            <a:r>
              <a:rPr lang="en-US" sz="880" b="1" i="0" u="none" strike="noStrike" cap="none">
                <a:solidFill>
                  <a:srgbClr val="273344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6"/>
          <p:cNvSpPr txBox="1"/>
          <p:nvPr/>
        </p:nvSpPr>
        <p:spPr>
          <a:xfrm>
            <a:off x="1554480" y="4965192"/>
            <a:ext cx="4114800" cy="2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Consolidar la estructuración de la Base de Datos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6"/>
          <p:cNvSpPr txBox="1"/>
          <p:nvPr/>
        </p:nvSpPr>
        <p:spPr>
          <a:xfrm>
            <a:off x="1554480" y="5257800"/>
            <a:ext cx="9052500" cy="1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8"/>
              <a:buFont typeface="Arial"/>
              <a:buNone/>
            </a:pPr>
            <a:r>
              <a:rPr lang="en-US" sz="969" b="0" i="0" u="none" strike="noStrike" cap="none">
                <a:solidFill>
                  <a:srgbClr val="B7C2CF"/>
                </a:solidFill>
                <a:latin typeface="Arial"/>
                <a:ea typeface="Arial"/>
                <a:cs typeface="Arial"/>
                <a:sym typeface="Arial"/>
              </a:rPr>
              <a:t>Tablas, relaciones y restricciones necesarias preparadas para soportar al backend.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6"/>
          <p:cNvSpPr/>
          <p:nvPr/>
        </p:nvSpPr>
        <p:spPr>
          <a:xfrm>
            <a:off x="658368" y="5852160"/>
            <a:ext cx="10881300" cy="347400"/>
          </a:xfrm>
          <a:prstGeom prst="roundRect">
            <a:avLst>
              <a:gd name="adj" fmla="val 16667"/>
            </a:avLst>
          </a:prstGeom>
          <a:solidFill>
            <a:srgbClr val="2B3746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6"/>
          <p:cNvSpPr txBox="1"/>
          <p:nvPr/>
        </p:nvSpPr>
        <p:spPr>
          <a:xfrm>
            <a:off x="841248" y="5934456"/>
            <a:ext cx="10424100" cy="1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27425" bIns="18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"/>
              <a:buFont typeface="Arial"/>
              <a:buNone/>
            </a:pPr>
            <a:r>
              <a:rPr lang="en-US" sz="940" b="1" i="0" u="none" strike="noStrike" cap="none">
                <a:solidFill>
                  <a:srgbClr val="12B5E0"/>
                </a:solidFill>
                <a:latin typeface="Arial"/>
                <a:ea typeface="Arial"/>
                <a:cs typeface="Arial"/>
                <a:sym typeface="Arial"/>
              </a:rPr>
              <a:t>Resultado esperado: Sprint 2 encaminado y Roadmap actualizado con evidencia real de Jira.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1070</Words>
  <Application>Microsoft Office PowerPoint</Application>
  <PresentationFormat>Panorámica</PresentationFormat>
  <Paragraphs>212</Paragraphs>
  <Slides>11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CARLOS FELIPE ROMAN SEPULVEDA</cp:lastModifiedBy>
  <cp:revision>1</cp:revision>
  <dcterms:modified xsi:type="dcterms:W3CDTF">2026-10-02T22:55:06Z</dcterms:modified>
</cp:coreProperties>
</file>