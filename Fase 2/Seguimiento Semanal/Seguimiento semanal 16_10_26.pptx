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DM Sans" pitchFamily="2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MuwUP1yDxqh1tfyEFgc1dD7Ti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Presentamos el avance de la semana, la última del Sprint 3: dónde estamos, el burndown, lo que hizo cada uno, las pruebas, los riesgos y lo que viene para el Sprint 4.</a:t>
            </a:r>
            <a:endParaRPr/>
          </a:p>
        </p:txBody>
      </p:sp>
      <p:sp>
        <p:nvSpPr>
          <p:cNvPr id="19" name="Google Shape;1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Llevamos 30 de las 35 tareas e historias del proyecto. Hoy es el día 12 del Sprint 3 y todo lo planificado ya está terminado en Jira; el sprint cierra formalmente el 18/10. La app y el panel web funcionan contra el backend real, el 14/10 pasaron las 26 pruebas de pantallas y la regresión de la API quedó en 95 de 97 sin fallas (los 2 restantes no se corren todavía). Power BI ya está conectado a Oracle Cloud.</a:t>
            </a: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por semanas: cinco sprints de dos semanas, con las actividades generales de Jira. La línea roja marca hoy, viernes 16/10, en la segunda semana del Sprint 3. Los Sprints 0, 1 y 2 están cerrados; el Sprint 3 cierra el domingo 18/10 y el Sprint 4 cierra el proyecto el 01/11.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gráfico cuenta tareas e historias de Jira, sin subtareas. La semana pasada quedaban 17; hoy quedan 5, que son justo las del Sprint 4. Por primera vez estamos bajo la línea ideal, porque el Sprint 3 se cerró completo antes de su fecha.</a:t>
            </a: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primera semana el sprint bajó parejo, mientras se programaban las pantallas. El 14/10 probamos la app y el panel contra el backend real y cerramos las historias: pasamos de 8 a 1 pendiente. La última tarea fue la conexión de Power BI a Oracle Cloud, que quedó hoy; a la derecha se ven los primeros paneles con los datos de ejemplo. Lo que no mejoramos: seguimos moviendo Jira tarde.</a:t>
            </a:r>
            <a:endParaRPr/>
          </a:p>
        </p:txBody>
      </p:sp>
      <p:sp>
        <p:nvSpPr>
          <p:cNvPr id="105" name="Google Shape;10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Carlos terminó la app y el panel web y el 14/10 corrió las 26 pruebas del sprint, todas OK; en el Sprint 4 sube el código final y empaqueta la app. Felipe integró el frontend con el backend y cerró las historias HU-01 a HU-03; ahora siguen las pruebas de integración. Crisler limpió los datos de prueba, conectó Power BI a Oracle Cloud y corrigió los defectos DEF-03 y DEF-04; en el Sprint 4 arma el panel completo de Power BI.</a:t>
            </a: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defectos DEF-03 y DEF-04 ya están corregidos, así que salen de la lista. El riesgo 1 sigue siendo Power BI: para incrustar el informe en el panel se necesita licencia de pago o de prueba, y el instituto bloquea publicarlo en la web; vamos a probar un tenant propio y, si no resulta, lo mostramos desde Power BI Desktop. El riesgo 2 es el tiempo del Sprint 4. Los riesgos 3 y 4 son de orden: subir el código y mover Jira a tiempo. El 5, la ventana de reserva, es bajo.</a:t>
            </a:r>
            <a:endParaRPr/>
          </a:p>
        </p:txBody>
      </p:sp>
      <p:sp>
        <p:nvSpPr>
          <p:cNvPr id="142" name="Google Shape;14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Mañana 17/10 entregamos la Fase 2 por AVA con el código en GitHub. El 18 cerramos el Sprint 3 con la retrospectiva y el 19 parte el Sprint 4, partiendo por el panel de Power BI. El viernes 23 presentamos la Fase 2 en sala, y el 01/11 cerramos con la app instalable y los documentos finales.</a:t>
            </a:r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bg>
      <p:bgPr>
        <a:solidFill>
          <a:srgbClr val="F7F6F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  <a:defRPr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body" idx="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None/>
              <a:defRPr sz="16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ARO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3816" y="640080"/>
            <a:ext cx="105613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2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  <a:defRPr sz="3200" b="0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CAPSTONE · EQUIPO NODALIX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Google Shape;22;p1"/>
          <p:cNvSpPr txBox="1">
            <a:spLocks noGrp="1"/>
          </p:cNvSpPr>
          <p:nvPr>
            <p:ph type="title"/>
          </p:nvPr>
        </p:nvSpPr>
        <p:spPr>
          <a:xfrm>
            <a:off x="812800" y="2693690"/>
            <a:ext cx="10883392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6000"/>
              <a:buFont typeface="DM Sans"/>
              <a:buNone/>
            </a:pPr>
            <a:r>
              <a:rPr lang="en-US" sz="6000" b="1" i="0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OmniDock</a:t>
            </a:r>
            <a:endParaRPr sz="6000"/>
          </a:p>
        </p:txBody>
      </p:sp>
      <p:sp>
        <p:nvSpPr>
          <p:cNvPr id="23" name="Google Shape;23;p1"/>
          <p:cNvSpPr/>
          <p:nvPr/>
        </p:nvSpPr>
        <p:spPr>
          <a:xfrm>
            <a:off x="812800" y="369699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DM Sans"/>
              <a:buNone/>
            </a:pPr>
            <a:r>
              <a:rPr lang="en-US" sz="3200" b="0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Avance semanal · Sprint 3</a:t>
            </a:r>
            <a:endParaRPr sz="3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760740"/>
            <a:ext cx="4868347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9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BFC8D9"/>
                </a:solidFill>
                <a:latin typeface="DM Sans"/>
                <a:ea typeface="DM Sans"/>
                <a:cs typeface="DM Sans"/>
                <a:sym typeface="DM Sans"/>
              </a:rPr>
              <a:t>Carlos Román · Crisler Romero · Felipe Vidal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135110" y="5760740"/>
            <a:ext cx="224409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9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BFC8D9"/>
                </a:solidFill>
                <a:latin typeface="DM Sans"/>
                <a:ea typeface="DM Sans"/>
                <a:cs typeface="DM Sans"/>
                <a:sym typeface="DM Sans"/>
              </a:rPr>
              <a:t>Viernes 16/10/2026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6" name="Google Shape;26;p1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6075" y="320050"/>
            <a:ext cx="626801" cy="62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 descr="image2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3672" y="2262452"/>
            <a:ext cx="2191450" cy="21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Dónde estamos</a:t>
            </a:r>
            <a:endParaRPr sz="3200"/>
          </a:p>
        </p:txBody>
      </p:sp>
      <p:sp>
        <p:nvSpPr>
          <p:cNvPr id="34" name="Google Shape;34;p2"/>
          <p:cNvSpPr/>
          <p:nvPr/>
        </p:nvSpPr>
        <p:spPr>
          <a:xfrm>
            <a:off x="812800" y="1564580"/>
            <a:ext cx="3369667" cy="1503462"/>
          </a:xfrm>
          <a:prstGeom prst="roundRect">
            <a:avLst>
              <a:gd name="adj" fmla="val 675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066800" y="1818580"/>
            <a:ext cx="2947517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30 de 35</a:t>
            </a:r>
            <a:endParaRPr sz="3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66800" y="2316361"/>
            <a:ext cx="2947517" cy="52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9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BFC8D9"/>
                </a:solidFill>
                <a:latin typeface="DM Sans"/>
                <a:ea typeface="DM Sans"/>
                <a:cs typeface="DM Sans"/>
                <a:sym typeface="DM Sans"/>
              </a:rPr>
              <a:t>tareas e historias terminadas (86 %)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392017" y="1570930"/>
            <a:ext cx="3382466" cy="1490762"/>
          </a:xfrm>
          <a:prstGeom prst="roundRect">
            <a:avLst>
              <a:gd name="adj" fmla="val 6389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652367" y="1831280"/>
            <a:ext cx="2947619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3 de 5</a:t>
            </a:r>
            <a:endParaRPr sz="3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52367" y="2329061"/>
            <a:ext cx="2947619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sprints cerrados (0, 1 y 2)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90384" y="1570930"/>
            <a:ext cx="3382466" cy="1490762"/>
          </a:xfrm>
          <a:prstGeom prst="roundRect">
            <a:avLst>
              <a:gd name="adj" fmla="val 6389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50734" y="1831280"/>
            <a:ext cx="2947619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Día 12 de 14</a:t>
            </a:r>
            <a:endParaRPr sz="3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250734" y="2329061"/>
            <a:ext cx="2947619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del Sprint 3, con todo terminado en Jira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812800" y="3391892"/>
            <a:ext cx="3386634" cy="0"/>
          </a:xfrm>
          <a:prstGeom prst="straightConnector1">
            <a:avLst/>
          </a:prstGeom>
          <a:noFill/>
          <a:ln w="38100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"/>
          <p:cNvSpPr/>
          <p:nvPr/>
        </p:nvSpPr>
        <p:spPr>
          <a:xfrm>
            <a:off x="812800" y="3588742"/>
            <a:ext cx="3488233" cy="29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App y panel web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12800" y="3939183"/>
            <a:ext cx="3488233" cy="77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Login, bahías, reserva, QR, historial, vehículos, racks, tickets y usuarios, funcionando con el backend real.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4402634" y="3391892"/>
            <a:ext cx="3386733" cy="0"/>
          </a:xfrm>
          <a:prstGeom prst="straightConnector1">
            <a:avLst/>
          </a:prstGeom>
          <a:noFill/>
          <a:ln w="38100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2"/>
          <p:cNvSpPr/>
          <p:nvPr/>
        </p:nvSpPr>
        <p:spPr>
          <a:xfrm>
            <a:off x="4402634" y="3588742"/>
            <a:ext cx="3488335" cy="29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Pruebas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402634" y="3939183"/>
            <a:ext cx="3488335" cy="77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26 de 26 pruebas de pantallas OK (14/10). API: 95 de 97 OK y ninguna falla. DEF-03 y DEF-04 corregidos.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7992566" y="3391892"/>
            <a:ext cx="3386634" cy="0"/>
          </a:xfrm>
          <a:prstGeom prst="straightConnector1">
            <a:avLst/>
          </a:prstGeom>
          <a:noFill/>
          <a:ln w="38100" cap="flat" cmpd="sng">
            <a:solidFill>
              <a:srgbClr val="2A78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2"/>
          <p:cNvSpPr/>
          <p:nvPr/>
        </p:nvSpPr>
        <p:spPr>
          <a:xfrm>
            <a:off x="7992566" y="3588742"/>
            <a:ext cx="3488233" cy="29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Datos y Power BI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992566" y="3939183"/>
            <a:ext cx="3488233" cy="77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Datos de prueba fuera de las vistas y Power BI conectado a la base en Oracle Cloud (16/10).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13816" y="64008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Roadmap del proyecto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14600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24/08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31/08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88536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07/09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175504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75504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14/09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62472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62472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21/09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28/09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05/10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23376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23376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12/10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10344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S9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10344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19/10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497312" y="14630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S10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497312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26/10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3401568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288536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175504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6062472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6949440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836408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723376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9610344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10497312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11384280" y="2057400"/>
            <a:ext cx="0" cy="320040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13816" y="2057400"/>
            <a:ext cx="10570464" cy="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813816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Sprint 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13816" y="24505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24/08 – 06/09</a:t>
            </a:r>
          </a:p>
        </p:txBody>
      </p:sp>
      <p:sp>
        <p:nvSpPr>
          <p:cNvPr id="37" name="Shape 35"/>
          <p:cNvSpPr/>
          <p:nvPr/>
        </p:nvSpPr>
        <p:spPr>
          <a:xfrm>
            <a:off x="2560320" y="2167128"/>
            <a:ext cx="1682496" cy="420624"/>
          </a:xfrm>
          <a:prstGeom prst="roundRect">
            <a:avLst>
              <a:gd name="adj" fmla="val 13043"/>
            </a:avLst>
          </a:prstGeom>
          <a:solidFill>
            <a:srgbClr val="DCE9F8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2633472" y="216712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Kick-off y alcance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3816" y="2697480"/>
            <a:ext cx="10570464" cy="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813816" y="28163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Sprint 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13816" y="309067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07/09 – 20/09</a:t>
            </a:r>
          </a:p>
        </p:txBody>
      </p:sp>
      <p:sp>
        <p:nvSpPr>
          <p:cNvPr id="42" name="Shape 40"/>
          <p:cNvSpPr/>
          <p:nvPr/>
        </p:nvSpPr>
        <p:spPr>
          <a:xfrm>
            <a:off x="4334256" y="2807208"/>
            <a:ext cx="1682496" cy="420624"/>
          </a:xfrm>
          <a:prstGeom prst="roundRect">
            <a:avLst>
              <a:gd name="adj" fmla="val 13043"/>
            </a:avLst>
          </a:prstGeom>
          <a:solidFill>
            <a:srgbClr val="DCE9F8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 txBox="1"/>
          <p:nvPr/>
        </p:nvSpPr>
        <p:spPr>
          <a:xfrm>
            <a:off x="4407408" y="28072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Requisitos y diseño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" y="3337560"/>
            <a:ext cx="10570464" cy="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 txBox="1"/>
          <p:nvPr/>
        </p:nvSpPr>
        <p:spPr>
          <a:xfrm>
            <a:off x="813816" y="3456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Sprint 2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" y="373075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21/09 – 04/10</a:t>
            </a:r>
          </a:p>
        </p:txBody>
      </p:sp>
      <p:sp>
        <p:nvSpPr>
          <p:cNvPr id="47" name="Shape 45"/>
          <p:cNvSpPr/>
          <p:nvPr/>
        </p:nvSpPr>
        <p:spPr>
          <a:xfrm>
            <a:off x="6108192" y="3447288"/>
            <a:ext cx="1682496" cy="420624"/>
          </a:xfrm>
          <a:prstGeom prst="roundRect">
            <a:avLst>
              <a:gd name="adj" fmla="val 13043"/>
            </a:avLst>
          </a:prstGeom>
          <a:solidFill>
            <a:srgbClr val="DCE9F8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 txBox="1"/>
          <p:nvPr/>
        </p:nvSpPr>
        <p:spPr>
          <a:xfrm>
            <a:off x="6181344" y="344728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Backend y base de datos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3816" y="3977640"/>
            <a:ext cx="10570464" cy="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 txBox="1"/>
          <p:nvPr/>
        </p:nvSpPr>
        <p:spPr>
          <a:xfrm>
            <a:off x="813816" y="4096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Sprint 3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813816" y="437083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05/10 – 18/10</a:t>
            </a:r>
          </a:p>
        </p:txBody>
      </p:sp>
      <p:sp>
        <p:nvSpPr>
          <p:cNvPr id="52" name="Shape 50"/>
          <p:cNvSpPr/>
          <p:nvPr/>
        </p:nvSpPr>
        <p:spPr>
          <a:xfrm>
            <a:off x="7882128" y="4087368"/>
            <a:ext cx="1682496" cy="420624"/>
          </a:xfrm>
          <a:prstGeom prst="roundRect">
            <a:avLst>
              <a:gd name="adj" fmla="val 13043"/>
            </a:avLst>
          </a:prstGeom>
          <a:solidFill>
            <a:srgbClr val="FDE9DA"/>
          </a:solidFill>
          <a:ln w="1587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 txBox="1"/>
          <p:nvPr/>
        </p:nvSpPr>
        <p:spPr>
          <a:xfrm>
            <a:off x="7955280" y="4087368"/>
            <a:ext cx="127428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Desarrollo front web y móvil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3816" y="4617720"/>
            <a:ext cx="10570464" cy="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 txBox="1"/>
          <p:nvPr/>
        </p:nvSpPr>
        <p:spPr>
          <a:xfrm>
            <a:off x="813816" y="4736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Sprint 4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813816" y="50109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19/10 – 01/11</a:t>
            </a:r>
          </a:p>
        </p:txBody>
      </p:sp>
      <p:sp>
        <p:nvSpPr>
          <p:cNvPr id="57" name="Shape 55"/>
          <p:cNvSpPr/>
          <p:nvPr/>
        </p:nvSpPr>
        <p:spPr>
          <a:xfrm>
            <a:off x="9656064" y="4727448"/>
            <a:ext cx="1682496" cy="420624"/>
          </a:xfrm>
          <a:prstGeom prst="roundRect">
            <a:avLst>
              <a:gd name="adj" fmla="val 13043"/>
            </a:avLst>
          </a:prstGeom>
          <a:solidFill>
            <a:srgbClr val="ECEBE6"/>
          </a:solidFill>
          <a:ln w="15875">
            <a:solidFill>
              <a:srgbClr val="B8B8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Text 56"/>
          <p:cNvSpPr txBox="1"/>
          <p:nvPr/>
        </p:nvSpPr>
        <p:spPr>
          <a:xfrm>
            <a:off x="9729216" y="472744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Power BI, pruebas y cierre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3816" y="5257800"/>
            <a:ext cx="10570464" cy="0"/>
          </a:xfrm>
          <a:prstGeom prst="line">
            <a:avLst/>
          </a:prstGeom>
          <a:noFill/>
          <a:ln w="9525">
            <a:solidFill>
              <a:srgbClr val="DCDDD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Shape 58"/>
          <p:cNvSpPr/>
          <p:nvPr/>
        </p:nvSpPr>
        <p:spPr>
          <a:xfrm>
            <a:off x="9293570" y="1965960"/>
            <a:ext cx="0" cy="338328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 txBox="1"/>
          <p:nvPr/>
        </p:nvSpPr>
        <p:spPr>
          <a:xfrm>
            <a:off x="865349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5"/>
                </a:solidFill>
              </a:rPr>
              <a:t>Hoy · 16/10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13816" y="585216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DCE9F8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 txBox="1"/>
          <p:nvPr/>
        </p:nvSpPr>
        <p:spPr>
          <a:xfrm>
            <a:off x="1161288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Cerrado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276856" y="585216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FDE9DA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 txBox="1"/>
          <p:nvPr/>
        </p:nvSpPr>
        <p:spPr>
          <a:xfrm>
            <a:off x="2624328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En curso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739896" y="585216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ECEBE6"/>
          </a:solidFill>
          <a:ln w="12700">
            <a:solidFill>
              <a:srgbClr val="B8B8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 txBox="1"/>
          <p:nvPr/>
        </p:nvSpPr>
        <p:spPr>
          <a:xfrm>
            <a:off x="4087368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Planificado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5303520" y="580644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2"/>
                </a:solidFill>
              </a:rPr>
              <a:t>Sprints de dos semanas · entrega del prototipo el 01/11/2026</a:t>
            </a:r>
            <a:endParaRPr lang="en-US" sz="120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 marL="0" algn="l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7021451-1387-4CA6-816F-3879F97B5CBC}" type="slidenum">
              <a:rPr lang="en-US" smtClean="0"/>
              <a:pPr algn="r"/>
              <a:t>3</a:t>
            </a:fld>
            <a:endParaRPr lang="en-US"/>
          </a:p>
        </p:txBody>
      </p:sp>
      <p:sp>
        <p:nvSpPr>
          <p:cNvPr id="70" name="Text 2">
            <a:extLst>
              <a:ext uri="{FF2B5EF4-FFF2-40B4-BE49-F238E27FC236}">
                <a16:creationId xmlns:a16="http://schemas.microsoft.com/office/drawing/2014/main" id="{9A5952BB-9CEE-E4B0-0F76-B511A2AB3B9E}"/>
              </a:ext>
            </a:extLst>
          </p:cNvPr>
          <p:cNvSpPr txBox="1"/>
          <p:nvPr/>
        </p:nvSpPr>
        <p:spPr>
          <a:xfrm>
            <a:off x="2499359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24/08</a:t>
            </a: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FF6EE7A1-0CFB-ADDE-F007-1E6801E5B3F9}"/>
              </a:ext>
            </a:extLst>
          </p:cNvPr>
          <p:cNvSpPr txBox="1"/>
          <p:nvPr/>
        </p:nvSpPr>
        <p:spPr>
          <a:xfrm>
            <a:off x="3386327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31/08</a:t>
            </a:r>
          </a:p>
        </p:txBody>
      </p:sp>
      <p:sp>
        <p:nvSpPr>
          <p:cNvPr id="72" name="Text 6">
            <a:extLst>
              <a:ext uri="{FF2B5EF4-FFF2-40B4-BE49-F238E27FC236}">
                <a16:creationId xmlns:a16="http://schemas.microsoft.com/office/drawing/2014/main" id="{22EFDB72-CF5F-F030-1CCF-43E3F50FA365}"/>
              </a:ext>
            </a:extLst>
          </p:cNvPr>
          <p:cNvSpPr txBox="1"/>
          <p:nvPr/>
        </p:nvSpPr>
        <p:spPr>
          <a:xfrm>
            <a:off x="4273295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07/09</a:t>
            </a:r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6345252F-FDFE-502A-BAB7-46BC9105B6A1}"/>
              </a:ext>
            </a:extLst>
          </p:cNvPr>
          <p:cNvSpPr txBox="1"/>
          <p:nvPr/>
        </p:nvSpPr>
        <p:spPr>
          <a:xfrm>
            <a:off x="5160263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14/09</a:t>
            </a:r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CB142E1B-9BCB-3EFA-C121-3E5BF960E20F}"/>
              </a:ext>
            </a:extLst>
          </p:cNvPr>
          <p:cNvSpPr txBox="1"/>
          <p:nvPr/>
        </p:nvSpPr>
        <p:spPr>
          <a:xfrm>
            <a:off x="6047231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21/09</a:t>
            </a: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C5AC0E72-B86D-45B4-4798-52D7B52C0AF4}"/>
              </a:ext>
            </a:extLst>
          </p:cNvPr>
          <p:cNvSpPr txBox="1"/>
          <p:nvPr/>
        </p:nvSpPr>
        <p:spPr>
          <a:xfrm>
            <a:off x="6934199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28/09</a:t>
            </a: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823AA176-3668-1F49-83FE-1ABFDC1F2AFA}"/>
              </a:ext>
            </a:extLst>
          </p:cNvPr>
          <p:cNvSpPr txBox="1"/>
          <p:nvPr/>
        </p:nvSpPr>
        <p:spPr>
          <a:xfrm>
            <a:off x="7821167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05/10</a:t>
            </a:r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F1547315-FC67-E0CC-B471-55D95082EB07}"/>
              </a:ext>
            </a:extLst>
          </p:cNvPr>
          <p:cNvSpPr txBox="1"/>
          <p:nvPr/>
        </p:nvSpPr>
        <p:spPr>
          <a:xfrm>
            <a:off x="8708135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12/10</a:t>
            </a:r>
          </a:p>
        </p:txBody>
      </p:sp>
      <p:sp>
        <p:nvSpPr>
          <p:cNvPr id="78" name="Text 18">
            <a:extLst>
              <a:ext uri="{FF2B5EF4-FFF2-40B4-BE49-F238E27FC236}">
                <a16:creationId xmlns:a16="http://schemas.microsoft.com/office/drawing/2014/main" id="{75EDFF78-93A8-9C52-BA08-638FB66C00EC}"/>
              </a:ext>
            </a:extLst>
          </p:cNvPr>
          <p:cNvSpPr txBox="1"/>
          <p:nvPr/>
        </p:nvSpPr>
        <p:spPr>
          <a:xfrm>
            <a:off x="9595103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19/10</a:t>
            </a: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85179A29-D356-9224-B6AB-586FC6171689}"/>
              </a:ext>
            </a:extLst>
          </p:cNvPr>
          <p:cNvSpPr txBox="1"/>
          <p:nvPr/>
        </p:nvSpPr>
        <p:spPr>
          <a:xfrm>
            <a:off x="10482071" y="169164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26/10</a:t>
            </a:r>
          </a:p>
        </p:txBody>
      </p:sp>
      <p:sp>
        <p:nvSpPr>
          <p:cNvPr id="80" name="Text 61">
            <a:extLst>
              <a:ext uri="{FF2B5EF4-FFF2-40B4-BE49-F238E27FC236}">
                <a16:creationId xmlns:a16="http://schemas.microsoft.com/office/drawing/2014/main" id="{6F11BA90-8523-0208-1F59-9E5FB31E7403}"/>
              </a:ext>
            </a:extLst>
          </p:cNvPr>
          <p:cNvSpPr txBox="1"/>
          <p:nvPr/>
        </p:nvSpPr>
        <p:spPr>
          <a:xfrm>
            <a:off x="1146047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Cerrado</a:t>
            </a:r>
          </a:p>
        </p:txBody>
      </p:sp>
      <p:sp>
        <p:nvSpPr>
          <p:cNvPr id="81" name="Text 63">
            <a:extLst>
              <a:ext uri="{FF2B5EF4-FFF2-40B4-BE49-F238E27FC236}">
                <a16:creationId xmlns:a16="http://schemas.microsoft.com/office/drawing/2014/main" id="{53E6820E-88C5-A94A-98D5-11A8A85FEF84}"/>
              </a:ext>
            </a:extLst>
          </p:cNvPr>
          <p:cNvSpPr txBox="1"/>
          <p:nvPr/>
        </p:nvSpPr>
        <p:spPr>
          <a:xfrm>
            <a:off x="2609087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 curso</a:t>
            </a:r>
          </a:p>
        </p:txBody>
      </p:sp>
      <p:sp>
        <p:nvSpPr>
          <p:cNvPr id="82" name="Text 65">
            <a:extLst>
              <a:ext uri="{FF2B5EF4-FFF2-40B4-BE49-F238E27FC236}">
                <a16:creationId xmlns:a16="http://schemas.microsoft.com/office/drawing/2014/main" id="{9B3CD25E-A8D8-900B-BA84-D52758A2E41B}"/>
              </a:ext>
            </a:extLst>
          </p:cNvPr>
          <p:cNvSpPr txBox="1"/>
          <p:nvPr/>
        </p:nvSpPr>
        <p:spPr>
          <a:xfrm>
            <a:off x="4072127" y="5806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Planificado</a:t>
            </a:r>
          </a:p>
        </p:txBody>
      </p:sp>
      <p:sp>
        <p:nvSpPr>
          <p:cNvPr id="83" name="Text 66">
            <a:extLst>
              <a:ext uri="{FF2B5EF4-FFF2-40B4-BE49-F238E27FC236}">
                <a16:creationId xmlns:a16="http://schemas.microsoft.com/office/drawing/2014/main" id="{224B6AD1-2249-07AC-68CF-7D8C4636B07F}"/>
              </a:ext>
            </a:extLst>
          </p:cNvPr>
          <p:cNvSpPr txBox="1"/>
          <p:nvPr/>
        </p:nvSpPr>
        <p:spPr>
          <a:xfrm>
            <a:off x="5288279" y="580644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Sprints de dos semanas · entrega del prototipo el 01/11/2026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Burndown del proyecto</a:t>
            </a:r>
            <a:endParaRPr sz="3200"/>
          </a:p>
        </p:txBody>
      </p:sp>
      <p:sp>
        <p:nvSpPr>
          <p:cNvPr id="96" name="Google Shape;96;p4"/>
          <p:cNvSpPr/>
          <p:nvPr/>
        </p:nvSpPr>
        <p:spPr>
          <a:xfrm>
            <a:off x="819150" y="1520130"/>
            <a:ext cx="6946900" cy="3987800"/>
          </a:xfrm>
          <a:prstGeom prst="roundRect">
            <a:avLst>
              <a:gd name="adj" fmla="val 2389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4" descr="Burndown del proyecto: de 35 tareas e historias quedan 17 al 09/10; el plan es llegar a 5 al cierre del Sprint 3 y a 0 el 01/11"/>
          <p:cNvPicPr preferRelativeResize="0"/>
          <p:nvPr/>
        </p:nvPicPr>
        <p:blipFill rotWithShape="1">
          <a:blip r:embed="rId3">
            <a:alphaModFix/>
          </a:blip>
          <a:srcRect t="-34" b="-34"/>
          <a:stretch/>
        </p:blipFill>
        <p:spPr>
          <a:xfrm>
            <a:off x="927100" y="1628080"/>
            <a:ext cx="67310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8077200" y="2056309"/>
            <a:ext cx="3401060" cy="66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4800"/>
              <a:buFont typeface="DM Sans"/>
              <a:buNone/>
            </a:pPr>
            <a:r>
              <a:rPr lang="en-US" sz="4800" b="1" i="0" u="none" strike="noStrike" cap="non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4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077200" y="2721769"/>
            <a:ext cx="3401060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pendientes de 35 al 16/10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077200" y="3173809"/>
            <a:ext cx="3401060" cy="1122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Pasamos bajo la línea ideal: las 12 tareas que quedaban del Sprint 3 se cerraron esta semana.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077200" y="4473972"/>
            <a:ext cx="3401060" cy="523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Las 5 que quedan son las del Sprint 4.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Sprint 3: burndown y pruebas</a:t>
            </a:r>
            <a:endParaRPr sz="3200"/>
          </a:p>
        </p:txBody>
      </p:sp>
      <p:sp>
        <p:nvSpPr>
          <p:cNvPr id="108" name="Google Shape;108;p5"/>
          <p:cNvSpPr/>
          <p:nvPr/>
        </p:nvSpPr>
        <p:spPr>
          <a:xfrm>
            <a:off x="819150" y="1520130"/>
            <a:ext cx="5168900" cy="2781300"/>
          </a:xfrm>
          <a:prstGeom prst="roundRect">
            <a:avLst>
              <a:gd name="adj" fmla="val 3425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5" descr="Burndown del Sprint 1: 6 tareas y subtareas que bajan de forma pareja y llegan a 0 el 17/09"/>
          <p:cNvPicPr preferRelativeResize="0"/>
          <p:nvPr/>
        </p:nvPicPr>
        <p:blipFill rotWithShape="1">
          <a:blip r:embed="rId3">
            <a:alphaModFix/>
          </a:blip>
          <a:srcRect t="-19" b="-19"/>
          <a:stretch/>
        </p:blipFill>
        <p:spPr>
          <a:xfrm>
            <a:off x="901700" y="1602680"/>
            <a:ext cx="5029200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812800" y="4434780"/>
            <a:ext cx="5337048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Burndown:</a:t>
            </a: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el 14/10 bajó de 8 a 1 al probar todo contra el backend.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03950" y="1520130"/>
            <a:ext cx="5168900" cy="2781300"/>
          </a:xfrm>
          <a:prstGeom prst="roundRect">
            <a:avLst>
              <a:gd name="adj" fmla="val 3425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5" descr="Burndown del Sprint 2: 26 tareas y subtareas; 25 pendientes hasta el 01/10 y luego 17, 13 y 0 entre el 02/10 y el 04/10"/>
          <p:cNvPicPr preferRelativeResize="0"/>
          <p:nvPr/>
        </p:nvPicPr>
        <p:blipFill rotWithShape="1">
          <a:blip r:embed="rId4">
            <a:alphaModFix/>
          </a:blip>
          <a:srcRect t="-19" b="-19"/>
          <a:stretch/>
        </p:blipFill>
        <p:spPr>
          <a:xfrm>
            <a:off x="6286500" y="1602680"/>
            <a:ext cx="5029200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6197600" y="4434780"/>
            <a:ext cx="5337048" cy="274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lang="en-US" sz="14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Power BI:</a:t>
            </a:r>
            <a:r>
              <a:rPr lang="en-US" sz="1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conectado a Oracle Cloud el 16/10.</a:t>
            </a:r>
            <a:endParaRPr sz="14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12800" y="4937621"/>
            <a:ext cx="10566400" cy="579041"/>
          </a:xfrm>
          <a:prstGeom prst="roundRect">
            <a:avLst>
              <a:gd name="adj" fmla="val 13160"/>
            </a:avLst>
          </a:prstGeom>
          <a:solidFill>
            <a:srgbClr val="E3EDFA"/>
          </a:solidFill>
          <a:ln>
            <a:noFill/>
          </a:ln>
        </p:spPr>
        <p:txBody>
          <a:bodyPr spcFirstLastPara="1" wrap="square" lIns="180875" tIns="130075" rIns="0" bIns="104675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Pruebas:</a:t>
            </a:r>
            <a:r>
              <a:rPr lang="en-US" sz="1600" b="0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 26 de 26 casos de pantallas OK en Android y navegador; API 95 de 97 OK, sin fallas.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Sprint 3: lo que hizo cada uno</a:t>
            </a:r>
            <a:endParaRPr sz="3200"/>
          </a:p>
        </p:txBody>
      </p:sp>
      <p:sp>
        <p:nvSpPr>
          <p:cNvPr id="121" name="Google Shape;121;p6"/>
          <p:cNvSpPr/>
          <p:nvPr/>
        </p:nvSpPr>
        <p:spPr>
          <a:xfrm>
            <a:off x="819150" y="1520130"/>
            <a:ext cx="3373934" cy="3394770"/>
          </a:xfrm>
          <a:prstGeom prst="roundRect">
            <a:avLst>
              <a:gd name="adj" fmla="val 3027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054100" y="1755080"/>
            <a:ext cx="2991155" cy="29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Carlos Román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054100" y="2054721"/>
            <a:ext cx="2991155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App móvil y panel web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4100" y="2395041"/>
            <a:ext cx="2991155" cy="69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las 7 partes de la app y del panel: login, bahías, reserva, QR, historial, racks, usuarios y más.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54100" y="3190577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Probado: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las 26 pruebas del sprint el 14/10, todas OK.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54100" y="3763268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Sigue: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subir el código final a GitHub y empaquetar la app (Sprint 4).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408984" y="1520130"/>
            <a:ext cx="3374033" cy="3394770"/>
          </a:xfrm>
          <a:prstGeom prst="roundRect">
            <a:avLst>
              <a:gd name="adj" fmla="val 3027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643934" y="1755080"/>
            <a:ext cx="2991257" cy="29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Felipe Vidal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643934" y="2054721"/>
            <a:ext cx="2991257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Backend e integración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643934" y="2395041"/>
            <a:ext cx="2991257" cy="69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integración de la app y el panel con el backend y la base de datos.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43934" y="3190577"/>
            <a:ext cx="2991257" cy="47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Probado: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HU-01 a HU-03 cerradas; regresión de la API sin fallas.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643934" y="3763268"/>
            <a:ext cx="2991257" cy="69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Sigue: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pruebas de integración del Sprint 4.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998916" y="1520130"/>
            <a:ext cx="3373934" cy="3394770"/>
          </a:xfrm>
          <a:prstGeom prst="roundRect">
            <a:avLst>
              <a:gd name="adj" fmla="val 3027"/>
            </a:avLst>
          </a:prstGeom>
          <a:solidFill>
            <a:srgbClr val="FCFCFB"/>
          </a:solidFill>
          <a:ln w="12700" cap="flat" cmpd="sng">
            <a:solidFill>
              <a:srgbClr val="DCDD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233866" y="1755080"/>
            <a:ext cx="2991155" cy="29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lang="en-US" sz="18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Crisler Romero</a:t>
            </a:r>
            <a:endParaRPr sz="18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233866" y="2054721"/>
            <a:ext cx="2991155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Datos y Power BI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233866" y="2395041"/>
            <a:ext cx="2991155" cy="916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datos de prueba fuera de las vistas (13/10) y Power BI conectado a Oracle Cloud (16/10).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233866" y="3413423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Además:</a:t>
            </a:r>
            <a:r>
              <a:rPr lang="en-US" sz="13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corrigió DEF-03 y DEF-04 en el backend (11/10).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33866" y="3986113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lang="en-US" sz="1300" b="1" i="0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Sigue: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panel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completo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de Power BI y dashboards </a:t>
            </a:r>
            <a:r>
              <a:rPr lang="en-US" sz="1300" b="0" i="0" u="none" strike="noStrike" cap="none" dirty="0" err="1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300" b="0" i="0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el panel web (HU-05 y HU-11).</a:t>
            </a:r>
            <a:endParaRPr sz="1300" b="0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lang="en-US" sz="3200" b="1" i="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Riesgos y qué hacemos</a:t>
            </a:r>
            <a:endParaRPr sz="3200"/>
          </a:p>
        </p:txBody>
      </p:sp>
      <p:sp>
        <p:nvSpPr>
          <p:cNvPr id="145" name="Google Shape;145;p7"/>
          <p:cNvSpPr/>
          <p:nvPr/>
        </p:nvSpPr>
        <p:spPr>
          <a:xfrm>
            <a:off x="812800" y="1513780"/>
            <a:ext cx="11430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Probabilidad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62000" y="2174180"/>
            <a:ext cx="86360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Alta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752600" y="18185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F2C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2819400" y="18185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E567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886200" y="18185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E567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245173" y="2123380"/>
            <a:ext cx="297954" cy="342900"/>
          </a:xfrm>
          <a:custGeom>
            <a:avLst/>
            <a:gdLst/>
            <a:ahLst/>
            <a:cxnLst/>
            <a:rect l="l" t="t" r="r" b="b"/>
            <a:pathLst>
              <a:path w="297954" h="342900" extrusionOk="0">
                <a:moveTo>
                  <a:pt x="148977" y="0"/>
                </a:moveTo>
                <a:lnTo>
                  <a:pt x="148977" y="0"/>
                </a:lnTo>
                <a:cubicBezTo>
                  <a:pt x="188488" y="0"/>
                  <a:pt x="226381" y="15696"/>
                  <a:pt x="254320" y="43634"/>
                </a:cubicBezTo>
                <a:cubicBezTo>
                  <a:pt x="282258" y="71573"/>
                  <a:pt x="297954" y="109466"/>
                  <a:pt x="297954" y="148977"/>
                </a:cubicBezTo>
                <a:lnTo>
                  <a:pt x="297954" y="193923"/>
                </a:lnTo>
                <a:cubicBezTo>
                  <a:pt x="297954" y="276201"/>
                  <a:pt x="231255" y="342900"/>
                  <a:pt x="148977" y="342900"/>
                </a:cubicBezTo>
                <a:lnTo>
                  <a:pt x="148977" y="342900"/>
                </a:lnTo>
                <a:cubicBezTo>
                  <a:pt x="66699" y="342900"/>
                  <a:pt x="0" y="276201"/>
                  <a:pt x="0" y="193923"/>
                </a:cubicBezTo>
                <a:lnTo>
                  <a:pt x="0" y="148977"/>
                </a:lnTo>
                <a:cubicBezTo>
                  <a:pt x="0" y="66699"/>
                  <a:pt x="66699" y="0"/>
                  <a:pt x="148977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62000" y="3177480"/>
            <a:ext cx="86360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Media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752600" y="28218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7BC6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819400" y="28218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F2C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947690" y="3126680"/>
            <a:ext cx="343495" cy="342900"/>
          </a:xfrm>
          <a:custGeom>
            <a:avLst/>
            <a:gdLst/>
            <a:ahLst/>
            <a:cxnLst/>
            <a:rect l="l" t="t" r="r" b="b"/>
            <a:pathLst>
              <a:path w="343495" h="342900" extrusionOk="0">
                <a:moveTo>
                  <a:pt x="171450" y="0"/>
                </a:moveTo>
                <a:lnTo>
                  <a:pt x="172045" y="0"/>
                </a:lnTo>
                <a:cubicBezTo>
                  <a:pt x="217516" y="0"/>
                  <a:pt x="261125" y="18063"/>
                  <a:pt x="293278" y="50217"/>
                </a:cubicBezTo>
                <a:cubicBezTo>
                  <a:pt x="325432" y="82370"/>
                  <a:pt x="343495" y="125979"/>
                  <a:pt x="343495" y="171450"/>
                </a:cubicBezTo>
                <a:lnTo>
                  <a:pt x="343495" y="171450"/>
                </a:lnTo>
                <a:cubicBezTo>
                  <a:pt x="343495" y="266139"/>
                  <a:pt x="266734" y="342900"/>
                  <a:pt x="172045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354685" y="3126680"/>
            <a:ext cx="352425" cy="342900"/>
          </a:xfrm>
          <a:custGeom>
            <a:avLst/>
            <a:gdLst/>
            <a:ahLst/>
            <a:cxnLst/>
            <a:rect l="l" t="t" r="r" b="b"/>
            <a:pathLst>
              <a:path w="352425" h="342900" extrusionOk="0">
                <a:moveTo>
                  <a:pt x="171450" y="0"/>
                </a:moveTo>
                <a:lnTo>
                  <a:pt x="180975" y="0"/>
                </a:lnTo>
                <a:cubicBezTo>
                  <a:pt x="226446" y="0"/>
                  <a:pt x="270055" y="18063"/>
                  <a:pt x="302208" y="50217"/>
                </a:cubicBezTo>
                <a:cubicBezTo>
                  <a:pt x="334362" y="82370"/>
                  <a:pt x="352425" y="125979"/>
                  <a:pt x="352425" y="171450"/>
                </a:cubicBezTo>
                <a:lnTo>
                  <a:pt x="352425" y="171450"/>
                </a:lnTo>
                <a:cubicBezTo>
                  <a:pt x="352425" y="266139"/>
                  <a:pt x="275664" y="342900"/>
                  <a:pt x="180975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886200" y="28218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E567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224933" y="3126680"/>
            <a:ext cx="338534" cy="342900"/>
          </a:xfrm>
          <a:custGeom>
            <a:avLst/>
            <a:gdLst/>
            <a:ahLst/>
            <a:cxnLst/>
            <a:rect l="l" t="t" r="r" b="b"/>
            <a:pathLst>
              <a:path w="338534" h="342900" extrusionOk="0">
                <a:moveTo>
                  <a:pt x="169267" y="0"/>
                </a:moveTo>
                <a:lnTo>
                  <a:pt x="169267" y="0"/>
                </a:lnTo>
                <a:cubicBezTo>
                  <a:pt x="214159" y="0"/>
                  <a:pt x="257213" y="17833"/>
                  <a:pt x="288957" y="49577"/>
                </a:cubicBezTo>
                <a:cubicBezTo>
                  <a:pt x="320701" y="81321"/>
                  <a:pt x="338534" y="124375"/>
                  <a:pt x="338534" y="169267"/>
                </a:cubicBezTo>
                <a:lnTo>
                  <a:pt x="338534" y="173633"/>
                </a:lnTo>
                <a:cubicBezTo>
                  <a:pt x="338534" y="267117"/>
                  <a:pt x="262751" y="342900"/>
                  <a:pt x="169267" y="342900"/>
                </a:cubicBezTo>
                <a:lnTo>
                  <a:pt x="169267" y="342900"/>
                </a:lnTo>
                <a:cubicBezTo>
                  <a:pt x="75783" y="342900"/>
                  <a:pt x="0" y="267117"/>
                  <a:pt x="0" y="173633"/>
                </a:cubicBezTo>
                <a:lnTo>
                  <a:pt x="0" y="169267"/>
                </a:lnTo>
                <a:cubicBezTo>
                  <a:pt x="0" y="75783"/>
                  <a:pt x="75783" y="0"/>
                  <a:pt x="169267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62000" y="4180780"/>
            <a:ext cx="863600" cy="6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Baja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752600" y="38251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7BC6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087066" y="4129980"/>
            <a:ext cx="346968" cy="342900"/>
          </a:xfrm>
          <a:custGeom>
            <a:avLst/>
            <a:gdLst/>
            <a:ahLst/>
            <a:cxnLst/>
            <a:rect l="l" t="t" r="r" b="b"/>
            <a:pathLst>
              <a:path w="346968" h="342900" extrusionOk="0">
                <a:moveTo>
                  <a:pt x="171450" y="0"/>
                </a:moveTo>
                <a:lnTo>
                  <a:pt x="175518" y="0"/>
                </a:lnTo>
                <a:cubicBezTo>
                  <a:pt x="220989" y="0"/>
                  <a:pt x="264598" y="18063"/>
                  <a:pt x="296751" y="50217"/>
                </a:cubicBezTo>
                <a:cubicBezTo>
                  <a:pt x="328905" y="82370"/>
                  <a:pt x="346968" y="125979"/>
                  <a:pt x="346968" y="171450"/>
                </a:cubicBezTo>
                <a:lnTo>
                  <a:pt x="346968" y="171450"/>
                </a:lnTo>
                <a:cubicBezTo>
                  <a:pt x="346968" y="266139"/>
                  <a:pt x="270207" y="342900"/>
                  <a:pt x="175518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lang="en-US" sz="15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819400" y="38251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7BC6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886200" y="3825180"/>
            <a:ext cx="1016000" cy="952500"/>
          </a:xfrm>
          <a:prstGeom prst="roundRect">
            <a:avLst>
              <a:gd name="adj" fmla="val 6667"/>
            </a:avLst>
          </a:prstGeom>
          <a:solidFill>
            <a:srgbClr val="F2C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727200" y="482848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Bajo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794000" y="482848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Medio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860800" y="482848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Alto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705356" y="5133280"/>
            <a:ext cx="3244088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1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Impacto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752600" y="546596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7BC67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032000" y="5448201"/>
            <a:ext cx="36266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Bajo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435820" y="546596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F2CF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715220" y="5448201"/>
            <a:ext cx="524708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Medio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254077" y="5465961"/>
            <a:ext cx="177800" cy="177800"/>
          </a:xfrm>
          <a:prstGeom prst="roundRect">
            <a:avLst>
              <a:gd name="adj" fmla="val 21429"/>
            </a:avLst>
          </a:prstGeom>
          <a:solidFill>
            <a:srgbClr val="E567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533477" y="5448201"/>
            <a:ext cx="339804" cy="23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Alto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308600" y="1513780"/>
            <a:ext cx="263327" cy="281880"/>
          </a:xfrm>
          <a:custGeom>
            <a:avLst/>
            <a:gdLst/>
            <a:ahLst/>
            <a:cxnLst/>
            <a:rect l="l" t="t" r="r" b="b"/>
            <a:pathLst>
              <a:path w="263327" h="281880" extrusionOk="0">
                <a:moveTo>
                  <a:pt x="131663" y="0"/>
                </a:moveTo>
                <a:lnTo>
                  <a:pt x="131663" y="0"/>
                </a:lnTo>
                <a:cubicBezTo>
                  <a:pt x="166582" y="0"/>
                  <a:pt x="200071" y="13872"/>
                  <a:pt x="224763" y="38563"/>
                </a:cubicBezTo>
                <a:cubicBezTo>
                  <a:pt x="249454" y="63255"/>
                  <a:pt x="263326" y="96744"/>
                  <a:pt x="263326" y="131663"/>
                </a:cubicBezTo>
                <a:lnTo>
                  <a:pt x="263327" y="150217"/>
                </a:lnTo>
                <a:cubicBezTo>
                  <a:pt x="263327" y="222932"/>
                  <a:pt x="204379" y="281880"/>
                  <a:pt x="131664" y="281880"/>
                </a:cubicBezTo>
                <a:lnTo>
                  <a:pt x="131663" y="281880"/>
                </a:lnTo>
                <a:cubicBezTo>
                  <a:pt x="58948" y="281880"/>
                  <a:pt x="0" y="222932"/>
                  <a:pt x="0" y="150217"/>
                </a:cubicBezTo>
                <a:lnTo>
                  <a:pt x="0" y="131663"/>
                </a:lnTo>
                <a:cubicBezTo>
                  <a:pt x="0" y="58948"/>
                  <a:pt x="58948" y="0"/>
                  <a:pt x="131663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698927" y="1513780"/>
            <a:ext cx="5850682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Power BI: incrustar el informe en el panel web pide licencia de pago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698927" y="1753791"/>
            <a:ext cx="5850682" cy="43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alto. El instituto tiene bloqueado publicar en la web. Probar un tenant propio con licencia de prueba; plan B: mostrarlo desde Power BI Desktop.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308600" y="2304852"/>
            <a:ext cx="298549" cy="281880"/>
          </a:xfrm>
          <a:custGeom>
            <a:avLst/>
            <a:gdLst/>
            <a:ahLst/>
            <a:cxnLst/>
            <a:rect l="l" t="t" r="r" b="b"/>
            <a:pathLst>
              <a:path w="298549" h="281880" extrusionOk="0">
                <a:moveTo>
                  <a:pt x="140940" y="0"/>
                </a:moveTo>
                <a:lnTo>
                  <a:pt x="157609" y="0"/>
                </a:lnTo>
                <a:cubicBezTo>
                  <a:pt x="194989" y="0"/>
                  <a:pt x="230837" y="14849"/>
                  <a:pt x="257269" y="41280"/>
                </a:cubicBezTo>
                <a:cubicBezTo>
                  <a:pt x="283700" y="67712"/>
                  <a:pt x="298549" y="103560"/>
                  <a:pt x="298549" y="140940"/>
                </a:cubicBezTo>
                <a:lnTo>
                  <a:pt x="298549" y="140940"/>
                </a:lnTo>
                <a:cubicBezTo>
                  <a:pt x="298549" y="218779"/>
                  <a:pt x="235448" y="281880"/>
                  <a:pt x="157609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734149" y="2304852"/>
            <a:ext cx="5814402" cy="45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Sprint 4 corto: Power BI, pruebas y empaquetado, con la presentación de la Fase 2 (23/10) al medio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734149" y="2759472"/>
            <a:ext cx="5814402" cy="43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alto. Cada uno con su parte desde el 19/10: Power BI, pruebas de integración y empaquetado.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308600" y="3310533"/>
            <a:ext cx="302816" cy="281880"/>
          </a:xfrm>
          <a:custGeom>
            <a:avLst/>
            <a:gdLst/>
            <a:ahLst/>
            <a:cxnLst/>
            <a:rect l="l" t="t" r="r" b="b"/>
            <a:pathLst>
              <a:path w="302816" h="281880" extrusionOk="0">
                <a:moveTo>
                  <a:pt x="140940" y="0"/>
                </a:moveTo>
                <a:lnTo>
                  <a:pt x="161875" y="0"/>
                </a:lnTo>
                <a:cubicBezTo>
                  <a:pt x="199255" y="0"/>
                  <a:pt x="235103" y="14849"/>
                  <a:pt x="261535" y="41280"/>
                </a:cubicBezTo>
                <a:cubicBezTo>
                  <a:pt x="287966" y="67712"/>
                  <a:pt x="302815" y="103560"/>
                  <a:pt x="302815" y="140940"/>
                </a:cubicBezTo>
                <a:lnTo>
                  <a:pt x="302816" y="140940"/>
                </a:lnTo>
                <a:cubicBezTo>
                  <a:pt x="302816" y="218779"/>
                  <a:pt x="239715" y="281880"/>
                  <a:pt x="161876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738416" y="3310533"/>
            <a:ext cx="5810008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El código aún no está completo en GitHub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738416" y="3550543"/>
            <a:ext cx="5810008" cy="23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medio. Subir backend y frontend con la entrega del 17/10.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308600" y="3895923"/>
            <a:ext cx="310555" cy="281880"/>
          </a:xfrm>
          <a:custGeom>
            <a:avLst/>
            <a:gdLst/>
            <a:ahLst/>
            <a:cxnLst/>
            <a:rect l="l" t="t" r="r" b="b"/>
            <a:pathLst>
              <a:path w="310555" h="281880" extrusionOk="0">
                <a:moveTo>
                  <a:pt x="140940" y="0"/>
                </a:moveTo>
                <a:lnTo>
                  <a:pt x="169614" y="0"/>
                </a:lnTo>
                <a:cubicBezTo>
                  <a:pt x="206994" y="0"/>
                  <a:pt x="242842" y="14849"/>
                  <a:pt x="269274" y="41280"/>
                </a:cubicBezTo>
                <a:cubicBezTo>
                  <a:pt x="295705" y="67712"/>
                  <a:pt x="310554" y="103560"/>
                  <a:pt x="310554" y="140940"/>
                </a:cubicBezTo>
                <a:lnTo>
                  <a:pt x="310555" y="140940"/>
                </a:lnTo>
                <a:cubicBezTo>
                  <a:pt x="310555" y="218779"/>
                  <a:pt x="247454" y="281880"/>
                  <a:pt x="169615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746155" y="3895923"/>
            <a:ext cx="5802037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Jira se sigue moviendo tarde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746155" y="4135934"/>
            <a:ext cx="5802037" cy="23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medio. Revisar el tablero al final de cada día de trabajo.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308600" y="4481314"/>
            <a:ext cx="305792" cy="281880"/>
          </a:xfrm>
          <a:custGeom>
            <a:avLst/>
            <a:gdLst/>
            <a:ahLst/>
            <a:cxnLst/>
            <a:rect l="l" t="t" r="r" b="b"/>
            <a:pathLst>
              <a:path w="305792" h="281880" extrusionOk="0">
                <a:moveTo>
                  <a:pt x="140940" y="0"/>
                </a:moveTo>
                <a:lnTo>
                  <a:pt x="164852" y="0"/>
                </a:lnTo>
                <a:cubicBezTo>
                  <a:pt x="202232" y="0"/>
                  <a:pt x="238080" y="14849"/>
                  <a:pt x="264512" y="41280"/>
                </a:cubicBezTo>
                <a:cubicBezTo>
                  <a:pt x="290943" y="67712"/>
                  <a:pt x="305792" y="103560"/>
                  <a:pt x="305792" y="140940"/>
                </a:cubicBezTo>
                <a:lnTo>
                  <a:pt x="305792" y="140940"/>
                </a:lnTo>
                <a:cubicBezTo>
                  <a:pt x="305792" y="218779"/>
                  <a:pt x="242691" y="281880"/>
                  <a:pt x="164852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741392" y="4481314"/>
            <a:ext cx="5806942" cy="2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lang="en-US" sz="1300" b="1" i="0" u="none" strike="noStrike" cap="non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Ventana de reserva sin definir (hoy 15 minutos)</a:t>
            </a:r>
            <a:endParaRPr sz="13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741392" y="4721324"/>
            <a:ext cx="5806942" cy="231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bajo. Decidirla al inicio del Sprint 4; es un parámetro y el cambio es rápido.</a:t>
            </a:r>
            <a:endParaRPr sz="12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>
            <a:spLocks noGrp="1"/>
          </p:cNvSpPr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DM Sans"/>
              <a:buNone/>
            </a:pPr>
            <a:r>
              <a:rPr lang="en-US" sz="3200" b="1" i="0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Próximos pasos</a:t>
            </a:r>
            <a:endParaRPr sz="3200"/>
          </a:p>
        </p:txBody>
      </p:sp>
      <p:cxnSp>
        <p:nvCxnSpPr>
          <p:cNvPr id="194" name="Google Shape;194;p8"/>
          <p:cNvCxnSpPr/>
          <p:nvPr/>
        </p:nvCxnSpPr>
        <p:spPr>
          <a:xfrm>
            <a:off x="812800" y="1520130"/>
            <a:ext cx="10566400" cy="0"/>
          </a:xfrm>
          <a:prstGeom prst="straightConnector1">
            <a:avLst/>
          </a:prstGeom>
          <a:noFill/>
          <a:ln w="12700" cap="flat" cmpd="sng">
            <a:solidFill>
              <a:srgbClr val="3A47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8"/>
          <p:cNvSpPr/>
          <p:nvPr/>
        </p:nvSpPr>
        <p:spPr>
          <a:xfrm>
            <a:off x="812800" y="1678880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17/10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971800" y="1678880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Entrega de la Fase 2 por AVA: documentos, evidencias y código en GitHub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7" name="Google Shape;197;p8"/>
          <p:cNvCxnSpPr/>
          <p:nvPr/>
        </p:nvCxnSpPr>
        <p:spPr>
          <a:xfrm>
            <a:off x="812800" y="2122091"/>
            <a:ext cx="10566400" cy="0"/>
          </a:xfrm>
          <a:prstGeom prst="straightConnector1">
            <a:avLst/>
          </a:prstGeom>
          <a:noFill/>
          <a:ln w="12700" cap="flat" cmpd="sng">
            <a:solidFill>
              <a:srgbClr val="3A47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8"/>
          <p:cNvSpPr/>
          <p:nvPr/>
        </p:nvSpPr>
        <p:spPr>
          <a:xfrm>
            <a:off x="812800" y="2280841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18/10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971800" y="2280841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Cierre del Sprint 3 y retrospectiva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812800" y="2724051"/>
            <a:ext cx="10566400" cy="0"/>
          </a:xfrm>
          <a:prstGeom prst="straightConnector1">
            <a:avLst/>
          </a:prstGeom>
          <a:noFill/>
          <a:ln w="12700" cap="flat" cmpd="sng">
            <a:solidFill>
              <a:srgbClr val="3A47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8"/>
          <p:cNvSpPr/>
          <p:nvPr/>
        </p:nvSpPr>
        <p:spPr>
          <a:xfrm>
            <a:off x="812800" y="2882801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19/10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971800" y="2882801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Parte el Sprint 4: panel completo de Power BI y prueba del tenant propio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812800" y="3326011"/>
            <a:ext cx="10566400" cy="0"/>
          </a:xfrm>
          <a:prstGeom prst="straightConnector1">
            <a:avLst/>
          </a:prstGeom>
          <a:noFill/>
          <a:ln w="12700" cap="flat" cmpd="sng">
            <a:solidFill>
              <a:srgbClr val="3A47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" name="Google Shape;204;p8"/>
          <p:cNvSpPr/>
          <p:nvPr/>
        </p:nvSpPr>
        <p:spPr>
          <a:xfrm>
            <a:off x="812800" y="3484761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23/10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971800" y="3484761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Presentación de la Fase 2 en sala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812800" y="3927971"/>
            <a:ext cx="10566400" cy="0"/>
          </a:xfrm>
          <a:prstGeom prst="straightConnector1">
            <a:avLst/>
          </a:prstGeom>
          <a:noFill/>
          <a:ln w="12700" cap="flat" cmpd="sng">
            <a:solidFill>
              <a:srgbClr val="3A476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8"/>
          <p:cNvCxnSpPr/>
          <p:nvPr/>
        </p:nvCxnSpPr>
        <p:spPr>
          <a:xfrm>
            <a:off x="812800" y="4793952"/>
            <a:ext cx="10566400" cy="0"/>
          </a:xfrm>
          <a:prstGeom prst="straightConnector1">
            <a:avLst/>
          </a:prstGeom>
          <a:noFill/>
          <a:ln w="12700" cap="flat" cmpd="sng">
            <a:solidFill>
              <a:srgbClr val="3A476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8"/>
          <p:cNvSpPr/>
          <p:nvPr/>
        </p:nvSpPr>
        <p:spPr>
          <a:xfrm>
            <a:off x="812800" y="4086721"/>
            <a:ext cx="1962150" cy="57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lang="en-US" sz="1600" b="1" i="0" u="none" strike="noStrike" cap="non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19/10 al 01/11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971800" y="4086721"/>
            <a:ext cx="8659622" cy="573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lang="en-US" sz="1600" b="0" i="0" u="none" strike="noStrike" cap="non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Sprint 4: Power BI en el panel web, pruebas de integración, app instalable y documentos finales</a:t>
            </a:r>
            <a:endParaRPr sz="160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niDock — Avance semanal Sprint 3">
  <a:themeElements>
    <a:clrScheme name="OmniDock — Avance semanal Sprint 3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2A78D6"/>
      </a:accent1>
      <a:accent2>
        <a:srgbClr val="7FB3F0"/>
      </a:accent2>
      <a:accent3>
        <a:srgbClr val="F2CF4A"/>
      </a:accent3>
      <a:accent4>
        <a:srgbClr val="E5675C"/>
      </a:accent4>
      <a:accent5>
        <a:srgbClr val="7BC67E"/>
      </a:accent5>
      <a:accent6>
        <a:srgbClr val="1B4F8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mniDock — Avance semanal Sprint 3">
  <a:themeElements>
    <a:clrScheme name="OmniDock — Avance semanal Sprint 3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2A78D6"/>
      </a:accent1>
      <a:accent2>
        <a:srgbClr val="7FB3F0"/>
      </a:accent2>
      <a:accent3>
        <a:srgbClr val="F2CF4A"/>
      </a:accent3>
      <a:accent4>
        <a:srgbClr val="E5675C"/>
      </a:accent4>
      <a:accent5>
        <a:srgbClr val="7BC67E"/>
      </a:accent5>
      <a:accent6>
        <a:srgbClr val="1B4F8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Office PowerPoint</Application>
  <PresentationFormat>Panorámica</PresentationFormat>
  <Paragraphs>158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DM Sans</vt:lpstr>
      <vt:lpstr>OmniDock — Avance semanal Sprint 3</vt:lpstr>
      <vt:lpstr>OmniDock</vt:lpstr>
      <vt:lpstr>Dónde estamos</vt:lpstr>
      <vt:lpstr>Roadmap del proyecto</vt:lpstr>
      <vt:lpstr>Burndown del proyecto</vt:lpstr>
      <vt:lpstr>Sprint 3: burndown y pruebas</vt:lpstr>
      <vt:lpstr>Sprint 3: lo que hizo cada uno</vt:lpstr>
      <vt:lpstr>Riesgos y qué hacemos</vt:lpstr>
      <vt:lpstr>Próximos pasos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FELIPE ROMAN SEPULVEDA</cp:lastModifiedBy>
  <cp:revision>1</cp:revision>
  <dcterms:created xsi:type="dcterms:W3CDTF">2026-10-09T20:04:40Z</dcterms:created>
  <dcterms:modified xsi:type="dcterms:W3CDTF">2026-10-23T02:21:46Z</dcterms:modified>
</cp:coreProperties>
</file>