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6858000" cx="12192000"/>
  <p:notesSz cx="6858000" cy="9144000"/>
  <p:embeddedFontLst>
    <p:embeddedFont>
      <p:font typeface="Inter Light"/>
      <p:regular r:id="rId17"/>
      <p:bold r:id="rId18"/>
      <p:italic r:id="rId19"/>
      <p:boldItalic r:id="rId20"/>
    </p:embeddedFont>
    <p:embeddedFont>
      <p:font typeface="Inter"/>
      <p:regular r:id="rId21"/>
      <p:bold r:id="rId22"/>
      <p:italic r:id="rId23"/>
      <p:boldItalic r:id="rId24"/>
    </p:embeddedFont>
    <p:embeddedFont>
      <p:font typeface="Outfit SemiBold"/>
      <p:regular r:id="rId25"/>
      <p:bold r:id="rId26"/>
    </p:embeddedFont>
    <p:embeddedFont>
      <p:font typeface="Inter Medium"/>
      <p:regular r:id="rId27"/>
      <p:bold r:id="rId28"/>
      <p:italic r:id="rId29"/>
      <p:boldItalic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31" roundtripDataSignature="AMtx7mj9thD4s4khcxzpH7x6TD6v+B+05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Light-boldItalic.fntdata"/><Relationship Id="rId22" Type="http://schemas.openxmlformats.org/officeDocument/2006/relationships/font" Target="fonts/Inter-bold.fntdata"/><Relationship Id="rId21" Type="http://schemas.openxmlformats.org/officeDocument/2006/relationships/font" Target="fonts/Inter-regular.fntdata"/><Relationship Id="rId24" Type="http://schemas.openxmlformats.org/officeDocument/2006/relationships/font" Target="fonts/Inter-boldItalic.fntdata"/><Relationship Id="rId23" Type="http://schemas.openxmlformats.org/officeDocument/2006/relationships/font" Target="fonts/Inter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OutfitSemiBold-bold.fntdata"/><Relationship Id="rId25" Type="http://schemas.openxmlformats.org/officeDocument/2006/relationships/font" Target="fonts/OutfitSemiBold-regular.fntdata"/><Relationship Id="rId28" Type="http://schemas.openxmlformats.org/officeDocument/2006/relationships/font" Target="fonts/InterMedium-bold.fntdata"/><Relationship Id="rId27" Type="http://schemas.openxmlformats.org/officeDocument/2006/relationships/font" Target="fonts/InterMedium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Medium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customschemas.google.com/relationships/presentationmetadata" Target="metadata"/><Relationship Id="rId30" Type="http://schemas.openxmlformats.org/officeDocument/2006/relationships/font" Target="fonts/InterMedium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InterLight-regular.fntdata"/><Relationship Id="rId16" Type="http://schemas.openxmlformats.org/officeDocument/2006/relationships/slide" Target="slides/slide11.xml"/><Relationship Id="rId19" Type="http://schemas.openxmlformats.org/officeDocument/2006/relationships/font" Target="fonts/InterLight-italic.fntdata"/><Relationship Id="rId18" Type="http://schemas.openxmlformats.org/officeDocument/2006/relationships/font" Target="fonts/InterLight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0" name="Google Shape;12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4" name="Google Shape;13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3" name="Google Shape;14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f411678773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2" name="Google Shape;152;g3f411678773_0_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41167877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8" name="Google Shape;158;g3f411678773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5" name="Google Shape;16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6" name="Google Shape;18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9" name="Google Shape;19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43A40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5.png"/><Relationship Id="rId6" Type="http://schemas.openxmlformats.org/officeDocument/2006/relationships/image" Target="../media/image9.png"/><Relationship Id="rId7" Type="http://schemas.openxmlformats.org/officeDocument/2006/relationships/image" Target="../media/image7.png"/><Relationship Id="rId8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2928912" y="4260928"/>
            <a:ext cx="63342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fontScale="92500"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0" i="0" lang="en-US" sz="1950" u="none" cap="none" strike="noStrike">
                <a:solidFill>
                  <a:srgbClr val="CBD5E1"/>
                </a:solidFill>
                <a:latin typeface="Inter Light"/>
                <a:ea typeface="Inter Light"/>
                <a:cs typeface="Inter Light"/>
                <a:sym typeface="Inter Light"/>
              </a:rPr>
              <a:t>Plataforma Transaccional de Gestión de</a:t>
            </a:r>
            <a:r>
              <a:rPr b="0" i="0" lang="en-US" sz="1950" u="none" cap="none" strike="noStrike">
                <a:solidFill>
                  <a:srgbClr val="94A3B8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b="0" i="0" lang="en-US" sz="1950" u="none" cap="none" strike="noStrike">
                <a:solidFill>
                  <a:srgbClr val="00A8E8"/>
                </a:solidFill>
                <a:latin typeface="Inter Light"/>
                <a:ea typeface="Inter Light"/>
                <a:cs typeface="Inter Light"/>
                <a:sym typeface="Inter Light"/>
              </a:rPr>
              <a:t>Micromovilidad</a:t>
            </a:r>
            <a:endParaRPr b="0" i="0" sz="1400" u="none" cap="none" strike="noStrike">
              <a:solidFill>
                <a:srgbClr val="00A8E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5" name="Google Shape;85;p1" title="Logo product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5775" y="1333275"/>
            <a:ext cx="2680500" cy="2680500"/>
          </a:xfrm>
          <a:prstGeom prst="roundRect">
            <a:avLst>
              <a:gd fmla="val 9297" name="adj"/>
            </a:avLst>
          </a:prstGeom>
          <a:noFill/>
          <a:ln>
            <a:noFill/>
          </a:ln>
        </p:spPr>
      </p:pic>
      <p:sp>
        <p:nvSpPr>
          <p:cNvPr id="86" name="Google Shape;86;p1"/>
          <p:cNvSpPr/>
          <p:nvPr/>
        </p:nvSpPr>
        <p:spPr>
          <a:xfrm>
            <a:off x="10521100" y="136575"/>
            <a:ext cx="1428600" cy="48450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55250" lIns="55250" spcFirstLastPara="1" rIns="55250" wrap="square" tIns="552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46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" name="Google Shape;87;p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562288" y="213353"/>
            <a:ext cx="1346196" cy="330945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"/>
          <p:cNvSpPr txBox="1"/>
          <p:nvPr/>
        </p:nvSpPr>
        <p:spPr>
          <a:xfrm>
            <a:off x="5122625" y="6139974"/>
            <a:ext cx="16956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CBD5E1"/>
                </a:solidFill>
                <a:latin typeface="Inter Medium"/>
                <a:ea typeface="Inter Medium"/>
                <a:cs typeface="Inter Medium"/>
                <a:sym typeface="Inter Medium"/>
              </a:rPr>
              <a:t>DESARROLLADO POR</a:t>
            </a:r>
            <a:endParaRPr>
              <a:solidFill>
                <a:srgbClr val="CBD5E1"/>
              </a:solidFill>
            </a:endParaRPr>
          </a:p>
        </p:txBody>
      </p:sp>
      <p:pic>
        <p:nvPicPr>
          <p:cNvPr id="89" name="Google Shape;89;p1" title="Logo Empresa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589481" y="6005938"/>
            <a:ext cx="429900" cy="429900"/>
          </a:xfrm>
          <a:prstGeom prst="roundRect">
            <a:avLst>
              <a:gd fmla="val 25866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8141500" y="2133588"/>
            <a:ext cx="3465900" cy="3505200"/>
          </a:xfrm>
          <a:prstGeom prst="roundRect">
            <a:avLst>
              <a:gd fmla="val 4876" name="adj"/>
            </a:avLst>
          </a:prstGeom>
          <a:solidFill>
            <a:srgbClr val="88888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"/>
          <p:cNvSpPr/>
          <p:nvPr/>
        </p:nvSpPr>
        <p:spPr>
          <a:xfrm>
            <a:off x="4363125" y="2133575"/>
            <a:ext cx="3465900" cy="3505200"/>
          </a:xfrm>
          <a:prstGeom prst="roundRect">
            <a:avLst>
              <a:gd fmla="val 4876" name="adj"/>
            </a:avLst>
          </a:prstGeom>
          <a:solidFill>
            <a:srgbClr val="88888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/>
          <p:nvPr/>
        </p:nvSpPr>
        <p:spPr>
          <a:xfrm>
            <a:off x="584750" y="2138350"/>
            <a:ext cx="3465900" cy="3505200"/>
          </a:xfrm>
          <a:prstGeom prst="roundRect">
            <a:avLst>
              <a:gd fmla="val 4876" name="adj"/>
            </a:avLst>
          </a:prstGeom>
          <a:solidFill>
            <a:srgbClr val="88888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97" name="Google Shape;9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41450" y="2528887"/>
            <a:ext cx="952500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2"/>
          <p:cNvSpPr txBox="1"/>
          <p:nvPr/>
        </p:nvSpPr>
        <p:spPr>
          <a:xfrm>
            <a:off x="1442591" y="3719512"/>
            <a:ext cx="1750218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Carlos Román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866775" y="4195762"/>
            <a:ext cx="2901999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Líder de Proyecto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&amp; Experiencia de Usuario (UI/UX)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00" name="Google Shape;100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19750" y="2528887"/>
            <a:ext cx="952500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2"/>
          <p:cNvSpPr txBox="1"/>
          <p:nvPr/>
        </p:nvSpPr>
        <p:spPr>
          <a:xfrm>
            <a:off x="5160883" y="3719512"/>
            <a:ext cx="1870233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Crisler Romero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4645074" y="4195762"/>
            <a:ext cx="2901999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Arquitectura de Datos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&amp; Especialista en Bases de Datos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03" name="Google Shape;103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398049" y="2528887"/>
            <a:ext cx="952500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"/>
          <p:cNvSpPr txBox="1"/>
          <p:nvPr/>
        </p:nvSpPr>
        <p:spPr>
          <a:xfrm>
            <a:off x="9139207" y="3719512"/>
            <a:ext cx="1470183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Felipe Vidal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8840837" y="4195762"/>
            <a:ext cx="20669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Desarrollador Backend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&amp; Integración de APIs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06" name="Google Shape;106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079575" y="2767012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7" name="Google Shape;107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86450" y="2767012"/>
            <a:ext cx="41910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8" name="Google Shape;108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574262" y="2767012"/>
            <a:ext cx="600075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571500" y="571500"/>
            <a:ext cx="11601450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75"/>
              <a:buFont typeface="Arial"/>
              <a:buNone/>
            </a:pPr>
            <a:r>
              <a:rPr b="0" i="0" lang="en-US" sz="3375" u="none" cap="none" strike="noStrike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Equipo de Desarrollo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/>
          <p:nvPr/>
        </p:nvSpPr>
        <p:spPr>
          <a:xfrm>
            <a:off x="762000" y="762000"/>
            <a:ext cx="5300662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75"/>
              <a:buFont typeface="Arial"/>
              <a:buNone/>
            </a:pPr>
            <a:r>
              <a:rPr b="0" i="0" lang="en-US" sz="3375" u="none" cap="none" strike="noStrike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El Contexto Actual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3"/>
          <p:cNvSpPr txBox="1"/>
          <p:nvPr/>
        </p:nvSpPr>
        <p:spPr>
          <a:xfrm>
            <a:off x="762000" y="2312193"/>
            <a:ext cx="5048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La movilidad sustentable crece rápidamente en recintos educacionales, pero la </a:t>
            </a:r>
            <a:r>
              <a:rPr b="0" i="0" lang="en-US" sz="1650" u="none" cap="none" strike="noStrike">
                <a:solidFill>
                  <a:srgbClr val="00A8E8"/>
                </a:solidFill>
                <a:latin typeface="Inter"/>
                <a:ea typeface="Inter"/>
                <a:cs typeface="Inter"/>
                <a:sym typeface="Inter"/>
              </a:rPr>
              <a:t>infraestructura tecnológica</a:t>
            </a:r>
            <a:r>
              <a:rPr b="0" i="0" lang="en-US" sz="16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se ha quedado rezagada.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3"/>
          <p:cNvSpPr txBox="1"/>
          <p:nvPr/>
        </p:nvSpPr>
        <p:spPr>
          <a:xfrm>
            <a:off x="762000" y="3651051"/>
            <a:ext cx="5048400" cy="187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Las instituciones enfrentan un aumento explosivo de bicicletas y scooters sin un sistema digital adecuado para gestionarlos, generando problemas logísticos, de seguridad y un uso ineficiente del espacio físico.</a:t>
            </a:r>
            <a:endParaRPr b="0" i="0" sz="1400" u="none" cap="none" strike="noStrike">
              <a:solidFill>
                <a:srgbClr val="CBD5E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7" name="Google Shape;117;p3" title="davinci_ilustraci_n_digital_minimalista_en_estilo_vector_c (1).png"/>
          <p:cNvPicPr preferRelativeResize="0"/>
          <p:nvPr/>
        </p:nvPicPr>
        <p:blipFill rotWithShape="1">
          <a:blip r:embed="rId3">
            <a:alphaModFix/>
          </a:blip>
          <a:srcRect b="0" l="11096" r="11096" t="0"/>
          <a:stretch/>
        </p:blipFill>
        <p:spPr>
          <a:xfrm>
            <a:off x="6855692" y="0"/>
            <a:ext cx="5336317" cy="6858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"/>
          <p:cNvSpPr txBox="1"/>
          <p:nvPr/>
        </p:nvSpPr>
        <p:spPr>
          <a:xfrm>
            <a:off x="857250" y="1833562"/>
            <a:ext cx="4953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El Usuario: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Sufre por la inseguridad y la incertidumbre diaria de no saber si habrá disponibilidad de estacionamiento.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4"/>
          <p:cNvSpPr txBox="1"/>
          <p:nvPr/>
        </p:nvSpPr>
        <p:spPr>
          <a:xfrm>
            <a:off x="857250" y="2938462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La Administración: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Opera a ciegas y reacciona de forma manual ante el caos logístico del recinto.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4"/>
          <p:cNvSpPr txBox="1"/>
          <p:nvPr/>
        </p:nvSpPr>
        <p:spPr>
          <a:xfrm>
            <a:off x="857250" y="3738562"/>
            <a:ext cx="4953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Falta de Datos: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Carencia de registros históricos transaccionales para justificar inversiones o planificar expansiones de infraestructura.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4"/>
          <p:cNvSpPr txBox="1"/>
          <p:nvPr/>
        </p:nvSpPr>
        <p:spPr>
          <a:xfrm>
            <a:off x="857250" y="4843462"/>
            <a:ext cx="4953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Vulnerabilidades: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El descontrol físico genera riesgos de robos y un uso ineficiente del espacio institucional.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" name="Google Shape;126;p4" title="davinci_ilustraci_n_digital_minimalista_en_estilo_vector_c.png"/>
          <p:cNvPicPr preferRelativeResize="0"/>
          <p:nvPr/>
        </p:nvPicPr>
        <p:blipFill rotWithShape="1">
          <a:blip r:embed="rId3">
            <a:alphaModFix/>
          </a:blip>
          <a:srcRect b="11861" l="0" r="0" t="11861"/>
          <a:stretch/>
        </p:blipFill>
        <p:spPr>
          <a:xfrm>
            <a:off x="6391275" y="1683053"/>
            <a:ext cx="5219700" cy="3981600"/>
          </a:xfrm>
          <a:prstGeom prst="roundRect">
            <a:avLst>
              <a:gd fmla="val 12177" name="adj"/>
            </a:avLst>
          </a:prstGeom>
          <a:noFill/>
          <a:ln cap="flat" cmpd="sng" w="28575">
            <a:solidFill>
              <a:srgbClr val="38BDF8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27" name="Google Shape;127;p4"/>
          <p:cNvSpPr txBox="1"/>
          <p:nvPr/>
        </p:nvSpPr>
        <p:spPr>
          <a:xfrm>
            <a:off x="571500" y="1833562"/>
            <a:ext cx="190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0A8E8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 b="0" i="0" sz="1400" u="none" cap="none" strike="noStrike">
              <a:solidFill>
                <a:srgbClr val="00A8E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4"/>
          <p:cNvSpPr txBox="1"/>
          <p:nvPr/>
        </p:nvSpPr>
        <p:spPr>
          <a:xfrm>
            <a:off x="571500" y="2938462"/>
            <a:ext cx="190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0A8E8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 b="0" i="0" sz="1400" u="none" cap="none" strike="noStrike">
              <a:solidFill>
                <a:srgbClr val="00A8E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4"/>
          <p:cNvSpPr txBox="1"/>
          <p:nvPr/>
        </p:nvSpPr>
        <p:spPr>
          <a:xfrm>
            <a:off x="571500" y="3738562"/>
            <a:ext cx="190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0A8E8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 b="0" i="0" sz="1400" u="none" cap="none" strike="noStrike">
              <a:solidFill>
                <a:srgbClr val="00A8E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4"/>
          <p:cNvSpPr txBox="1"/>
          <p:nvPr/>
        </p:nvSpPr>
        <p:spPr>
          <a:xfrm>
            <a:off x="571500" y="4843462"/>
            <a:ext cx="190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0A8E8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 b="0" i="0" sz="1400" u="none" cap="none" strike="noStrike">
              <a:solidFill>
                <a:srgbClr val="00A8E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4"/>
          <p:cNvSpPr txBox="1"/>
          <p:nvPr/>
        </p:nvSpPr>
        <p:spPr>
          <a:xfrm>
            <a:off x="571500" y="571500"/>
            <a:ext cx="11601450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75"/>
              <a:buFont typeface="Arial"/>
              <a:buNone/>
            </a:pPr>
            <a:r>
              <a:rPr b="0" i="0" lang="en-US" sz="3375" u="none" cap="none" strike="noStrike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El Dolor Dual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"/>
          <p:cNvSpPr txBox="1"/>
          <p:nvPr/>
        </p:nvSpPr>
        <p:spPr>
          <a:xfrm>
            <a:off x="6381750" y="2443162"/>
            <a:ext cx="5500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00A8E8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Experiencia sin fricciones</a:t>
            </a:r>
            <a:endParaRPr b="0" i="0" sz="1400" u="none" cap="none" strike="noStrike">
              <a:solidFill>
                <a:srgbClr val="00A8E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5"/>
          <p:cNvSpPr txBox="1"/>
          <p:nvPr/>
        </p:nvSpPr>
        <p:spPr>
          <a:xfrm>
            <a:off x="6381750" y="2919412"/>
            <a:ext cx="523875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Imagina a Matías, un estudiante que llega apurado. Desde su teléfono, revisa la disponibilidad en </a:t>
            </a: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tiempo real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5"/>
          <p:cNvSpPr txBox="1"/>
          <p:nvPr/>
        </p:nvSpPr>
        <p:spPr>
          <a:xfrm>
            <a:off x="6381750" y="3976687"/>
            <a:ext cx="523875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Al llegar, escanea su credencial institucional. En segundos, el sistema valida su identidad, le asigna una bahía y destraba el anclaje físico. Matías entra a clases con la certeza de que su vehículo quedó resguardado.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5"/>
          <p:cNvSpPr txBox="1"/>
          <p:nvPr/>
        </p:nvSpPr>
        <p:spPr>
          <a:xfrm>
            <a:off x="571500" y="571500"/>
            <a:ext cx="11601450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75"/>
              <a:buFont typeface="Arial"/>
              <a:buNone/>
            </a:pPr>
            <a:r>
              <a:rPr b="0" i="0" lang="en-US" sz="3375" u="none" cap="none" strike="noStrike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La Solución: El Usuario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0" name="Google Shape;140;p5" title="davinci_ilustraci_n_digital_minimalista_en_estilo_vector_c (2).png"/>
          <p:cNvPicPr preferRelativeResize="0"/>
          <p:nvPr/>
        </p:nvPicPr>
        <p:blipFill rotWithShape="1">
          <a:blip r:embed="rId3">
            <a:alphaModFix/>
          </a:blip>
          <a:srcRect b="0" l="110" r="110" t="0"/>
          <a:stretch/>
        </p:blipFill>
        <p:spPr>
          <a:xfrm>
            <a:off x="1104025" y="1982650"/>
            <a:ext cx="3884400" cy="3893100"/>
          </a:xfrm>
          <a:prstGeom prst="ellipse">
            <a:avLst/>
          </a:prstGeom>
          <a:noFill/>
          <a:ln cap="flat" cmpd="sng" w="38100">
            <a:solidFill>
              <a:srgbClr val="00A8E8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"/>
          <p:cNvSpPr txBox="1"/>
          <p:nvPr/>
        </p:nvSpPr>
        <p:spPr>
          <a:xfrm>
            <a:off x="571500" y="2290762"/>
            <a:ext cx="5500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00A8E8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Inteligencia Operativa</a:t>
            </a:r>
            <a:endParaRPr b="0" i="0" sz="1400" u="none" cap="none" strike="noStrike">
              <a:solidFill>
                <a:srgbClr val="00A8E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6"/>
          <p:cNvSpPr txBox="1"/>
          <p:nvPr/>
        </p:nvSpPr>
        <p:spPr>
          <a:xfrm>
            <a:off x="571500" y="2767012"/>
            <a:ext cx="52389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La verdadera magia ocurre detrás de escena. El ingreso de Matías no es solo una puerta que se abre; es una </a:t>
            </a: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transacción registrada de forma inmutable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6"/>
          <p:cNvSpPr txBox="1"/>
          <p:nvPr/>
        </p:nvSpPr>
        <p:spPr>
          <a:xfrm>
            <a:off x="571500" y="3824287"/>
            <a:ext cx="52389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El equipo visualiza el estado en tiempo real. Simultáneamente, el pipeline de datos alimenta los dashboards directivos. La gerencia obtiene métricas históricas precisas para detectar horarios punta y justificar inversiones.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6"/>
          <p:cNvSpPr txBox="1"/>
          <p:nvPr/>
        </p:nvSpPr>
        <p:spPr>
          <a:xfrm>
            <a:off x="571500" y="571500"/>
            <a:ext cx="11601600" cy="5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75"/>
              <a:buFont typeface="Arial"/>
              <a:buNone/>
            </a:pPr>
            <a:r>
              <a:rPr b="0" i="0" lang="en-US" sz="3375" u="none" cap="none" strike="noStrike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La Solución: La Institución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9" name="Google Shape;149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71150" y="1893712"/>
            <a:ext cx="5909100" cy="3939300"/>
          </a:xfrm>
          <a:prstGeom prst="roundRect">
            <a:avLst>
              <a:gd fmla="val 4524" name="adj"/>
            </a:avLst>
          </a:prstGeom>
          <a:noFill/>
          <a:ln cap="flat" cmpd="sng" w="28575">
            <a:solidFill>
              <a:srgbClr val="F8FAFC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f411678773_0_8"/>
          <p:cNvSpPr txBox="1"/>
          <p:nvPr/>
        </p:nvSpPr>
        <p:spPr>
          <a:xfrm>
            <a:off x="571500" y="1296925"/>
            <a:ext cx="10973100" cy="497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0A8E8"/>
                </a:solidFill>
                <a:latin typeface="Inter"/>
                <a:ea typeface="Inter"/>
                <a:cs typeface="Inter"/>
                <a:sym typeface="Inter"/>
              </a:rPr>
              <a:t>1. Relevancia para el Campo Laboral</a:t>
            </a:r>
            <a:endParaRPr b="1" i="0" sz="1500" u="none" cap="none" strike="noStrike">
              <a:solidFill>
                <a:srgbClr val="00A8E8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23850" lvl="0" marL="45720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Inter"/>
              <a:buChar char="●"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Solución Integral (End-to-End): Resuelve la desorganización de la micromovilidad institucional integrando hardware simulación IoT, backend robusto y diseño UI/UX en producción.</a:t>
            </a:r>
            <a:endParaRPr b="0" i="0" sz="1500" u="none" cap="none" strike="noStrike">
              <a:solidFill>
                <a:srgbClr val="CBD5E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23850" lvl="0" marL="45720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Inter"/>
              <a:buChar char="●"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Impacto Operativo Real: Transforma puntos de control físicos pasivos en activos inteligentes de datos, respondiendo a la demanda actual de digitalización operativa y automatización.</a:t>
            </a:r>
            <a:endParaRPr b="0" i="0" sz="1500" u="none" cap="none" strike="noStrike">
              <a:solidFill>
                <a:srgbClr val="CBD5E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0A8E8"/>
                </a:solidFill>
                <a:latin typeface="Inter"/>
                <a:ea typeface="Inter"/>
                <a:cs typeface="Inter"/>
                <a:sym typeface="Inter"/>
              </a:rPr>
              <a:t>2. Pertinencia con el Perfil de Egreso</a:t>
            </a:r>
            <a:endParaRPr b="1" i="0" sz="1500" u="none" cap="none" strike="noStrike">
              <a:solidFill>
                <a:srgbClr val="00A8E8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23850" lvl="0" marL="45720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Inter"/>
              <a:buChar char="●"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Ingeniería de Software y Arquitectura: Aplica el diseño e implementación de APIs RESTful escalables y la integración de sistemas distribuidos.</a:t>
            </a:r>
            <a:endParaRPr b="0" i="0" sz="1500" u="none" cap="none" strike="noStrike">
              <a:solidFill>
                <a:srgbClr val="CBD5E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23850" lvl="0" marL="45720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Inter"/>
              <a:buChar char="●"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Gestión de Datos y Analytics: Modela bases de datos relacionales transaccionales y ejecuta pipelines ETL para habilitar la toma de decisiones mediante Business Intelligence (Power BI).</a:t>
            </a:r>
            <a:endParaRPr b="0" i="0" sz="1500" u="none" cap="none" strike="noStrike">
              <a:solidFill>
                <a:srgbClr val="CBD5E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0A8E8"/>
                </a:solidFill>
                <a:latin typeface="Inter"/>
                <a:ea typeface="Inter"/>
                <a:cs typeface="Inter"/>
                <a:sym typeface="Inter"/>
              </a:rPr>
              <a:t>3. Relación con Intereses Profesionales</a:t>
            </a:r>
            <a:endParaRPr b="1" i="0" sz="1500" u="none" cap="none" strike="noStrike">
              <a:solidFill>
                <a:srgbClr val="00A8E8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23850" lvl="0" marL="45720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Inter"/>
              <a:buChar char="●"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Especialización Tecnológica: Desarrolla habilidades clave en analítica de datos, arquitectura de software orientada a microservicios/APIs y soluciones IoT de impacto urbano.</a:t>
            </a:r>
            <a:endParaRPr b="0" i="0" sz="1500" u="none" cap="none" strike="noStrike">
              <a:solidFill>
                <a:srgbClr val="CBD5E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23850" lvl="0" marL="457200" marR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rgbClr val="CBD5E1"/>
              </a:buClr>
              <a:buSzPts val="1500"/>
              <a:buFont typeface="Inter"/>
              <a:buChar char="●"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Innovación Aplicada: Satisface la motivación de liderar proyectos tecnológicos capaces de optimizar infraestructura física mediante soluciones digitales inteligentes.</a:t>
            </a:r>
            <a:endParaRPr b="0" i="0" sz="1500" u="none" cap="none" strike="noStrike">
              <a:solidFill>
                <a:srgbClr val="CBD5E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5" name="Google Shape;155;g3f411678773_0_8"/>
          <p:cNvSpPr txBox="1"/>
          <p:nvPr/>
        </p:nvSpPr>
        <p:spPr>
          <a:xfrm>
            <a:off x="571500" y="571500"/>
            <a:ext cx="116016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75"/>
              <a:buFont typeface="Arial"/>
              <a:buNone/>
            </a:pPr>
            <a:r>
              <a:rPr b="0" i="0" lang="en-US" sz="3375" u="none" cap="none" strike="noStrike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Justificación, Pertinencia e Intereses Profesionales </a:t>
            </a:r>
            <a:endParaRPr b="0" i="0" sz="3375" u="none" cap="none" strike="noStrike">
              <a:solidFill>
                <a:srgbClr val="F8FAFC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f411678773_0_0"/>
          <p:cNvSpPr txBox="1"/>
          <p:nvPr/>
        </p:nvSpPr>
        <p:spPr>
          <a:xfrm>
            <a:off x="3580685" y="1885950"/>
            <a:ext cx="5030700" cy="75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75"/>
              <a:buFont typeface="Arial"/>
              <a:buNone/>
            </a:pPr>
            <a:r>
              <a:rPr b="0" i="0" lang="en-US" sz="4875" u="none" cap="none" strike="noStrike">
                <a:solidFill>
                  <a:srgbClr val="00A8E8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Objetivo General</a:t>
            </a:r>
            <a:endParaRPr b="0" i="0" sz="1400" u="none" cap="none" strike="noStrike">
              <a:solidFill>
                <a:srgbClr val="00A8E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g3f411678773_0_0"/>
          <p:cNvSpPr txBox="1"/>
          <p:nvPr/>
        </p:nvSpPr>
        <p:spPr>
          <a:xfrm>
            <a:off x="1809750" y="3486150"/>
            <a:ext cx="8572500" cy="16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Desarrollar un sistema de software transaccional para la gestión de estacionamientos de micromovilidad, estructurado con una arquitectura preparada para la </a:t>
            </a:r>
            <a:r>
              <a:rPr b="0" i="0" lang="en-US" sz="1950" u="none" cap="none" strike="noStrike">
                <a:solidFill>
                  <a:srgbClr val="00A8E8"/>
                </a:solidFill>
                <a:latin typeface="Inter"/>
                <a:ea typeface="Inter"/>
                <a:cs typeface="Inter"/>
                <a:sym typeface="Inter"/>
              </a:rPr>
              <a:t>integración externa de hardware (IoT-ready)</a:t>
            </a:r>
            <a:r>
              <a:rPr b="0" i="0" lang="en-US" sz="19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mejorando el control de acceso y generando métricas operativas.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g3f411678773_0_0"/>
          <p:cNvSpPr/>
          <p:nvPr/>
        </p:nvSpPr>
        <p:spPr>
          <a:xfrm>
            <a:off x="5477850" y="3015300"/>
            <a:ext cx="1236300" cy="91800"/>
          </a:xfrm>
          <a:prstGeom prst="roundRect">
            <a:avLst>
              <a:gd fmla="val 50000" name="adj"/>
            </a:avLst>
          </a:prstGeom>
          <a:solidFill>
            <a:srgbClr val="00A8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128588" rotWithShape="0" algn="bl" dir="5160000" dist="47625">
              <a:srgbClr val="00FFFF">
                <a:alpha val="41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8"/>
          <p:cNvSpPr/>
          <p:nvPr/>
        </p:nvSpPr>
        <p:spPr>
          <a:xfrm>
            <a:off x="1333500" y="1300162"/>
            <a:ext cx="9525000" cy="1104900"/>
          </a:xfrm>
          <a:prstGeom prst="roundRect">
            <a:avLst>
              <a:gd fmla="val 10344" name="adj"/>
            </a:avLst>
          </a:prstGeom>
          <a:solidFill>
            <a:srgbClr val="1E293B"/>
          </a:solidFill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8"/>
          <p:cNvSpPr txBox="1"/>
          <p:nvPr/>
        </p:nvSpPr>
        <p:spPr>
          <a:xfrm>
            <a:off x="2000250" y="1538287"/>
            <a:ext cx="8572500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Modelo de Datos: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Diseñar un modelo relacional agnóstico que soporte la trazabilidad de eventos inmutables para distintos vehículos.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1333500" y="2595562"/>
            <a:ext cx="9525000" cy="1104900"/>
          </a:xfrm>
          <a:prstGeom prst="roundRect">
            <a:avLst>
              <a:gd fmla="val 10344" name="adj"/>
            </a:avLst>
          </a:prstGeom>
          <a:solidFill>
            <a:srgbClr val="1E293B"/>
          </a:solidFill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8"/>
          <p:cNvSpPr txBox="1"/>
          <p:nvPr/>
        </p:nvSpPr>
        <p:spPr>
          <a:xfrm>
            <a:off x="2000250" y="2833687"/>
            <a:ext cx="8572500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Desarrollo API: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Construir una API documentada como puente de comunicación para simuladores o dispositivos IoT reales.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8"/>
          <p:cNvSpPr/>
          <p:nvPr/>
        </p:nvSpPr>
        <p:spPr>
          <a:xfrm>
            <a:off x="1333500" y="3890962"/>
            <a:ext cx="9525000" cy="1104900"/>
          </a:xfrm>
          <a:prstGeom prst="roundRect">
            <a:avLst>
              <a:gd fmla="val 10344" name="adj"/>
            </a:avLst>
          </a:prstGeom>
          <a:solidFill>
            <a:srgbClr val="1E293B"/>
          </a:solidFill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8"/>
          <p:cNvSpPr txBox="1"/>
          <p:nvPr/>
        </p:nvSpPr>
        <p:spPr>
          <a:xfrm>
            <a:off x="2000250" y="4129087"/>
            <a:ext cx="8572500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Interfaz Institucional: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Desarrollar una UI/UX eficiente para la validación de accesos, monitoreo y gestión de espacios físicos.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1333500" y="5186362"/>
            <a:ext cx="9525000" cy="1104900"/>
          </a:xfrm>
          <a:prstGeom prst="roundRect">
            <a:avLst>
              <a:gd fmla="val 10344" name="adj"/>
            </a:avLst>
          </a:prstGeom>
          <a:solidFill>
            <a:srgbClr val="1E293B"/>
          </a:solidFill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8"/>
          <p:cNvSpPr txBox="1"/>
          <p:nvPr/>
        </p:nvSpPr>
        <p:spPr>
          <a:xfrm>
            <a:off x="2000250" y="5424487"/>
            <a:ext cx="8572500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Pipeline y Analítica: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Implementar un flujo de extracción de datos (ETL) hacia un dashboard directivo para visualizar tasas de ocupación.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1333500" y="2395537"/>
            <a:ext cx="952500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1333500" y="3690937"/>
            <a:ext cx="952500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1333500" y="4986337"/>
            <a:ext cx="952500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1333500" y="6281737"/>
            <a:ext cx="952500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79" name="Google Shape;17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1150" y="1714500"/>
            <a:ext cx="3048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0" name="Google Shape;180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81150" y="3009900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1" name="Google Shape;18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581150" y="4305300"/>
            <a:ext cx="333375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2" name="Google Shape;18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581150" y="5600700"/>
            <a:ext cx="26670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8"/>
          <p:cNvSpPr txBox="1"/>
          <p:nvPr/>
        </p:nvSpPr>
        <p:spPr>
          <a:xfrm>
            <a:off x="571500" y="376237"/>
            <a:ext cx="11601450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75"/>
              <a:buFont typeface="Arial"/>
              <a:buNone/>
            </a:pPr>
            <a:r>
              <a:rPr b="0" i="0" lang="en-US" sz="3375" u="none" cap="none" strike="noStrike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Objetivos Específicos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8" name="Google Shape;18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1900237"/>
            <a:ext cx="5238750" cy="398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9" name="Google Shape;18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750" y="1900237"/>
            <a:ext cx="5238750" cy="398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9"/>
          <p:cNvSpPr txBox="1"/>
          <p:nvPr/>
        </p:nvSpPr>
        <p:spPr>
          <a:xfrm>
            <a:off x="962025" y="2290762"/>
            <a:ext cx="468058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38BDF8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Enfoque Waterfall (Cascada)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9"/>
          <p:cNvSpPr txBox="1"/>
          <p:nvPr/>
        </p:nvSpPr>
        <p:spPr>
          <a:xfrm>
            <a:off x="962025" y="2767012"/>
            <a:ext cx="445770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Hemos seleccionado un enfoque tradicional secuencial como base estructural para la ingeniería del proyecto, garantizando que el diseño preceda a la ejecución.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9"/>
          <p:cNvSpPr txBox="1"/>
          <p:nvPr/>
        </p:nvSpPr>
        <p:spPr>
          <a:xfrm>
            <a:off x="962025" y="4287812"/>
            <a:ext cx="44577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Las etapas de Análisis (ERS) y Diseño (DAS) son innegociables antes de escribir la primera línea de código o levantar la base de datos.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9"/>
          <p:cNvSpPr txBox="1"/>
          <p:nvPr/>
        </p:nvSpPr>
        <p:spPr>
          <a:xfrm>
            <a:off x="6772275" y="2290762"/>
            <a:ext cx="468058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38BDF8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Justificación Estratégica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9"/>
          <p:cNvSpPr txBox="1"/>
          <p:nvPr/>
        </p:nvSpPr>
        <p:spPr>
          <a:xfrm>
            <a:off x="6772275" y="2767012"/>
            <a:ext cx="445770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En proyectos orientados a integraciones físicas (IoT) y sistemas transaccionales, los </a:t>
            </a:r>
            <a:r>
              <a:rPr b="1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contratos de las APIs</a:t>
            </a: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y el esquema relacional deben quedar estrictamente blindados.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9"/>
          <p:cNvSpPr txBox="1"/>
          <p:nvPr/>
        </p:nvSpPr>
        <p:spPr>
          <a:xfrm>
            <a:off x="6772275" y="4287812"/>
            <a:ext cx="4457700" cy="13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Definir estos límites por adelantado evita refactorizaciones masivas, asegura un QA sin ambigüedades y simula un entorno de integración realista.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9"/>
          <p:cNvSpPr txBox="1"/>
          <p:nvPr/>
        </p:nvSpPr>
        <p:spPr>
          <a:xfrm>
            <a:off x="571500" y="571500"/>
            <a:ext cx="11601450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75"/>
              <a:buFont typeface="Arial"/>
              <a:buNone/>
            </a:pPr>
            <a:r>
              <a:rPr b="0" i="0" lang="en-US" sz="3375" u="none" cap="none" strike="noStrike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Metodología de Desarrollo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"/>
          <p:cNvSpPr txBox="1"/>
          <p:nvPr/>
        </p:nvSpPr>
        <p:spPr>
          <a:xfrm>
            <a:off x="295275" y="2106959"/>
            <a:ext cx="11601450" cy="1076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50"/>
              <a:buFont typeface="Arial"/>
              <a:buNone/>
            </a:pPr>
            <a:r>
              <a:rPr b="0" i="0" lang="en-US" sz="6750" u="none" cap="none" strike="noStrike">
                <a:solidFill>
                  <a:srgbClr val="38BDF8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¿Preguntas?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10"/>
          <p:cNvSpPr txBox="1"/>
          <p:nvPr/>
        </p:nvSpPr>
        <p:spPr>
          <a:xfrm>
            <a:off x="571500" y="3373784"/>
            <a:ext cx="11049000" cy="4266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Gracias por su atención.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10"/>
          <p:cNvSpPr txBox="1"/>
          <p:nvPr/>
        </p:nvSpPr>
        <p:spPr>
          <a:xfrm>
            <a:off x="571500" y="4181475"/>
            <a:ext cx="11049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38BDF8"/>
                </a:solidFill>
                <a:latin typeface="Inter Medium"/>
                <a:ea typeface="Inter Medium"/>
                <a:cs typeface="Inter Medium"/>
                <a:sym typeface="Inter Medium"/>
              </a:rPr>
              <a:t>OmniDock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10"/>
          <p:cNvSpPr txBox="1"/>
          <p:nvPr/>
        </p:nvSpPr>
        <p:spPr>
          <a:xfrm>
            <a:off x="5122625" y="6139974"/>
            <a:ext cx="16956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CBD5E1"/>
                </a:solidFill>
                <a:latin typeface="Inter Medium"/>
                <a:ea typeface="Inter Medium"/>
                <a:cs typeface="Inter Medium"/>
                <a:sym typeface="Inter Medium"/>
              </a:rPr>
              <a:t>DESARROLLADO POR</a:t>
            </a:r>
            <a:endParaRPr>
              <a:solidFill>
                <a:srgbClr val="CBD5E1"/>
              </a:solidFill>
            </a:endParaRPr>
          </a:p>
        </p:txBody>
      </p:sp>
      <p:pic>
        <p:nvPicPr>
          <p:cNvPr id="205" name="Google Shape;205;p10" title="Logo Empres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89481" y="6005938"/>
            <a:ext cx="429900" cy="429900"/>
          </a:xfrm>
          <a:prstGeom prst="roundRect">
            <a:avLst>
              <a:gd fmla="val 25866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A8E8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