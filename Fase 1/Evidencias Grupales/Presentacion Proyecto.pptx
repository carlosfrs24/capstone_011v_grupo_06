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Light" panose="020B0604020202020204" charset="0"/>
      <p:regular r:id="rId18"/>
      <p:bold r:id="rId19"/>
      <p:italic r:id="rId20"/>
      <p:boldItalic r:id="rId21"/>
    </p:embeddedFont>
    <p:embeddedFont>
      <p:font typeface="Inter Medium" panose="020B0604020202020204" charset="0"/>
      <p:regular r:id="rId22"/>
      <p:bold r:id="rId23"/>
      <p:italic r:id="rId24"/>
      <p:boldItalic r:id="rId25"/>
    </p:embeddedFont>
    <p:embeddedFont>
      <p:font typeface="Outfit SemiBold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j9thD4s4khcxzpH7x6TD6v+B+0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41167877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g3f41167877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41167877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8" name="Google Shape;158;g3f41167877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5" name="Google Shape;1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A4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928912" y="4260928"/>
            <a:ext cx="63342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950" b="0" i="0" u="none" strike="noStrike" cap="non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Plataforma Transaccional de Gestión de</a:t>
            </a:r>
            <a:r>
              <a:rPr lang="en-US" sz="1950" b="0" i="0" u="none" strike="noStrike" cap="non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950" b="0" i="0" u="none" strike="noStrike" cap="none">
                <a:solidFill>
                  <a:srgbClr val="00A8E8"/>
                </a:solidFill>
                <a:latin typeface="Inter Light"/>
                <a:ea typeface="Inter Light"/>
                <a:cs typeface="Inter Light"/>
                <a:sym typeface="Inter Light"/>
              </a:rPr>
              <a:t>Micromovilidad</a:t>
            </a:r>
            <a:endParaRPr sz="1400" b="0" i="0" u="none" strike="noStrike" cap="none">
              <a:solidFill>
                <a:srgbClr val="00A8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" title="Logo produc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775" y="1333275"/>
            <a:ext cx="2680500" cy="2680500"/>
          </a:xfrm>
          <a:prstGeom prst="roundRect">
            <a:avLst>
              <a:gd name="adj" fmla="val 9297"/>
            </a:avLst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10521100" y="136575"/>
            <a:ext cx="1428600" cy="4845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55250" tIns="55250" rIns="55250" bIns="5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6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62288" y="213353"/>
            <a:ext cx="1346196" cy="33094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5122625" y="6139974"/>
            <a:ext cx="16956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DESARROLLADO POR</a:t>
            </a:r>
            <a:endParaRPr>
              <a:solidFill>
                <a:srgbClr val="CBD5E1"/>
              </a:solidFill>
            </a:endParaRPr>
          </a:p>
        </p:txBody>
      </p:sp>
      <p:pic>
        <p:nvPicPr>
          <p:cNvPr id="89" name="Google Shape;89;p1" title="Logo Empres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481" y="6005938"/>
            <a:ext cx="429900" cy="429900"/>
          </a:xfrm>
          <a:prstGeom prst="roundRect">
            <a:avLst>
              <a:gd name="adj" fmla="val 25866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8141500" y="2133588"/>
            <a:ext cx="3465900" cy="3505200"/>
          </a:xfrm>
          <a:prstGeom prst="roundRect">
            <a:avLst>
              <a:gd name="adj" fmla="val 4876"/>
            </a:avLst>
          </a:prstGeom>
          <a:solidFill>
            <a:srgbClr val="8888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4363125" y="2133575"/>
            <a:ext cx="3465900" cy="3505200"/>
          </a:xfrm>
          <a:prstGeom prst="roundRect">
            <a:avLst>
              <a:gd name="adj" fmla="val 4876"/>
            </a:avLst>
          </a:prstGeom>
          <a:solidFill>
            <a:srgbClr val="8888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84750" y="2138350"/>
            <a:ext cx="3465900" cy="3505200"/>
          </a:xfrm>
          <a:prstGeom prst="roundRect">
            <a:avLst>
              <a:gd name="adj" fmla="val 4876"/>
            </a:avLst>
          </a:prstGeom>
          <a:solidFill>
            <a:srgbClr val="8888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1450" y="2528887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1442591" y="3719512"/>
            <a:ext cx="175021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Carlos Román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866775" y="419576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Líder de Proyecto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&amp; Experiencia de Usuario (UI/UX)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0" y="2528887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5160883" y="3719512"/>
            <a:ext cx="187023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Crisler Romero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4645074" y="419576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Arquitectura de Datos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&amp; Especialista en Bases de Datos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98049" y="2528887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9139207" y="3719512"/>
            <a:ext cx="147018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Felipe Vidal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8840837" y="4195762"/>
            <a:ext cx="20669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Desarrollador Backend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&amp; Integración de APIs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9575" y="27670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86450" y="2767012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74262" y="2767012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lang="en-US" sz="3375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Equipo de 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/>
        </p:nvSpPr>
        <p:spPr>
          <a:xfrm>
            <a:off x="762000" y="762000"/>
            <a:ext cx="530066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lang="en-US" sz="3375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El Contexto Actual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762000" y="2312193"/>
            <a:ext cx="5048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movilidad sustentable crece rápidamente en recintos educacionales, pero la </a:t>
            </a:r>
            <a:r>
              <a:rPr lang="en-US" sz="1650" b="0" i="0" u="none" strike="noStrike" cap="none">
                <a:solidFill>
                  <a:srgbClr val="00A8E8"/>
                </a:solidFill>
                <a:latin typeface="Inter"/>
                <a:ea typeface="Inter"/>
                <a:cs typeface="Inter"/>
                <a:sym typeface="Inter"/>
              </a:rPr>
              <a:t>infraestructura tecnológica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 ha quedado rezagada.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762000" y="3651051"/>
            <a:ext cx="5048400" cy="1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Las instituciones enfrentan un aumento explosivo de bicicletas y scooters sin un sistema digital adecuado para gestionarlos, generando problemas logísticos, de seguridad y un uso ineficiente del espacio físico.</a:t>
            </a:r>
            <a:endParaRPr sz="1400" b="0" i="0" u="none" strike="noStrike" cap="non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3" title="davinci_ilustraci_n_digital_minimalista_en_estilo_vector_c (1).png"/>
          <p:cNvPicPr preferRelativeResize="0"/>
          <p:nvPr/>
        </p:nvPicPr>
        <p:blipFill rotWithShape="1">
          <a:blip r:embed="rId3">
            <a:alphaModFix/>
          </a:blip>
          <a:srcRect l="11096" r="11096"/>
          <a:stretch/>
        </p:blipFill>
        <p:spPr>
          <a:xfrm>
            <a:off x="6855692" y="0"/>
            <a:ext cx="5336317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/>
        </p:nvSpPr>
        <p:spPr>
          <a:xfrm>
            <a:off x="857250" y="183356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Usuario: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Sufre por la inseguridad y la incertidumbre diaria de no saber si habrá disponibilidad de estacionamiento.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857250" y="29384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Administración: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Opera a ciegas y reacciona de forma manual ante el caos logístico del recinto.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857250" y="373856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Falta de Datos: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Carencia de registros históricos transaccionales para justificar inversiones o planificar expansiones de infraestructura.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857250" y="484346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Vulnerabilidades: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El descontrol físico genera riesgos de robos y un uso ineficiente del espacio institucional.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4" title="davinci_ilustraci_n_digital_minimalista_en_estilo_vector_c.png"/>
          <p:cNvPicPr preferRelativeResize="0"/>
          <p:nvPr/>
        </p:nvPicPr>
        <p:blipFill rotWithShape="1">
          <a:blip r:embed="rId3">
            <a:alphaModFix/>
          </a:blip>
          <a:srcRect t="11861" b="11861"/>
          <a:stretch/>
        </p:blipFill>
        <p:spPr>
          <a:xfrm>
            <a:off x="6391275" y="1683053"/>
            <a:ext cx="5219700" cy="3981600"/>
          </a:xfrm>
          <a:prstGeom prst="roundRect">
            <a:avLst>
              <a:gd name="adj" fmla="val 12177"/>
            </a:avLst>
          </a:prstGeom>
          <a:noFill/>
          <a:ln w="28575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7" name="Google Shape;127;p4"/>
          <p:cNvSpPr txBox="1"/>
          <p:nvPr/>
        </p:nvSpPr>
        <p:spPr>
          <a:xfrm>
            <a:off x="571500" y="183356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0A8E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sz="1400" b="0" i="0" u="none" strike="noStrike" cap="none">
              <a:solidFill>
                <a:srgbClr val="00A8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571500" y="293846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0A8E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sz="1400" b="0" i="0" u="none" strike="noStrike" cap="none">
              <a:solidFill>
                <a:srgbClr val="00A8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571500" y="373856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0A8E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sz="1400" b="0" i="0" u="none" strike="noStrike" cap="none">
              <a:solidFill>
                <a:srgbClr val="00A8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571500" y="484346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0A8E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sz="1400" b="0" i="0" u="none" strike="noStrike" cap="none">
              <a:solidFill>
                <a:srgbClr val="00A8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lang="en-US" sz="3375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El Dolor Dual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/>
        </p:nvSpPr>
        <p:spPr>
          <a:xfrm>
            <a:off x="6381750" y="2443162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00A8E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Experiencia sin fricciones</a:t>
            </a:r>
            <a:endParaRPr sz="1400" b="0" i="0" u="none" strike="noStrike" cap="none">
              <a:solidFill>
                <a:srgbClr val="00A8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6381750" y="291941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Imagina a Matías, un estudiante que llega apurado. Desde su teléfono, revisa la disponibilidad en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tiempo real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6381750" y="3976687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 llegar, escanea su credencial institucional. En segundos, el sistema valida su identidad, le asigna una bahía y destraba el anclaje físico. Matías entra a clases con la certeza de que su vehículo quedó resguardado.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lang="en-US" sz="3375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La Solución: El Usuario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5" title="davinci_ilustraci_n_digital_minimalista_en_estilo_vector_c (2).png"/>
          <p:cNvPicPr preferRelativeResize="0"/>
          <p:nvPr/>
        </p:nvPicPr>
        <p:blipFill rotWithShape="1">
          <a:blip r:embed="rId3">
            <a:alphaModFix/>
          </a:blip>
          <a:srcRect l="110" r="110"/>
          <a:stretch/>
        </p:blipFill>
        <p:spPr>
          <a:xfrm>
            <a:off x="1104025" y="1982650"/>
            <a:ext cx="3884400" cy="3893100"/>
          </a:xfrm>
          <a:prstGeom prst="ellipse">
            <a:avLst/>
          </a:prstGeom>
          <a:noFill/>
          <a:ln w="38100" cap="flat" cmpd="sng">
            <a:solidFill>
              <a:srgbClr val="00A8E8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/>
        </p:nvSpPr>
        <p:spPr>
          <a:xfrm>
            <a:off x="571500" y="2290762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00A8E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Inteligencia Operativa</a:t>
            </a:r>
            <a:endParaRPr sz="1400" b="0" i="0" u="none" strike="noStrike" cap="none">
              <a:solidFill>
                <a:srgbClr val="00A8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571500" y="2767012"/>
            <a:ext cx="5238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verdadera magia ocurre detrás de escena. El ingreso de Matías no es solo una puerta que se abre; es una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transacción registrada de forma inmutable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571500" y="3824287"/>
            <a:ext cx="52389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equipo visualiza el estado en tiempo real. Simultáneamente, el pipeline de datos alimenta los dashboards directivos. La gerencia obtiene métricas históricas precisas para detectar horarios punta y justificar inversiones.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571500" y="571500"/>
            <a:ext cx="116016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lang="en-US" sz="3375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La Solución: La Institución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1150" y="1893712"/>
            <a:ext cx="5909100" cy="3939300"/>
          </a:xfrm>
          <a:prstGeom prst="roundRect">
            <a:avLst>
              <a:gd name="adj" fmla="val 4524"/>
            </a:avLst>
          </a:prstGeom>
          <a:noFill/>
          <a:ln w="28575" cap="flat" cmpd="sng">
            <a:solidFill>
              <a:srgbClr val="F8FAFC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411678773_0_8"/>
          <p:cNvSpPr txBox="1"/>
          <p:nvPr/>
        </p:nvSpPr>
        <p:spPr>
          <a:xfrm>
            <a:off x="571500" y="1296925"/>
            <a:ext cx="10973100" cy="49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0A8E8"/>
                </a:solidFill>
                <a:latin typeface="Inter"/>
                <a:ea typeface="Inter"/>
                <a:cs typeface="Inter"/>
                <a:sym typeface="Inter"/>
              </a:rPr>
              <a:t>1. Relevancia para el Campo Laboral</a:t>
            </a:r>
            <a:endParaRPr sz="1500" b="1" i="0" u="none" strike="noStrike" cap="none">
              <a:solidFill>
                <a:srgbClr val="00A8E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32385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Inter"/>
              <a:buChar char="●"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Solución Integral (End-to-End): Resuelve la desorganización de la micromovilidad institucional integrando hardware simulación IoT, backend robusto y diseño UI/UX en producción.</a:t>
            </a:r>
            <a:endParaRPr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32385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Inter"/>
              <a:buChar char="●"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Impacto Operativo Real: Transforma puntos de control físicos pasivos en activos inteligentes de datos, respondiendo a la demanda actual de digitalización operativa y automatización.</a:t>
            </a:r>
            <a:endParaRPr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0A8E8"/>
                </a:solidFill>
                <a:latin typeface="Inter"/>
                <a:ea typeface="Inter"/>
                <a:cs typeface="Inter"/>
                <a:sym typeface="Inter"/>
              </a:rPr>
              <a:t>2. Pertinencia con el Perfil de Egreso</a:t>
            </a:r>
            <a:endParaRPr sz="1500" b="1" i="0" u="none" strike="noStrike" cap="none">
              <a:solidFill>
                <a:srgbClr val="00A8E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32385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Inter"/>
              <a:buChar char="●"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Ingeniería de Software y Arquitectura: Aplica el diseño e implementación de APIs RESTful escalables y la integración de sistemas distribuidos.</a:t>
            </a:r>
            <a:endParaRPr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32385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Inter"/>
              <a:buChar char="●"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Gestión de Datos y Analytics: Modela bases de datos relacionales transaccionales y ejecuta pipelines ETL para habilitar la toma de decisiones mediante Business Intelligence (Power BI).</a:t>
            </a:r>
            <a:endParaRPr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0A8E8"/>
                </a:solidFill>
                <a:latin typeface="Inter"/>
                <a:ea typeface="Inter"/>
                <a:cs typeface="Inter"/>
                <a:sym typeface="Inter"/>
              </a:rPr>
              <a:t>3. Relación con Intereses Profesionales</a:t>
            </a:r>
            <a:endParaRPr sz="1500" b="1" i="0" u="none" strike="noStrike" cap="none">
              <a:solidFill>
                <a:srgbClr val="00A8E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32385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Inter"/>
              <a:buChar char="●"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Especialización Tecnológica: Desarrolla habilidades clave en analítica de datos, arquitectura de software orientada a microservicios/APIs y soluciones IoT de impacto urbano.</a:t>
            </a:r>
            <a:endParaRPr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323850" algn="just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CBD5E1"/>
              </a:buClr>
              <a:buSzPts val="1500"/>
              <a:buFont typeface="Inter"/>
              <a:buChar char="●"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Innovación Aplicada: Satisface la motivación de liderar proyectos tecnológicos capaces de optimizar infraestructura física mediante soluciones digitales inteligentes.</a:t>
            </a:r>
            <a:endParaRPr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Google Shape;155;g3f411678773_0_8"/>
          <p:cNvSpPr txBox="1"/>
          <p:nvPr/>
        </p:nvSpPr>
        <p:spPr>
          <a:xfrm>
            <a:off x="571500" y="571500"/>
            <a:ext cx="116016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lang="en-US" sz="3375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Justificación, Pertinencia e Intereses Profesionales </a:t>
            </a:r>
            <a:endParaRPr sz="3375" b="0" i="0" u="none" strike="noStrike" cap="none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411678773_0_0"/>
          <p:cNvSpPr txBox="1"/>
          <p:nvPr/>
        </p:nvSpPr>
        <p:spPr>
          <a:xfrm>
            <a:off x="3580685" y="1885950"/>
            <a:ext cx="5030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lang="en-US" sz="4875" b="0" i="0" u="none" strike="noStrike" cap="none">
                <a:solidFill>
                  <a:srgbClr val="00A8E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Objetivo General</a:t>
            </a:r>
            <a:endParaRPr sz="1400" b="0" i="0" u="none" strike="noStrike" cap="none">
              <a:solidFill>
                <a:srgbClr val="00A8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f411678773_0_0"/>
          <p:cNvSpPr txBox="1"/>
          <p:nvPr/>
        </p:nvSpPr>
        <p:spPr>
          <a:xfrm>
            <a:off x="1809750" y="3486150"/>
            <a:ext cx="8572500" cy="16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Desarrollar un sistema de software transaccional para la gestión de estacionamientos de micromovilidad, estructurado con una arquitectura preparada para la </a:t>
            </a:r>
            <a:r>
              <a:rPr lang="en-US" sz="1950" b="0" i="0" u="none" strike="noStrike" cap="none">
                <a:solidFill>
                  <a:srgbClr val="00A8E8"/>
                </a:solidFill>
                <a:latin typeface="Inter"/>
                <a:ea typeface="Inter"/>
                <a:cs typeface="Inter"/>
                <a:sym typeface="Inter"/>
              </a:rPr>
              <a:t>integración externa de hardware (IoT-ready)</a:t>
            </a:r>
            <a:r>
              <a:rPr lang="en-US" sz="19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mejorando el control de acceso y generando métricas operativas.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f411678773_0_0"/>
          <p:cNvSpPr/>
          <p:nvPr/>
        </p:nvSpPr>
        <p:spPr>
          <a:xfrm>
            <a:off x="5477850" y="3015300"/>
            <a:ext cx="1236300" cy="91800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dist="47625" dir="5160000" algn="bl" rotWithShape="0">
              <a:srgbClr val="00FFFF">
                <a:alpha val="4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1333500" y="1300162"/>
            <a:ext cx="9525000" cy="1104900"/>
          </a:xfrm>
          <a:prstGeom prst="roundRect">
            <a:avLst>
              <a:gd name="adj" fmla="val 1034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2000250" y="1538287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Modelo de Datos: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Diseñar un modelo relacional agnóstico que soporte la trazabilidad de eventos inmutables para distintos vehículos.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333500" y="2595562"/>
            <a:ext cx="9525000" cy="1104900"/>
          </a:xfrm>
          <a:prstGeom prst="roundRect">
            <a:avLst>
              <a:gd name="adj" fmla="val 1034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2000250" y="2833687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Desarrollo API: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Construir una API documentada como puente de comunicación para simuladores o dispositivos IoT reales.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333500" y="3890962"/>
            <a:ext cx="9525000" cy="1104900"/>
          </a:xfrm>
          <a:prstGeom prst="roundRect">
            <a:avLst>
              <a:gd name="adj" fmla="val 1034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2000250" y="4129087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Interfaz Institucional: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Desarrollar una UI/UX eficiente para la validación de accesos, monitoreo y gestión de espacios físicos.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333500" y="5186362"/>
            <a:ext cx="9525000" cy="1104900"/>
          </a:xfrm>
          <a:prstGeom prst="roundRect">
            <a:avLst>
              <a:gd name="adj" fmla="val 1034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2000250" y="5424487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Pipeline y Analítica: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Implementar un flujo de extracción de datos (ETL) hacia un dashboard directivo para visualizar tasas de ocupación.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1333500" y="2395537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333500" y="3690937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333500" y="4986337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333500" y="6281737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1150" y="1714500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1150" y="30099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1150" y="4305300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81150" y="5600700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 txBox="1"/>
          <p:nvPr/>
        </p:nvSpPr>
        <p:spPr>
          <a:xfrm>
            <a:off x="571500" y="376237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lang="en-US" sz="3375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Objetivos Específicos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00237"/>
            <a:ext cx="5238750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00237"/>
            <a:ext cx="52387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 txBox="1"/>
          <p:nvPr/>
        </p:nvSpPr>
        <p:spPr>
          <a:xfrm>
            <a:off x="962025" y="2290762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Enfoque Waterfall (Cascada)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962025" y="2767012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Hemos seleccionado un enfoque tradicional secuencial como base estructural para la ingeniería del proyecto, garantizando que el diseño preceda a la ejecución.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962025" y="4287812"/>
            <a:ext cx="44577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Las etapas de Análisis (ERS) y Diseño (DAS) son innegociables antes de escribir la primera línea de código o levantar la base de datos.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6772275" y="2290762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Justificación Estratégica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6772275" y="2767012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 proyectos orientados a integraciones físicas (IoT) y sistemas transaccionales, los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contratos de las APIs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 el esquema relacional deben quedar estrictamente blindados.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6772275" y="4287812"/>
            <a:ext cx="44577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Definir estos límites por adelantado evita refactorizaciones masivas, asegura un QA sin ambigüedades y simula un entorno de integración realista.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lang="en-US" sz="3375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Metodología de 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/>
        </p:nvSpPr>
        <p:spPr>
          <a:xfrm>
            <a:off x="295275" y="2106959"/>
            <a:ext cx="11601450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0"/>
              <a:buFont typeface="Arial"/>
              <a:buNone/>
            </a:pPr>
            <a:r>
              <a:rPr lang="en-US" sz="67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¿Preguntas?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571500" y="3373784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Gracias por su atención.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571500" y="4181475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OmniDock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5122625" y="6139974"/>
            <a:ext cx="16956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DESARROLLADO POR</a:t>
            </a:r>
            <a:endParaRPr>
              <a:solidFill>
                <a:srgbClr val="CBD5E1"/>
              </a:solidFill>
            </a:endParaRPr>
          </a:p>
        </p:txBody>
      </p:sp>
      <p:pic>
        <p:nvPicPr>
          <p:cNvPr id="205" name="Google Shape;205;p10" title="Logo Empre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9481" y="6005938"/>
            <a:ext cx="429900" cy="429900"/>
          </a:xfrm>
          <a:prstGeom prst="roundRect">
            <a:avLst>
              <a:gd name="adj" fmla="val 25866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A8E8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750</Words>
  <Application>Microsoft Office PowerPoint</Application>
  <PresentationFormat>Panorámica</PresentationFormat>
  <Paragraphs>57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Outfit SemiBold</vt:lpstr>
      <vt:lpstr>Inter</vt:lpstr>
      <vt:lpstr>Calibri</vt:lpstr>
      <vt:lpstr>Inter Medium</vt:lpstr>
      <vt:lpstr>Arial</vt:lpstr>
      <vt:lpstr>Inter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 FELIPE ROMAN SEPULVEDA</cp:lastModifiedBy>
  <cp:revision>1</cp:revision>
  <dcterms:created xsi:type="dcterms:W3CDTF">2013-01-27T09:14:16Z</dcterms:created>
  <dcterms:modified xsi:type="dcterms:W3CDTF">2026-10-18T00:49:15Z</dcterms:modified>
</cp:coreProperties>
</file>